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embeddedFontLst>
    <p:embeddedFont>
      <p:font typeface="Be Vietnam Pro" pitchFamily="34" charset="0"/>
      <p:regular r:id="rId21"/>
      <p:bold r:id="rId2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font" Target="fonts/font1.fntdata"/><Relationship Id="rId2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Huynh, Đôn and Tú. Our project is a project management system built for small teams like ours, with Kanban, Scrum and an AI assistant built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own team had this problem. We tracked work in chat and spreadsheets, lost tasks, and had no idea who was blocked. Jira and Trello help, but they are heavy, need the internet all the time, and charge for Scrum reports and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any student team mid-project: who is doing what, are we late, who is stuck? Usually nobody knows. That is the real problem we set out to solve.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looked at what teams use today. Chat and spreadsheets are free but unstructured. Big tools are structured but heavy, online-only, and the useful parts like Scrum reports and AI are often paid extras.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second problem, newer. Today many students let AI agents write code. Without rules, an agent can leak a key, overwrite a teammate's work, or claim it is finished when nothing was tested. We wanted to build with AI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makes our project different. First, AI that never breaks: if the model is down, the user still gets an answer built from real data. Second, Scrum with an AI-written retrospective. Third, offline work with a clear safety rule. And fourth, the part we are proudest of: the software itself was built by a factory of AI agents held to enforced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screen. Four columns, one card per task. Each card shows the owner, priority and deadline, and cards are sorted by deadline so overdue work is never buried. You can do everything with the keyboard: move with h j k l, press Space to change status, n for a new task. The flame icon means the task is on the critical path, which I will explain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supervisor suggested supporting Scrum, so we did. Work is split into sprints of about two weeks. A sprint is first planned: the PM pulls tasks from the backlog. When it starts, the system remembers how many points the team promised. When it ends, anything unfinished goes to the next sprint or back to the backlog, nothing is deleted.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charts tell the team how the sprint is going. Burndown: how much work is left each day compared with the ideal straight line. Velocity: how many points we promised and how many we actually finished, so the next promise is realistic. And at the end, the AI writes a retrospective from the sprint's real numbers: what went well, what to improve and concrete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AI features. Give it the board and it writes the weekly report. Paste meeting notes and it extracts tasks, owners and decisions. Describe a new task and it suggests who should take it, based on skills and current workload. Give it a big goal and it breaks it into ordered sub-tasks. And the sprint retrospective. We use a model on Groq. If the AI service fails, a rule-based answer from the project data is returned instead, so the feature never crashes. Answers always come back in the language of the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only use AI inside the product, we used an AI agent to build it, and we made that process safe. The work goes through six stations, each a specialised agent: requirements, design, tests written first, implementation, an independent review, and a release check. Context engineering: the agent reads our eight documents D1 to D8 before touching code. The rules are enforced by hooks that run before every edit and command. Some actions are always refused, like writing a secret or force-pushing. Risky ones, like changing login code or pushing, need a human to approve. And the agent cannot say it is finished while code changed without tests or documentation. The guardrails have 57 tests of their own, and they even caught the agent itself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part of the work is operations. The whole system is packaged as Docker images and starts with one command; the database schema is upgraded automatically by migrations. While running, a health check tests the database and the server is restarted if it fails, and log files are capped so the disk never fills. For monitoring, the server publishes metrics: number of requests, errors, response time, and how many AI answers came from the real model versus the rule-based fallback. The metrics page is protected by a token. And every request gets an ID, so when a user reports an error we can find exactly that request in the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The system is live at koshi dot huynhca dot com and our team used it. 684 automated tests pass: 185 on the server, 442 on the interface, 57 for the guardrails, run by CI on every push. A script runs 32 checks against the live site, including the AI, with zero failures. And the guardrails are real: they stopped the AI agent itself twice. In production we have health checks, metrics and request IDs to watch it. Now a short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We are happy to answer questions, and we can show the live system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7F6F2"/>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58800"/>
          </a:xfrm>
          <a:prstGeom prst="rect">
            <a:avLst/>
          </a:prstGeom>
          <a:noFill/>
          <a:ln/>
        </p:spPr>
        <p:txBody>
          <a:bodyPr wrap="square" lIns="0" tIns="0" rIns="0" bIns="0" rtlCol="0" anchor="t"/>
          <a:lstStyle>
            <a:lvl1pPr algn="l" indent="0" marL="0">
              <a:lnSpc>
                <a:spcPct val="115000"/>
              </a:lnSpc>
              <a:buNone/>
              <a:defRPr lang="en-US" sz="4000" dirty="0">
                <a:solidFill>
                  <a:srgbClr val="14213D"/>
                </a:solidFill>
                <a:latin typeface="Be Vietnam Pro" pitchFamily="34" charset="0"/>
                <a:ea typeface="Be Vietnam Pro" pitchFamily="34" charset="-122"/>
                <a:cs typeface="Be Vietnam Pro" pitchFamily="34" charset="-120"/>
              </a:defRPr>
            </a:lvl1pPr>
          </a:lstStyle>
          <a:p>
            <a:pPr algn="l" indent="0" marL="0">
              <a:lnSpc>
                <a:spcPct val="115000"/>
              </a:lnSpc>
              <a:buNone/>
            </a:pPr>
            <a:endParaRPr lang="en-US" sz="4000" dirty="0"/>
          </a:p>
        </p:txBody>
      </p:sp>
      <p:sp>
        <p:nvSpPr>
          <p:cNvPr id="3" name="Text Placeholder 2"/>
          <p:cNvSpPr/>
          <p:nvPr>
            <p:ph idx="101" type="body"/>
          </p:nvPr>
        </p:nvSpPr>
        <p:spPr>
          <a:xfrm>
            <a:off x="812800" y="1676400"/>
            <a:ext cx="10566400" cy="4368800"/>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Be Vietnam Pro" pitchFamily="34" charset="0"/>
                <a:ea typeface="Be Vietnam Pro" pitchFamily="34" charset="-122"/>
                <a:cs typeface="Be Vietnam Pro"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6F2"/>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58800"/>
          </a:xfrm>
          <a:prstGeom prst="rect">
            <a:avLst/>
          </a:prstGeom>
          <a:noFill/>
          <a:ln/>
        </p:spPr>
        <p:txBody>
          <a:bodyPr wrap="square" lIns="0" tIns="0" rIns="0" bIns="0" rtlCol="0" anchor="t"/>
          <a:lstStyle>
            <a:lvl1pPr algn="l" indent="0" marL="0">
              <a:lnSpc>
                <a:spcPct val="115000"/>
              </a:lnSpc>
              <a:buNone/>
              <a:defRPr lang="en-US" sz="4000" dirty="0">
                <a:solidFill>
                  <a:srgbClr val="14213D"/>
                </a:solidFill>
                <a:latin typeface="Be Vietnam Pro" pitchFamily="34" charset="0"/>
                <a:ea typeface="Be Vietnam Pro" pitchFamily="34" charset="-122"/>
                <a:cs typeface="Be Vietnam Pro" pitchFamily="34" charset="-120"/>
              </a:defRPr>
            </a:lvl1pPr>
          </a:lstStyle>
          <a:p>
            <a:pPr algn="l" indent="0" marL="0">
              <a:lnSpc>
                <a:spcPct val="115000"/>
              </a:lnSpc>
              <a:buNone/>
            </a:pPr>
            <a:endParaRPr lang="en-US" sz="4000" dirty="0"/>
          </a:p>
        </p:txBody>
      </p:sp>
      <p:sp>
        <p:nvSpPr>
          <p:cNvPr id="3" name="Text Placeholder 2"/>
          <p:cNvSpPr/>
          <p:nvPr>
            <p:ph idx="101" type="body"/>
          </p:nvPr>
        </p:nvSpPr>
        <p:spPr>
          <a:xfrm>
            <a:off x="812800" y="1676400"/>
            <a:ext cx="10566400" cy="4368800"/>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Be Vietnam Pro" pitchFamily="34" charset="0"/>
                <a:ea typeface="Be Vietnam Pro" pitchFamily="34" charset="-122"/>
                <a:cs typeface="Be Vietnam Pro"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e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345380"/>
          </a:xfrm>
          <a:prstGeom prst="rect">
            <a:avLst/>
          </a:prstGeom>
          <a:noFill/>
          <a:ln/>
        </p:spPr>
        <p:txBody>
          <a:bodyPr wrap="square" lIns="0" tIns="0" rIns="0" bIns="0" rtlCol="0" anchor="t">
            <a:normAutofit/>
          </a:bodyPr>
          <a:lstStyle/>
          <a:p>
            <a:pPr algn="l" indent="0" marL="0">
              <a:lnSpc>
                <a:spcPts val="2520"/>
              </a:lnSpc>
              <a:buNone/>
            </a:pPr>
            <a:r>
              <a:rPr lang="en-US" sz="1800" b="1" spc="100" kern="0" dirty="0">
                <a:solidFill>
                  <a:srgbClr val="F2A541"/>
                </a:solidFill>
                <a:latin typeface="Be Vietnam Pro" pitchFamily="34" charset="0"/>
                <a:ea typeface="Be Vietnam Pro" pitchFamily="34" charset="-122"/>
                <a:cs typeface="Be Vietnam Pro" pitchFamily="34" charset="-120"/>
              </a:rPr>
              <a:t>COURSE PROJECT · COMPUTER ENGINEERING K23A</a:t>
            </a:r>
            <a:endParaRPr lang="en-US" sz="1800" dirty="0"/>
          </a:p>
        </p:txBody>
      </p:sp>
      <p:sp>
        <p:nvSpPr>
          <p:cNvPr id="3" name="Text 1"/>
          <p:cNvSpPr/>
          <p:nvPr>
            <p:ph type="title"/>
          </p:nvPr>
        </p:nvSpPr>
        <p:spPr>
          <a:xfrm>
            <a:off x="812800" y="1386780"/>
            <a:ext cx="9810750" cy="2265561"/>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F7F6F2"/>
                </a:solidFill>
                <a:latin typeface="Be Vietnam Pro" pitchFamily="34" charset="0"/>
                <a:ea typeface="Be Vietnam Pro" pitchFamily="34" charset="-122"/>
                <a:cs typeface="Be Vietnam Pro" pitchFamily="34" charset="-120"/>
              </a:rPr>
              <a:t>A Team Project Management System with Integrated AI</a:t>
            </a:r>
            <a:endParaRPr lang="en-US" sz="5600" dirty="0"/>
          </a:p>
        </p:txBody>
      </p:sp>
      <p:sp>
        <p:nvSpPr>
          <p:cNvPr id="4" name="Text 2"/>
          <p:cNvSpPr/>
          <p:nvPr/>
        </p:nvSpPr>
        <p:spPr>
          <a:xfrm>
            <a:off x="812800" y="3880941"/>
            <a:ext cx="9156700" cy="807641"/>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C9D3E6"/>
                </a:solidFill>
                <a:latin typeface="Be Vietnam Pro" pitchFamily="34" charset="0"/>
                <a:ea typeface="Be Vietnam Pro" pitchFamily="34" charset="-122"/>
                <a:cs typeface="Be Vietnam Pro" pitchFamily="34" charset="-120"/>
              </a:rPr>
              <a:t>Kanban + Scrum + AI assistant, usable from the keyboard and even offline</a:t>
            </a:r>
            <a:endParaRPr lang="en-US" sz="2200" dirty="0"/>
          </a:p>
        </p:txBody>
      </p:sp>
      <p:sp>
        <p:nvSpPr>
          <p:cNvPr id="5" name="Text 3"/>
          <p:cNvSpPr/>
          <p:nvPr/>
        </p:nvSpPr>
        <p:spPr>
          <a:xfrm>
            <a:off x="812800" y="5293420"/>
            <a:ext cx="7233523"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F7F6F2"/>
                </a:solidFill>
                <a:latin typeface="Be Vietnam Pro" pitchFamily="34" charset="0"/>
                <a:ea typeface="Be Vietnam Pro" pitchFamily="34" charset="-122"/>
                <a:cs typeface="Be Vietnam Pro" pitchFamily="34" charset="-120"/>
              </a:rPr>
              <a:t>Phạm Văn Huynh · Đàm Đức Đôn · Phạm Minh Tú</a:t>
            </a:r>
            <a:endParaRPr lang="en-US" sz="2000" dirty="0"/>
          </a:p>
        </p:txBody>
      </p:sp>
      <p:sp>
        <p:nvSpPr>
          <p:cNvPr id="6" name="Text 4"/>
          <p:cNvSpPr/>
          <p:nvPr/>
        </p:nvSpPr>
        <p:spPr>
          <a:xfrm>
            <a:off x="812800" y="5725220"/>
            <a:ext cx="6208774" cy="3453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C9D3E6"/>
                </a:solidFill>
                <a:latin typeface="Be Vietnam Pro" pitchFamily="34" charset="0"/>
                <a:ea typeface="Be Vietnam Pro" pitchFamily="34" charset="-122"/>
                <a:cs typeface="Be Vietnam Pro" pitchFamily="34" charset="-120"/>
              </a:rPr>
              <a:t>Supervisor: Hà Thị Thanh</a:t>
            </a:r>
            <a:endParaRPr lang="en-US" sz="1800" dirty="0"/>
          </a:p>
        </p:txBody>
      </p:sp>
      <p:sp>
        <p:nvSpPr>
          <p:cNvPr id="7" name="Text 5"/>
          <p:cNvSpPr/>
          <p:nvPr/>
        </p:nvSpPr>
        <p:spPr>
          <a:xfrm>
            <a:off x="9812457" y="5725220"/>
            <a:ext cx="1566743" cy="345380"/>
          </a:xfrm>
          <a:prstGeom prst="rect">
            <a:avLst/>
          </a:prstGeom>
          <a:noFill/>
          <a:ln/>
        </p:spPr>
        <p:txBody>
          <a:bodyPr wrap="square" lIns="0" tIns="0" rIns="0" bIns="0" rtlCol="0" anchor="t">
            <a:normAutofit/>
          </a:bodyPr>
          <a:lstStyle/>
          <a:p>
            <a:pPr algn="r" indent="0" marL="0">
              <a:lnSpc>
                <a:spcPts val="2520"/>
              </a:lnSpc>
              <a:buNone/>
            </a:pPr>
            <a:r>
              <a:rPr lang="en-US" sz="1800" dirty="0">
                <a:solidFill>
                  <a:srgbClr val="C9D3E6"/>
                </a:solidFill>
                <a:latin typeface="Be Vietnam Pro" pitchFamily="34" charset="0"/>
                <a:ea typeface="Be Vietnam Pro" pitchFamily="34" charset="-122"/>
                <a:cs typeface="Be Vietnam Pro" pitchFamily="34" charset="-120"/>
              </a:rPr>
              <a:t>ICTU ·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11430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14213D"/>
                </a:solidFill>
                <a:latin typeface="Be Vietnam Pro" pitchFamily="34" charset="0"/>
                <a:ea typeface="Be Vietnam Pro" pitchFamily="34" charset="-122"/>
                <a:cs typeface="Be Vietnam Pro" pitchFamily="34" charset="-120"/>
              </a:rPr>
              <a:t>The problem: student teams manage work badly</a:t>
            </a:r>
            <a:endParaRPr lang="en-US" sz="4000" dirty="0"/>
          </a:p>
        </p:txBody>
      </p:sp>
      <p:sp>
        <p:nvSpPr>
          <p:cNvPr id="3" name="Shape 1"/>
          <p:cNvSpPr/>
          <p:nvPr/>
        </p:nvSpPr>
        <p:spPr>
          <a:xfrm>
            <a:off x="819150" y="2343150"/>
            <a:ext cx="3340100" cy="3052961"/>
          </a:xfrm>
          <a:prstGeom prst="roundRect">
            <a:avLst>
              <a:gd name="adj" fmla="val 4784"/>
            </a:avLst>
          </a:prstGeom>
          <a:solidFill>
            <a:srgbClr val="FFFDF9"/>
          </a:solidFill>
          <a:ln w="12700">
            <a:solidFill>
              <a:srgbClr val="E4DED3"/>
            </a:solidFill>
            <a:prstDash val="solid"/>
          </a:ln>
        </p:spPr>
      </p:sp>
      <p:pic>
        <p:nvPicPr>
          <p:cNvPr id="4" name="Image 0" descr="Chat">    </p:cNvPr>
          <p:cNvPicPr>
            <a:picLocks noChangeAspect="1"/>
          </p:cNvPicPr>
          <p:nvPr/>
        </p:nvPicPr>
        <p:blipFill>
          <a:blip r:embed="rId1"/>
          <a:srcRect l="0" r="0" t="0" b="0"/>
          <a:stretch/>
        </p:blipFill>
        <p:spPr>
          <a:xfrm>
            <a:off x="1130300" y="2654300"/>
            <a:ext cx="508000" cy="508000"/>
          </a:xfrm>
          <a:prstGeom prst="rect">
            <a:avLst/>
          </a:prstGeom>
        </p:spPr>
      </p:pic>
      <p:sp>
        <p:nvSpPr>
          <p:cNvPr id="5" name="Text 2"/>
          <p:cNvSpPr/>
          <p:nvPr/>
        </p:nvSpPr>
        <p:spPr>
          <a:xfrm>
            <a:off x="1130300" y="3289300"/>
            <a:ext cx="2799334" cy="391120"/>
          </a:xfrm>
          <a:prstGeom prst="rect">
            <a:avLst/>
          </a:prstGeom>
          <a:noFill/>
          <a:ln/>
        </p:spPr>
        <p:txBody>
          <a:bodyPr wrap="square" lIns="0" tIns="0" rIns="0" bIns="0" rtlCol="0" anchor="t">
            <a:normAutofit/>
          </a:bodyPr>
          <a:lstStyle/>
          <a:p>
            <a:pPr algn="l" indent="0" marL="0">
              <a:lnSpc>
                <a:spcPts val="2880"/>
              </a:lnSpc>
              <a:buNone/>
            </a:pPr>
            <a:r>
              <a:rPr lang="en-US" sz="2400" b="1" dirty="0">
                <a:solidFill>
                  <a:srgbClr val="14213D"/>
                </a:solidFill>
                <a:latin typeface="Be Vietnam Pro" pitchFamily="34" charset="0"/>
                <a:ea typeface="Be Vietnam Pro" pitchFamily="34" charset="-122"/>
                <a:cs typeface="Be Vietnam Pro" pitchFamily="34" charset="-120"/>
              </a:rPr>
              <a:t>Chat &amp; Excel</a:t>
            </a:r>
            <a:endParaRPr lang="en-US" sz="2400" dirty="0"/>
          </a:p>
        </p:txBody>
      </p:sp>
      <p:sp>
        <p:nvSpPr>
          <p:cNvPr id="6" name="Text 3"/>
          <p:cNvSpPr/>
          <p:nvPr/>
        </p:nvSpPr>
        <p:spPr>
          <a:xfrm>
            <a:off x="1130300" y="3782020"/>
            <a:ext cx="2799334" cy="1328341"/>
          </a:xfrm>
          <a:prstGeom prst="rect">
            <a:avLst/>
          </a:prstGeom>
          <a:noFill/>
          <a:ln/>
        </p:spPr>
        <p:txBody>
          <a:bodyPr wrap="square" lIns="0" tIns="0" rIns="0" bIns="0" rtlCol="0" anchor="t">
            <a:normAutofit/>
          </a:bodyPr>
          <a:lstStyle/>
          <a:p>
            <a:pPr algn="l" indent="0" marL="0">
              <a:lnSpc>
                <a:spcPts val="2565"/>
              </a:lnSpc>
              <a:buNone/>
            </a:pPr>
            <a:r>
              <a:rPr lang="en-US" sz="1900" dirty="0">
                <a:solidFill>
                  <a:srgbClr val="3D4657"/>
                </a:solidFill>
                <a:latin typeface="Be Vietnam Pro" pitchFamily="34" charset="0"/>
                <a:ea typeface="Be Vietnam Pro" pitchFamily="34" charset="-122"/>
                <a:cs typeface="Be Vietnam Pro" pitchFamily="34" charset="-120"/>
              </a:rPr>
              <a:t>Tasks get lost in messages. No status, no deadlines, no owner.</a:t>
            </a:r>
            <a:endParaRPr lang="en-US" sz="1900" dirty="0"/>
          </a:p>
        </p:txBody>
      </p:sp>
      <p:sp>
        <p:nvSpPr>
          <p:cNvPr id="7" name="Shape 4"/>
          <p:cNvSpPr/>
          <p:nvPr/>
        </p:nvSpPr>
        <p:spPr>
          <a:xfrm>
            <a:off x="4425950" y="2343150"/>
            <a:ext cx="3340100" cy="3052961"/>
          </a:xfrm>
          <a:prstGeom prst="roundRect">
            <a:avLst>
              <a:gd name="adj" fmla="val 4784"/>
            </a:avLst>
          </a:prstGeom>
          <a:solidFill>
            <a:srgbClr val="FFFDF9"/>
          </a:solidFill>
          <a:ln w="12700">
            <a:solidFill>
              <a:srgbClr val="E4DED3"/>
            </a:solidFill>
            <a:prstDash val="solid"/>
          </a:ln>
        </p:spPr>
      </p:sp>
      <p:pic>
        <p:nvPicPr>
          <p:cNvPr id="8" name="Image 1" descr="Lock">    </p:cNvPr>
          <p:cNvPicPr>
            <a:picLocks noChangeAspect="1"/>
          </p:cNvPicPr>
          <p:nvPr/>
        </p:nvPicPr>
        <p:blipFill>
          <a:blip r:embed="rId2"/>
          <a:srcRect l="0" r="0" t="0" b="0"/>
          <a:stretch/>
        </p:blipFill>
        <p:spPr>
          <a:xfrm>
            <a:off x="4737100" y="2654300"/>
            <a:ext cx="508000" cy="508000"/>
          </a:xfrm>
          <a:prstGeom prst="rect">
            <a:avLst/>
          </a:prstGeom>
        </p:spPr>
      </p:pic>
      <p:sp>
        <p:nvSpPr>
          <p:cNvPr id="9" name="Text 5"/>
          <p:cNvSpPr/>
          <p:nvPr/>
        </p:nvSpPr>
        <p:spPr>
          <a:xfrm>
            <a:off x="4737100" y="3289300"/>
            <a:ext cx="2799334" cy="391120"/>
          </a:xfrm>
          <a:prstGeom prst="rect">
            <a:avLst/>
          </a:prstGeom>
          <a:noFill/>
          <a:ln/>
        </p:spPr>
        <p:txBody>
          <a:bodyPr wrap="square" lIns="0" tIns="0" rIns="0" bIns="0" rtlCol="0" anchor="t">
            <a:normAutofit/>
          </a:bodyPr>
          <a:lstStyle/>
          <a:p>
            <a:pPr algn="l" indent="0" marL="0">
              <a:lnSpc>
                <a:spcPts val="2880"/>
              </a:lnSpc>
              <a:buNone/>
            </a:pPr>
            <a:r>
              <a:rPr lang="en-US" sz="2400" b="1" dirty="0">
                <a:solidFill>
                  <a:srgbClr val="14213D"/>
                </a:solidFill>
                <a:latin typeface="Be Vietnam Pro" pitchFamily="34" charset="0"/>
                <a:ea typeface="Be Vietnam Pro" pitchFamily="34" charset="-122"/>
                <a:cs typeface="Be Vietnam Pro" pitchFamily="34" charset="-120"/>
              </a:rPr>
              <a:t>Big tools</a:t>
            </a:r>
            <a:endParaRPr lang="en-US" sz="2400" dirty="0"/>
          </a:p>
        </p:txBody>
      </p:sp>
      <p:sp>
        <p:nvSpPr>
          <p:cNvPr id="10" name="Text 6"/>
          <p:cNvSpPr/>
          <p:nvPr/>
        </p:nvSpPr>
        <p:spPr>
          <a:xfrm>
            <a:off x="4737100" y="3782020"/>
            <a:ext cx="2799334" cy="1328341"/>
          </a:xfrm>
          <a:prstGeom prst="rect">
            <a:avLst/>
          </a:prstGeom>
          <a:noFill/>
          <a:ln/>
        </p:spPr>
        <p:txBody>
          <a:bodyPr wrap="square" lIns="0" tIns="0" rIns="0" bIns="0" rtlCol="0" anchor="t">
            <a:normAutofit/>
          </a:bodyPr>
          <a:lstStyle/>
          <a:p>
            <a:pPr algn="l" indent="0" marL="0">
              <a:lnSpc>
                <a:spcPts val="2565"/>
              </a:lnSpc>
              <a:buNone/>
            </a:pPr>
            <a:r>
              <a:rPr lang="en-US" sz="1900" dirty="0">
                <a:solidFill>
                  <a:srgbClr val="3D4657"/>
                </a:solidFill>
                <a:latin typeface="Be Vietnam Pro" pitchFamily="34" charset="0"/>
                <a:ea typeface="Be Vietnam Pro" pitchFamily="34" charset="-122"/>
                <a:cs typeface="Be Vietnam Pro" pitchFamily="34" charset="-120"/>
              </a:rPr>
              <a:t>Jira is heavy and online-only. Scrum reports and AI cost money.</a:t>
            </a:r>
            <a:endParaRPr lang="en-US" sz="1900" dirty="0"/>
          </a:p>
        </p:txBody>
      </p:sp>
      <p:sp>
        <p:nvSpPr>
          <p:cNvPr id="11" name="Shape 7"/>
          <p:cNvSpPr/>
          <p:nvPr/>
        </p:nvSpPr>
        <p:spPr>
          <a:xfrm>
            <a:off x="8032750" y="2343150"/>
            <a:ext cx="3340100" cy="3052961"/>
          </a:xfrm>
          <a:prstGeom prst="roundRect">
            <a:avLst>
              <a:gd name="adj" fmla="val 4784"/>
            </a:avLst>
          </a:prstGeom>
          <a:solidFill>
            <a:srgbClr val="FFFDF9"/>
          </a:solidFill>
          <a:ln w="12700">
            <a:solidFill>
              <a:srgbClr val="E4DED3"/>
            </a:solidFill>
            <a:prstDash val="solid"/>
          </a:ln>
        </p:spPr>
      </p:sp>
      <p:pic>
        <p:nvPicPr>
          <p:cNvPr id="12" name="Image 2" descr="Clock">    </p:cNvPr>
          <p:cNvPicPr>
            <a:picLocks noChangeAspect="1"/>
          </p:cNvPicPr>
          <p:nvPr/>
        </p:nvPicPr>
        <p:blipFill>
          <a:blip r:embed="rId3"/>
          <a:srcRect l="0" r="0" t="0" b="0"/>
          <a:stretch/>
        </p:blipFill>
        <p:spPr>
          <a:xfrm>
            <a:off x="8343900" y="2654300"/>
            <a:ext cx="508000" cy="508000"/>
          </a:xfrm>
          <a:prstGeom prst="rect">
            <a:avLst/>
          </a:prstGeom>
        </p:spPr>
      </p:pic>
      <p:sp>
        <p:nvSpPr>
          <p:cNvPr id="13" name="Text 8"/>
          <p:cNvSpPr/>
          <p:nvPr/>
        </p:nvSpPr>
        <p:spPr>
          <a:xfrm>
            <a:off x="8343900" y="3289300"/>
            <a:ext cx="2799334" cy="391120"/>
          </a:xfrm>
          <a:prstGeom prst="rect">
            <a:avLst/>
          </a:prstGeom>
          <a:noFill/>
          <a:ln/>
        </p:spPr>
        <p:txBody>
          <a:bodyPr wrap="square" lIns="0" tIns="0" rIns="0" bIns="0" rtlCol="0" anchor="t">
            <a:normAutofit/>
          </a:bodyPr>
          <a:lstStyle/>
          <a:p>
            <a:pPr algn="l" indent="0" marL="0">
              <a:lnSpc>
                <a:spcPts val="2880"/>
              </a:lnSpc>
              <a:buNone/>
            </a:pPr>
            <a:r>
              <a:rPr lang="en-US" sz="2400" b="1" dirty="0">
                <a:solidFill>
                  <a:srgbClr val="14213D"/>
                </a:solidFill>
                <a:latin typeface="Be Vietnam Pro" pitchFamily="34" charset="0"/>
                <a:ea typeface="Be Vietnam Pro" pitchFamily="34" charset="-122"/>
                <a:cs typeface="Be Vietnam Pro" pitchFamily="34" charset="-120"/>
              </a:rPr>
              <a:t>Busy work</a:t>
            </a:r>
            <a:endParaRPr lang="en-US" sz="2400" dirty="0"/>
          </a:p>
        </p:txBody>
      </p:sp>
      <p:sp>
        <p:nvSpPr>
          <p:cNvPr id="14" name="Text 9"/>
          <p:cNvSpPr/>
          <p:nvPr/>
        </p:nvSpPr>
        <p:spPr>
          <a:xfrm>
            <a:off x="8343900" y="3782020"/>
            <a:ext cx="2799334" cy="1328341"/>
          </a:xfrm>
          <a:prstGeom prst="rect">
            <a:avLst/>
          </a:prstGeom>
          <a:noFill/>
          <a:ln/>
        </p:spPr>
        <p:txBody>
          <a:bodyPr wrap="square" lIns="0" tIns="0" rIns="0" bIns="0" rtlCol="0" anchor="t">
            <a:normAutofit/>
          </a:bodyPr>
          <a:lstStyle/>
          <a:p>
            <a:pPr algn="l" indent="0" marL="0">
              <a:lnSpc>
                <a:spcPts val="2565"/>
              </a:lnSpc>
              <a:buNone/>
            </a:pPr>
            <a:r>
              <a:rPr lang="en-US" sz="1900" dirty="0">
                <a:solidFill>
                  <a:srgbClr val="3D4657"/>
                </a:solidFill>
                <a:latin typeface="Be Vietnam Pro" pitchFamily="34" charset="0"/>
                <a:ea typeface="Be Vietnam Pro" pitchFamily="34" charset="-122"/>
                <a:cs typeface="Be Vietnam Pro" pitchFamily="34" charset="-120"/>
              </a:rPr>
              <a:t>Writing reports, meeting minutes and plans eats the team’s time.</a:t>
            </a:r>
            <a:endParaRPr lang="en-US" sz="1900" dirty="0"/>
          </a:p>
        </p:txBody>
      </p:sp>
      <p:sp>
        <p:nvSpPr>
          <p:cNvPr id="15" name="Text 10"/>
          <p:cNvSpPr/>
          <p:nvPr/>
        </p:nvSpPr>
        <p:spPr>
          <a:xfrm>
            <a:off x="812800" y="6202759"/>
            <a:ext cx="578048"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6A7179"/>
                </a:solidFill>
                <a:latin typeface="Be Vietnam Pro" pitchFamily="34" charset="0"/>
                <a:ea typeface="Be Vietnam Pro" pitchFamily="34" charset="-122"/>
                <a:cs typeface="Be Vietnam Pro" pitchFamily="34" charset="-120"/>
              </a:rPr>
              <a:t>2 / 14</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11430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14213D"/>
                </a:solidFill>
                <a:latin typeface="Be Vietnam Pro" pitchFamily="34" charset="0"/>
                <a:ea typeface="Be Vietnam Pro" pitchFamily="34" charset="-122"/>
                <a:cs typeface="Be Vietnam Pro" pitchFamily="34" charset="-120"/>
              </a:rPr>
              <a:t>Three questions nobody in the team can answer</a:t>
            </a:r>
            <a:endParaRPr lang="en-US" sz="4000" dirty="0"/>
          </a:p>
        </p:txBody>
      </p:sp>
      <p:sp>
        <p:nvSpPr>
          <p:cNvPr id="3" name="Shape 1"/>
          <p:cNvSpPr/>
          <p:nvPr/>
        </p:nvSpPr>
        <p:spPr>
          <a:xfrm>
            <a:off x="819150" y="2343150"/>
            <a:ext cx="3340100" cy="2463602"/>
          </a:xfrm>
          <a:prstGeom prst="roundRect">
            <a:avLst>
              <a:gd name="adj" fmla="val 5928"/>
            </a:avLst>
          </a:prstGeom>
          <a:solidFill>
            <a:srgbClr val="FFFDF9"/>
          </a:solidFill>
          <a:ln w="12700">
            <a:solidFill>
              <a:srgbClr val="E4DED3"/>
            </a:solidFill>
            <a:prstDash val="solid"/>
          </a:ln>
        </p:spPr>
      </p:sp>
      <p:pic>
        <p:nvPicPr>
          <p:cNvPr id="4" name="Image 0" descr="Search">    </p:cNvPr>
          <p:cNvPicPr>
            <a:picLocks noChangeAspect="1"/>
          </p:cNvPicPr>
          <p:nvPr/>
        </p:nvPicPr>
        <p:blipFill>
          <a:blip r:embed="rId1"/>
          <a:srcRect l="0" r="0" t="0" b="0"/>
          <a:stretch/>
        </p:blipFill>
        <p:spPr>
          <a:xfrm>
            <a:off x="1104900" y="2628900"/>
            <a:ext cx="457200" cy="457200"/>
          </a:xfrm>
          <a:prstGeom prst="rect">
            <a:avLst/>
          </a:prstGeom>
        </p:spPr>
      </p:pic>
      <p:sp>
        <p:nvSpPr>
          <p:cNvPr id="5" name="Text 2"/>
          <p:cNvSpPr/>
          <p:nvPr/>
        </p:nvSpPr>
        <p:spPr>
          <a:xfrm>
            <a:off x="1104900" y="3187700"/>
            <a:ext cx="2851658" cy="69592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Be Vietnam Pro" pitchFamily="34" charset="0"/>
                <a:ea typeface="Be Vietnam Pro" pitchFamily="34" charset="-122"/>
                <a:cs typeface="Be Vietnam Pro" pitchFamily="34" charset="-120"/>
              </a:rPr>
              <a:t>Who is doing what?</a:t>
            </a:r>
            <a:endParaRPr lang="en-US" sz="2200" dirty="0"/>
          </a:p>
        </p:txBody>
      </p:sp>
      <p:sp>
        <p:nvSpPr>
          <p:cNvPr id="6" name="Text 3"/>
          <p:cNvSpPr/>
          <p:nvPr/>
        </p:nvSpPr>
        <p:spPr>
          <a:xfrm>
            <a:off x="1104900" y="3959820"/>
            <a:ext cx="2851658" cy="586581"/>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3D4657"/>
                </a:solidFill>
                <a:latin typeface="Be Vietnam Pro" pitchFamily="34" charset="0"/>
                <a:ea typeface="Be Vietnam Pro" pitchFamily="34" charset="-122"/>
                <a:cs typeface="Be Vietnam Pro" pitchFamily="34" charset="-120"/>
              </a:rPr>
              <a:t>Tasks are scattered across chats and files.</a:t>
            </a:r>
            <a:endParaRPr lang="en-US" sz="1700" dirty="0"/>
          </a:p>
        </p:txBody>
      </p:sp>
      <p:sp>
        <p:nvSpPr>
          <p:cNvPr id="7" name="Shape 4"/>
          <p:cNvSpPr/>
          <p:nvPr/>
        </p:nvSpPr>
        <p:spPr>
          <a:xfrm>
            <a:off x="4425950" y="2343150"/>
            <a:ext cx="3340100" cy="2463602"/>
          </a:xfrm>
          <a:prstGeom prst="roundRect">
            <a:avLst>
              <a:gd name="adj" fmla="val 5928"/>
            </a:avLst>
          </a:prstGeom>
          <a:solidFill>
            <a:srgbClr val="FFFDF9"/>
          </a:solidFill>
          <a:ln w="12700">
            <a:solidFill>
              <a:srgbClr val="E4DED3"/>
            </a:solidFill>
            <a:prstDash val="solid"/>
          </a:ln>
        </p:spPr>
      </p:sp>
      <p:pic>
        <p:nvPicPr>
          <p:cNvPr id="8" name="Image 1" descr="Clock">    </p:cNvPr>
          <p:cNvPicPr>
            <a:picLocks noChangeAspect="1"/>
          </p:cNvPicPr>
          <p:nvPr/>
        </p:nvPicPr>
        <p:blipFill>
          <a:blip r:embed="rId2"/>
          <a:srcRect l="0" r="0" t="0" b="0"/>
          <a:stretch/>
        </p:blipFill>
        <p:spPr>
          <a:xfrm>
            <a:off x="4711700" y="2628900"/>
            <a:ext cx="457200" cy="457200"/>
          </a:xfrm>
          <a:prstGeom prst="rect">
            <a:avLst/>
          </a:prstGeom>
        </p:spPr>
      </p:pic>
      <p:sp>
        <p:nvSpPr>
          <p:cNvPr id="9" name="Text 5"/>
          <p:cNvSpPr/>
          <p:nvPr/>
        </p:nvSpPr>
        <p:spPr>
          <a:xfrm>
            <a:off x="4711700" y="3187700"/>
            <a:ext cx="285165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Be Vietnam Pro" pitchFamily="34" charset="0"/>
                <a:ea typeface="Be Vietnam Pro" pitchFamily="34" charset="-122"/>
                <a:cs typeface="Be Vietnam Pro" pitchFamily="34" charset="-120"/>
              </a:rPr>
              <a:t>Are we late?</a:t>
            </a:r>
            <a:endParaRPr lang="en-US" sz="2200" dirty="0"/>
          </a:p>
        </p:txBody>
      </p:sp>
      <p:sp>
        <p:nvSpPr>
          <p:cNvPr id="10" name="Text 6"/>
          <p:cNvSpPr/>
          <p:nvPr/>
        </p:nvSpPr>
        <p:spPr>
          <a:xfrm>
            <a:off x="4711700" y="3624560"/>
            <a:ext cx="2851658" cy="867172"/>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3D4657"/>
                </a:solidFill>
                <a:latin typeface="Be Vietnam Pro" pitchFamily="34" charset="0"/>
                <a:ea typeface="Be Vietnam Pro" pitchFamily="34" charset="-122"/>
                <a:cs typeface="Be Vietnam Pro" pitchFamily="34" charset="-120"/>
              </a:rPr>
              <a:t>Deadlines live in people's heads; nobody sees the slip.</a:t>
            </a:r>
            <a:endParaRPr lang="en-US" sz="1700" dirty="0"/>
          </a:p>
        </p:txBody>
      </p:sp>
      <p:sp>
        <p:nvSpPr>
          <p:cNvPr id="11" name="Shape 7"/>
          <p:cNvSpPr/>
          <p:nvPr/>
        </p:nvSpPr>
        <p:spPr>
          <a:xfrm>
            <a:off x="8032750" y="2343150"/>
            <a:ext cx="3340100" cy="2463602"/>
          </a:xfrm>
          <a:prstGeom prst="roundRect">
            <a:avLst>
              <a:gd name="adj" fmla="val 5928"/>
            </a:avLst>
          </a:prstGeom>
          <a:solidFill>
            <a:srgbClr val="FFFDF9"/>
          </a:solidFill>
          <a:ln w="12700">
            <a:solidFill>
              <a:srgbClr val="E4DED3"/>
            </a:solidFill>
            <a:prstDash val="solid"/>
          </a:ln>
        </p:spPr>
      </p:sp>
      <p:pic>
        <p:nvPicPr>
          <p:cNvPr id="12" name="Image 2" descr="Warning">    </p:cNvPr>
          <p:cNvPicPr>
            <a:picLocks noChangeAspect="1"/>
          </p:cNvPicPr>
          <p:nvPr/>
        </p:nvPicPr>
        <p:blipFill>
          <a:blip r:embed="rId3"/>
          <a:srcRect l="0" r="0" t="0" b="0"/>
          <a:stretch/>
        </p:blipFill>
        <p:spPr>
          <a:xfrm>
            <a:off x="8318500" y="2628900"/>
            <a:ext cx="457200" cy="457200"/>
          </a:xfrm>
          <a:prstGeom prst="rect">
            <a:avLst/>
          </a:prstGeom>
        </p:spPr>
      </p:pic>
      <p:sp>
        <p:nvSpPr>
          <p:cNvPr id="13" name="Text 8"/>
          <p:cNvSpPr/>
          <p:nvPr/>
        </p:nvSpPr>
        <p:spPr>
          <a:xfrm>
            <a:off x="8318500" y="3187700"/>
            <a:ext cx="285165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Be Vietnam Pro" pitchFamily="34" charset="0"/>
                <a:ea typeface="Be Vietnam Pro" pitchFamily="34" charset="-122"/>
                <a:cs typeface="Be Vietnam Pro" pitchFamily="34" charset="-120"/>
              </a:rPr>
              <a:t>Who is stuck?</a:t>
            </a:r>
            <a:endParaRPr lang="en-US" sz="2200" dirty="0"/>
          </a:p>
        </p:txBody>
      </p:sp>
      <p:sp>
        <p:nvSpPr>
          <p:cNvPr id="14" name="Text 9"/>
          <p:cNvSpPr/>
          <p:nvPr/>
        </p:nvSpPr>
        <p:spPr>
          <a:xfrm>
            <a:off x="8318500" y="3624560"/>
            <a:ext cx="2851658" cy="586581"/>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3D4657"/>
                </a:solidFill>
                <a:latin typeface="Be Vietnam Pro" pitchFamily="34" charset="0"/>
                <a:ea typeface="Be Vietnam Pro" pitchFamily="34" charset="-122"/>
                <a:cs typeface="Be Vietnam Pro" pitchFamily="34" charset="-120"/>
              </a:rPr>
              <a:t>A blocked member stays silent until the deadline.</a:t>
            </a:r>
            <a:endParaRPr lang="en-US" sz="1700" dirty="0"/>
          </a:p>
        </p:txBody>
      </p:sp>
      <p:sp>
        <p:nvSpPr>
          <p:cNvPr id="15" name="Text 10"/>
          <p:cNvSpPr/>
          <p:nvPr/>
        </p:nvSpPr>
        <p:spPr>
          <a:xfrm>
            <a:off x="812800" y="6202759"/>
            <a:ext cx="579953"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6A7179"/>
                </a:solidFill>
                <a:latin typeface="Be Vietnam Pro" pitchFamily="34" charset="0"/>
                <a:ea typeface="Be Vietnam Pro" pitchFamily="34" charset="-122"/>
                <a:cs typeface="Be Vietnam Pro" pitchFamily="34" charset="-120"/>
              </a:rPr>
              <a:t>3 / 14</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2"/>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14213D"/>
                </a:solidFill>
                <a:latin typeface="Be Vietnam Pro" pitchFamily="34" charset="0"/>
                <a:ea typeface="Be Vietnam Pro" pitchFamily="34" charset="-122"/>
                <a:cs typeface="Be Vietnam Pro" pitchFamily="34" charset="-120"/>
              </a:rPr>
              <a:t>Existing tools do not fit a student team</a:t>
            </a:r>
            <a:endParaRPr lang="en-US" sz="4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1739900"/>
          <a:ext cx="10553700" cy="2934295"/>
        </p:xfrm>
        <a:graphic>
          <a:graphicData uri="http://schemas.openxmlformats.org/drawingml/2006/table">
            <a:tbl>
              <a:tblPr/>
              <a:tblGrid>
                <a:gridCol w="4749165"/>
                <a:gridCol w="5804535"/>
              </a:tblGrid>
              <a:tr h="519311">
                <a:tc>
                  <a:txBody>
                    <a:bodyPr/>
                    <a:lstStyle/>
                    <a:p>
                      <a:pPr indent="0" marL="0">
                        <a:lnSpc>
                          <a:spcPts val="2660"/>
                        </a:lnSpc>
                        <a:buNone/>
                      </a:pPr>
                      <a:r>
                        <a:rPr lang="en-US" sz="1900" b="1" dirty="0">
                          <a:solidFill>
                            <a:srgbClr val="14213D"/>
                          </a:solidFill>
                          <a:latin typeface="Be Vietnam Pro" pitchFamily="34" charset="0"/>
                          <a:ea typeface="Be Vietnam Pro" pitchFamily="34" charset="-122"/>
                          <a:cs typeface="Be Vietnam Pro" pitchFamily="34" charset="-120"/>
                        </a:rPr>
                        <a:t>What a student team needs</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indent="0" marL="0">
                        <a:lnSpc>
                          <a:spcPts val="2660"/>
                        </a:lnSpc>
                        <a:buNone/>
                      </a:pPr>
                      <a:r>
                        <a:rPr lang="en-US" sz="1900" b="1" dirty="0">
                          <a:solidFill>
                            <a:srgbClr val="14213D"/>
                          </a:solidFill>
                          <a:latin typeface="Be Vietnam Pro" pitchFamily="34" charset="0"/>
                          <a:ea typeface="Be Vietnam Pro" pitchFamily="34" charset="-122"/>
                          <a:cs typeface="Be Vietnam Pro" pitchFamily="34" charset="-120"/>
                        </a:rPr>
                        <a:t>What it usually gets</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r>
              <a:tr h="857052">
                <a:tc>
                  <a:txBody>
                    <a:bodyPr/>
                    <a:lstStyle/>
                    <a:p>
                      <a:pPr indent="0" marL="0">
                        <a:lnSpc>
                          <a:spcPts val="2660"/>
                        </a:lnSpc>
                        <a:buNone/>
                      </a:pPr>
                      <a:r>
                        <a:rPr lang="en-US" sz="1900" dirty="0">
                          <a:solidFill>
                            <a:srgbClr val="14213D"/>
                          </a:solidFill>
                          <a:latin typeface="Be Vietnam Pro" pitchFamily="34" charset="0"/>
                          <a:ea typeface="Be Vietnam Pro" pitchFamily="34" charset="-122"/>
                          <a:cs typeface="Be Vietnam Pro" pitchFamily="34" charset="-120"/>
                        </a:rPr>
                        <a:t>Free Scrum charts</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indent="0" marL="0">
                        <a:lnSpc>
                          <a:spcPts val="2660"/>
                        </a:lnSpc>
                        <a:buNone/>
                      </a:pPr>
                      <a:r>
                        <a:rPr lang="en-US" sz="1900" dirty="0">
                          <a:solidFill>
                            <a:srgbClr val="C2410C"/>
                          </a:solidFill>
                          <a:latin typeface="Be Vietnam Pro" pitchFamily="34" charset="0"/>
                          <a:ea typeface="Be Vietnam Pro" pitchFamily="34" charset="-122"/>
                          <a:cs typeface="Be Vietnam Pro" pitchFamily="34" charset="-120"/>
                        </a:rPr>
                        <a:t>Burndown and velocity behind a paid plan or add-on</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r>
              <a:tr h="519311">
                <a:tc>
                  <a:txBody>
                    <a:bodyPr/>
                    <a:lstStyle/>
                    <a:p>
                      <a:pPr indent="0" marL="0">
                        <a:lnSpc>
                          <a:spcPts val="2660"/>
                        </a:lnSpc>
                        <a:buNone/>
                      </a:pPr>
                      <a:r>
                        <a:rPr lang="en-US" sz="1900" dirty="0">
                          <a:solidFill>
                            <a:srgbClr val="14213D"/>
                          </a:solidFill>
                          <a:latin typeface="Be Vietnam Pro" pitchFamily="34" charset="0"/>
                          <a:ea typeface="Be Vietnam Pro" pitchFamily="34" charset="-122"/>
                          <a:cs typeface="Be Vietnam Pro" pitchFamily="34" charset="-120"/>
                        </a:rPr>
                        <a:t>Works on bad Wi-Fi</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indent="0" marL="0">
                        <a:lnSpc>
                          <a:spcPts val="2660"/>
                        </a:lnSpc>
                        <a:buNone/>
                      </a:pPr>
                      <a:r>
                        <a:rPr lang="en-US" sz="1900" dirty="0">
                          <a:solidFill>
                            <a:srgbClr val="C2410C"/>
                          </a:solidFill>
                          <a:latin typeface="Be Vietnam Pro" pitchFamily="34" charset="0"/>
                          <a:ea typeface="Be Vietnam Pro" pitchFamily="34" charset="-122"/>
                          <a:cs typeface="Be Vietnam Pro" pitchFamily="34" charset="-120"/>
                        </a:rPr>
                        <a:t>Online-only web apps</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r>
              <a:tr h="519311">
                <a:tc>
                  <a:txBody>
                    <a:bodyPr/>
                    <a:lstStyle/>
                    <a:p>
                      <a:pPr indent="0" marL="0">
                        <a:lnSpc>
                          <a:spcPts val="2660"/>
                        </a:lnSpc>
                        <a:buNone/>
                      </a:pPr>
                      <a:r>
                        <a:rPr lang="en-US" sz="1900" dirty="0">
                          <a:solidFill>
                            <a:srgbClr val="14213D"/>
                          </a:solidFill>
                          <a:latin typeface="Be Vietnam Pro" pitchFamily="34" charset="0"/>
                          <a:ea typeface="Be Vietnam Pro" pitchFamily="34" charset="-122"/>
                          <a:cs typeface="Be Vietnam Pro" pitchFamily="34" charset="-120"/>
                        </a:rPr>
                        <a:t>AI that writes reports</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indent="0" marL="0">
                        <a:lnSpc>
                          <a:spcPts val="2660"/>
                        </a:lnSpc>
                        <a:buNone/>
                      </a:pPr>
                      <a:r>
                        <a:rPr lang="en-US" sz="1900" dirty="0">
                          <a:solidFill>
                            <a:srgbClr val="C2410C"/>
                          </a:solidFill>
                          <a:latin typeface="Be Vietnam Pro" pitchFamily="34" charset="0"/>
                          <a:ea typeface="Be Vietnam Pro" pitchFamily="34" charset="-122"/>
                          <a:cs typeface="Be Vietnam Pro" pitchFamily="34" charset="-120"/>
                        </a:rPr>
                        <a:t>Paid AI add-ons, English only</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r>
              <a:tr h="519311">
                <a:tc>
                  <a:txBody>
                    <a:bodyPr/>
                    <a:lstStyle/>
                    <a:p>
                      <a:pPr indent="0" marL="0">
                        <a:lnSpc>
                          <a:spcPts val="2660"/>
                        </a:lnSpc>
                        <a:buNone/>
                      </a:pPr>
                      <a:r>
                        <a:rPr lang="en-US" sz="1900" dirty="0">
                          <a:solidFill>
                            <a:srgbClr val="14213D"/>
                          </a:solidFill>
                          <a:latin typeface="Be Vietnam Pro" pitchFamily="34" charset="0"/>
                          <a:ea typeface="Be Vietnam Pro" pitchFamily="34" charset="-122"/>
                          <a:cs typeface="Be Vietnam Pro" pitchFamily="34" charset="-120"/>
                        </a:rPr>
                        <a:t>Vietnamese interface</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indent="0" marL="0">
                        <a:lnSpc>
                          <a:spcPts val="2660"/>
                        </a:lnSpc>
                        <a:buNone/>
                      </a:pPr>
                      <a:r>
                        <a:rPr lang="en-US" sz="1900" dirty="0">
                          <a:solidFill>
                            <a:srgbClr val="C2410C"/>
                          </a:solidFill>
                          <a:latin typeface="Be Vietnam Pro" pitchFamily="34" charset="0"/>
                          <a:ea typeface="Be Vietnam Pro" pitchFamily="34" charset="-122"/>
                          <a:cs typeface="Be Vietnam Pro" pitchFamily="34" charset="-120"/>
                        </a:rPr>
                        <a:t>Partial or none</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r>
            </a:tbl>
          </a:graphicData>
        </a:graphic>
      </p:graphicFrame>
      <p:sp>
        <p:nvSpPr>
          <p:cNvPr id="4" name="Text 1"/>
          <p:cNvSpPr/>
          <p:nvPr/>
        </p:nvSpPr>
        <p:spPr>
          <a:xfrm>
            <a:off x="812800" y="6202759"/>
            <a:ext cx="590669"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6A7179"/>
                </a:solidFill>
                <a:latin typeface="Be Vietnam Pro" pitchFamily="34" charset="0"/>
                <a:ea typeface="Be Vietnam Pro" pitchFamily="34" charset="-122"/>
                <a:cs typeface="Be Vietnam Pro" pitchFamily="34" charset="-120"/>
              </a:rPr>
              <a:t>4 / 14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11430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14213D"/>
                </a:solidFill>
                <a:latin typeface="Be Vietnam Pro" pitchFamily="34" charset="0"/>
                <a:ea typeface="Be Vietnam Pro" pitchFamily="34" charset="-122"/>
                <a:cs typeface="Be Vietnam Pro" pitchFamily="34" charset="-120"/>
              </a:rPr>
              <a:t>And AI that writes code brings a new risk</a:t>
            </a:r>
            <a:endParaRPr lang="en-US" sz="4000" dirty="0"/>
          </a:p>
        </p:txBody>
      </p:sp>
      <p:sp>
        <p:nvSpPr>
          <p:cNvPr id="3" name="Shape 1"/>
          <p:cNvSpPr/>
          <p:nvPr/>
        </p:nvSpPr>
        <p:spPr>
          <a:xfrm>
            <a:off x="812800" y="2336800"/>
            <a:ext cx="3352800" cy="2731492"/>
          </a:xfrm>
          <a:prstGeom prst="roundRect">
            <a:avLst>
              <a:gd name="adj" fmla="val 5579"/>
            </a:avLst>
          </a:prstGeom>
          <a:solidFill>
            <a:srgbClr val="FCE9D6"/>
          </a:solidFill>
          <a:ln/>
        </p:spPr>
      </p:sp>
      <p:pic>
        <p:nvPicPr>
          <p:cNvPr id="4" name="Image 0" descr="Lock">    </p:cNvPr>
          <p:cNvPicPr>
            <a:picLocks noChangeAspect="1"/>
          </p:cNvPicPr>
          <p:nvPr/>
        </p:nvPicPr>
        <p:blipFill>
          <a:blip r:embed="rId1"/>
          <a:srcRect l="0" r="0" t="0" b="0"/>
          <a:stretch/>
        </p:blipFill>
        <p:spPr>
          <a:xfrm>
            <a:off x="1092200" y="2616200"/>
            <a:ext cx="457200" cy="457200"/>
          </a:xfrm>
          <a:prstGeom prst="rect">
            <a:avLst/>
          </a:prstGeom>
        </p:spPr>
      </p:pic>
      <p:sp>
        <p:nvSpPr>
          <p:cNvPr id="5" name="Text 2"/>
          <p:cNvSpPr/>
          <p:nvPr/>
        </p:nvSpPr>
        <p:spPr>
          <a:xfrm>
            <a:off x="1092200" y="3175000"/>
            <a:ext cx="287782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Be Vietnam Pro" pitchFamily="34" charset="0"/>
                <a:ea typeface="Be Vietnam Pro" pitchFamily="34" charset="-122"/>
                <a:cs typeface="Be Vietnam Pro" pitchFamily="34" charset="-120"/>
              </a:rPr>
              <a:t>Leaks secrets</a:t>
            </a:r>
            <a:endParaRPr lang="en-US" sz="2200" dirty="0"/>
          </a:p>
        </p:txBody>
      </p:sp>
      <p:sp>
        <p:nvSpPr>
          <p:cNvPr id="6" name="Text 3"/>
          <p:cNvSpPr/>
          <p:nvPr/>
        </p:nvSpPr>
        <p:spPr>
          <a:xfrm>
            <a:off x="1092200" y="3611860"/>
            <a:ext cx="2877820" cy="867172"/>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3D4657"/>
                </a:solidFill>
                <a:latin typeface="Be Vietnam Pro" pitchFamily="34" charset="0"/>
                <a:ea typeface="Be Vietnam Pro" pitchFamily="34" charset="-122"/>
                <a:cs typeface="Be Vietnam Pro" pitchFamily="34" charset="-120"/>
              </a:rPr>
              <a:t>An agent can copy a password or API key into the code.</a:t>
            </a:r>
            <a:endParaRPr lang="en-US" sz="1700" dirty="0"/>
          </a:p>
        </p:txBody>
      </p:sp>
      <p:sp>
        <p:nvSpPr>
          <p:cNvPr id="7" name="Shape 4"/>
          <p:cNvSpPr/>
          <p:nvPr/>
        </p:nvSpPr>
        <p:spPr>
          <a:xfrm>
            <a:off x="4419600" y="2336800"/>
            <a:ext cx="3352800" cy="2731492"/>
          </a:xfrm>
          <a:prstGeom prst="roundRect">
            <a:avLst>
              <a:gd name="adj" fmla="val 5579"/>
            </a:avLst>
          </a:prstGeom>
          <a:solidFill>
            <a:srgbClr val="FCE9D6"/>
          </a:solidFill>
          <a:ln/>
        </p:spPr>
      </p:sp>
      <p:pic>
        <p:nvPicPr>
          <p:cNvPr id="8" name="Image 1" descr="Warning">    </p:cNvPr>
          <p:cNvPicPr>
            <a:picLocks noChangeAspect="1"/>
          </p:cNvPicPr>
          <p:nvPr/>
        </p:nvPicPr>
        <p:blipFill>
          <a:blip r:embed="rId2"/>
          <a:srcRect l="0" r="0" t="0" b="0"/>
          <a:stretch/>
        </p:blipFill>
        <p:spPr>
          <a:xfrm>
            <a:off x="4699000" y="2616200"/>
            <a:ext cx="457200" cy="457200"/>
          </a:xfrm>
          <a:prstGeom prst="rect">
            <a:avLst/>
          </a:prstGeom>
        </p:spPr>
      </p:pic>
      <p:sp>
        <p:nvSpPr>
          <p:cNvPr id="9" name="Text 5"/>
          <p:cNvSpPr/>
          <p:nvPr/>
        </p:nvSpPr>
        <p:spPr>
          <a:xfrm>
            <a:off x="4699000" y="3175000"/>
            <a:ext cx="2877820" cy="69592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Be Vietnam Pro" pitchFamily="34" charset="0"/>
                <a:ea typeface="Be Vietnam Pro" pitchFamily="34" charset="-122"/>
                <a:cs typeface="Be Vietnam Pro" pitchFamily="34" charset="-120"/>
              </a:rPr>
              <a:t>Breaks shared work</a:t>
            </a:r>
            <a:endParaRPr lang="en-US" sz="2200" dirty="0"/>
          </a:p>
        </p:txBody>
      </p:sp>
      <p:sp>
        <p:nvSpPr>
          <p:cNvPr id="10" name="Text 6"/>
          <p:cNvSpPr/>
          <p:nvPr/>
        </p:nvSpPr>
        <p:spPr>
          <a:xfrm>
            <a:off x="4699000" y="3947120"/>
            <a:ext cx="2877820" cy="867172"/>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3D4657"/>
                </a:solidFill>
                <a:latin typeface="Be Vietnam Pro" pitchFamily="34" charset="0"/>
                <a:ea typeface="Be Vietnam Pro" pitchFamily="34" charset="-122"/>
                <a:cs typeface="Be Vietnam Pro" pitchFamily="34" charset="-120"/>
              </a:rPr>
              <a:t>It can force-push over teammates or edit the database schema.</a:t>
            </a:r>
            <a:endParaRPr lang="en-US" sz="1700" dirty="0"/>
          </a:p>
        </p:txBody>
      </p:sp>
      <p:sp>
        <p:nvSpPr>
          <p:cNvPr id="11" name="Shape 7"/>
          <p:cNvSpPr/>
          <p:nvPr/>
        </p:nvSpPr>
        <p:spPr>
          <a:xfrm>
            <a:off x="8026400" y="2336800"/>
            <a:ext cx="3352800" cy="2731492"/>
          </a:xfrm>
          <a:prstGeom prst="roundRect">
            <a:avLst>
              <a:gd name="adj" fmla="val 5579"/>
            </a:avLst>
          </a:prstGeom>
          <a:solidFill>
            <a:srgbClr val="FCE9D6"/>
          </a:solidFill>
          <a:ln/>
        </p:spPr>
      </p:sp>
      <p:sp>
        <p:nvSpPr>
          <p:cNvPr id="12" name="Text 8"/>
          <p:cNvSpPr/>
          <p:nvPr/>
        </p:nvSpPr>
        <p:spPr>
          <a:xfrm>
            <a:off x="8305800" y="2616200"/>
            <a:ext cx="287782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E07B24"/>
                </a:solidFill>
                <a:latin typeface="Arial" pitchFamily="34" charset="0"/>
                <a:ea typeface="Arial" pitchFamily="34" charset="-122"/>
                <a:cs typeface="Arial" pitchFamily="34" charset="-120"/>
              </a:rPr>
              <a:t>[icon: X]</a:t>
            </a:r>
            <a:endParaRPr lang="en-US" sz="1600" dirty="0"/>
          </a:p>
        </p:txBody>
      </p:sp>
      <p:sp>
        <p:nvSpPr>
          <p:cNvPr id="13" name="Text 9"/>
          <p:cNvSpPr/>
          <p:nvPr/>
        </p:nvSpPr>
        <p:spPr>
          <a:xfrm>
            <a:off x="8305800" y="3002260"/>
            <a:ext cx="2877820" cy="69592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Be Vietnam Pro" pitchFamily="34" charset="0"/>
                <a:ea typeface="Be Vietnam Pro" pitchFamily="34" charset="-122"/>
                <a:cs typeface="Be Vietnam Pro" pitchFamily="34" charset="-120"/>
              </a:rPr>
              <a:t>Says “done” too early</a:t>
            </a:r>
            <a:endParaRPr lang="en-US" sz="2200" dirty="0"/>
          </a:p>
        </p:txBody>
      </p:sp>
      <p:sp>
        <p:nvSpPr>
          <p:cNvPr id="14" name="Text 10"/>
          <p:cNvSpPr/>
          <p:nvPr/>
        </p:nvSpPr>
        <p:spPr>
          <a:xfrm>
            <a:off x="8305800" y="3774380"/>
            <a:ext cx="2877820" cy="867172"/>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3D4657"/>
                </a:solidFill>
                <a:latin typeface="Be Vietnam Pro" pitchFamily="34" charset="0"/>
                <a:ea typeface="Be Vietnam Pro" pitchFamily="34" charset="-122"/>
                <a:cs typeface="Be Vietnam Pro" pitchFamily="34" charset="-120"/>
              </a:rPr>
              <a:t>Code changes with no tests and no updated docs.</a:t>
            </a:r>
            <a:endParaRPr lang="en-US" sz="1700" dirty="0"/>
          </a:p>
        </p:txBody>
      </p:sp>
      <p:sp>
        <p:nvSpPr>
          <p:cNvPr id="15" name="Text 11"/>
          <p:cNvSpPr/>
          <p:nvPr/>
        </p:nvSpPr>
        <p:spPr>
          <a:xfrm>
            <a:off x="812800" y="6202759"/>
            <a:ext cx="579953"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6A7179"/>
                </a:solidFill>
                <a:latin typeface="Be Vietnam Pro" pitchFamily="34" charset="0"/>
                <a:ea typeface="Be Vietnam Pro" pitchFamily="34" charset="-122"/>
                <a:cs typeface="Be Vietnam Pro" pitchFamily="34" charset="-120"/>
              </a:rPr>
              <a:t>5 / 14</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213D"/>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F7F6F2"/>
                </a:solidFill>
                <a:latin typeface="Be Vietnam Pro" pitchFamily="34" charset="0"/>
                <a:ea typeface="Be Vietnam Pro" pitchFamily="34" charset="-122"/>
                <a:cs typeface="Be Vietnam Pro" pitchFamily="34" charset="-120"/>
              </a:rPr>
              <a:t>What is new in our project</a:t>
            </a:r>
            <a:endParaRPr lang="en-US" sz="4000" dirty="0"/>
          </a:p>
        </p:txBody>
      </p:sp>
      <p:sp>
        <p:nvSpPr>
          <p:cNvPr id="3" name="Shape 1"/>
          <p:cNvSpPr/>
          <p:nvPr/>
        </p:nvSpPr>
        <p:spPr>
          <a:xfrm>
            <a:off x="812800" y="1676400"/>
            <a:ext cx="5181600" cy="1696541"/>
          </a:xfrm>
          <a:prstGeom prst="roundRect">
            <a:avLst>
              <a:gd name="adj" fmla="val 8983"/>
            </a:avLst>
          </a:prstGeom>
          <a:solidFill>
            <a:srgbClr val="1E2F55"/>
          </a:solidFill>
          <a:ln/>
        </p:spPr>
      </p:sp>
      <p:pic>
        <p:nvPicPr>
          <p:cNvPr id="4" name="Image 0" descr="Lightbulb">    </p:cNvPr>
          <p:cNvPicPr>
            <a:picLocks noChangeAspect="1"/>
          </p:cNvPicPr>
          <p:nvPr/>
        </p:nvPicPr>
        <p:blipFill>
          <a:blip r:embed="rId1"/>
          <a:srcRect l="0" r="0" t="-115" b="-115"/>
          <a:stretch/>
        </p:blipFill>
        <p:spPr>
          <a:xfrm>
            <a:off x="1066800" y="1930400"/>
            <a:ext cx="215404" cy="508000"/>
          </a:xfrm>
          <a:prstGeom prst="rect">
            <a:avLst/>
          </a:prstGeom>
        </p:spPr>
      </p:pic>
      <p:sp>
        <p:nvSpPr>
          <p:cNvPr id="5" name="Text 2"/>
          <p:cNvSpPr/>
          <p:nvPr/>
        </p:nvSpPr>
        <p:spPr>
          <a:xfrm>
            <a:off x="1485404" y="1930400"/>
            <a:ext cx="4382646" cy="345380"/>
          </a:xfrm>
          <a:prstGeom prst="rect">
            <a:avLst/>
          </a:prstGeom>
          <a:noFill/>
          <a:ln/>
        </p:spPr>
        <p:txBody>
          <a:bodyPr wrap="square" lIns="0" tIns="0" rIns="0" bIns="0" rtlCol="0" anchor="t">
            <a:normAutofit/>
          </a:bodyPr>
          <a:lstStyle/>
          <a:p>
            <a:pPr algn="l" indent="0" marL="0">
              <a:lnSpc>
                <a:spcPts val="2520"/>
              </a:lnSpc>
              <a:buNone/>
            </a:pPr>
            <a:r>
              <a:rPr lang="en-US" sz="2100" b="1" dirty="0">
                <a:solidFill>
                  <a:srgbClr val="F2A541"/>
                </a:solidFill>
                <a:latin typeface="Be Vietnam Pro" pitchFamily="34" charset="0"/>
                <a:ea typeface="Be Vietnam Pro" pitchFamily="34" charset="-122"/>
                <a:cs typeface="Be Vietnam Pro" pitchFamily="34" charset="-120"/>
              </a:rPr>
              <a:t>AI that never breaks</a:t>
            </a:r>
            <a:endParaRPr lang="en-US" sz="2100" dirty="0"/>
          </a:p>
        </p:txBody>
      </p:sp>
      <p:sp>
        <p:nvSpPr>
          <p:cNvPr id="6" name="Text 3"/>
          <p:cNvSpPr/>
          <p:nvPr/>
        </p:nvSpPr>
        <p:spPr>
          <a:xfrm>
            <a:off x="1485404" y="2326580"/>
            <a:ext cx="4382646" cy="817761"/>
          </a:xfrm>
          <a:prstGeom prst="rect">
            <a:avLst/>
          </a:prstGeom>
          <a:noFill/>
          <a:ln/>
        </p:spPr>
        <p:txBody>
          <a:bodyPr wrap="square" lIns="0" tIns="0" rIns="0" bIns="0" rtlCol="0" anchor="t">
            <a:normAutofit/>
          </a:bodyPr>
          <a:lstStyle/>
          <a:p>
            <a:pPr algn="l" indent="0" marL="0">
              <a:lnSpc>
                <a:spcPts val="2080"/>
              </a:lnSpc>
              <a:buNone/>
            </a:pPr>
            <a:r>
              <a:rPr lang="en-US" sz="1600" dirty="0">
                <a:solidFill>
                  <a:srgbClr val="F7F6F2"/>
                </a:solidFill>
                <a:latin typeface="Be Vietnam Pro" pitchFamily="34" charset="0"/>
                <a:ea typeface="Be Vietnam Pro" pitchFamily="34" charset="-122"/>
                <a:cs typeface="Be Vietnam Pro" pitchFamily="34" charset="-120"/>
              </a:rPr>
              <a:t>5 AI features; if the model fails, a rule-based answer from real project data. Replies in the UI language.</a:t>
            </a:r>
            <a:endParaRPr lang="en-US" sz="1600" dirty="0"/>
          </a:p>
        </p:txBody>
      </p:sp>
      <p:sp>
        <p:nvSpPr>
          <p:cNvPr id="7" name="Shape 4"/>
          <p:cNvSpPr/>
          <p:nvPr/>
        </p:nvSpPr>
        <p:spPr>
          <a:xfrm>
            <a:off x="6197600" y="1676400"/>
            <a:ext cx="5181600" cy="1696541"/>
          </a:xfrm>
          <a:prstGeom prst="roundRect">
            <a:avLst>
              <a:gd name="adj" fmla="val 8983"/>
            </a:avLst>
          </a:prstGeom>
          <a:solidFill>
            <a:srgbClr val="1E2F55"/>
          </a:solidFill>
          <a:ln/>
        </p:spPr>
      </p:sp>
      <p:pic>
        <p:nvPicPr>
          <p:cNvPr id="8" name="Image 1" descr="Activity">    </p:cNvPr>
          <p:cNvPicPr>
            <a:picLocks noChangeAspect="1"/>
          </p:cNvPicPr>
          <p:nvPr/>
        </p:nvPicPr>
        <p:blipFill>
          <a:blip r:embed="rId2"/>
          <a:srcRect l="-248" r="-248" t="0" b="0"/>
          <a:stretch/>
        </p:blipFill>
        <p:spPr>
          <a:xfrm>
            <a:off x="6451600" y="1930400"/>
            <a:ext cx="261640" cy="508000"/>
          </a:xfrm>
          <a:prstGeom prst="rect">
            <a:avLst/>
          </a:prstGeom>
        </p:spPr>
      </p:pic>
      <p:sp>
        <p:nvSpPr>
          <p:cNvPr id="9" name="Text 5"/>
          <p:cNvSpPr/>
          <p:nvPr/>
        </p:nvSpPr>
        <p:spPr>
          <a:xfrm>
            <a:off x="6916440" y="1930400"/>
            <a:ext cx="4335023" cy="345380"/>
          </a:xfrm>
          <a:prstGeom prst="rect">
            <a:avLst/>
          </a:prstGeom>
          <a:noFill/>
          <a:ln/>
        </p:spPr>
        <p:txBody>
          <a:bodyPr wrap="square" lIns="0" tIns="0" rIns="0" bIns="0" rtlCol="0" anchor="t">
            <a:normAutofit/>
          </a:bodyPr>
          <a:lstStyle/>
          <a:p>
            <a:pPr algn="l" indent="0" marL="0">
              <a:lnSpc>
                <a:spcPts val="2520"/>
              </a:lnSpc>
              <a:buNone/>
            </a:pPr>
            <a:r>
              <a:rPr lang="en-US" sz="2100" b="1" dirty="0">
                <a:solidFill>
                  <a:srgbClr val="F2A541"/>
                </a:solidFill>
                <a:latin typeface="Be Vietnam Pro" pitchFamily="34" charset="0"/>
                <a:ea typeface="Be Vietnam Pro" pitchFamily="34" charset="-122"/>
                <a:cs typeface="Be Vietnam Pro" pitchFamily="34" charset="-120"/>
              </a:rPr>
              <a:t>Scrum + AI retrospective</a:t>
            </a:r>
            <a:endParaRPr lang="en-US" sz="2100" dirty="0"/>
          </a:p>
        </p:txBody>
      </p:sp>
      <p:sp>
        <p:nvSpPr>
          <p:cNvPr id="10" name="Text 6"/>
          <p:cNvSpPr/>
          <p:nvPr/>
        </p:nvSpPr>
        <p:spPr>
          <a:xfrm>
            <a:off x="6916440" y="2326580"/>
            <a:ext cx="4335023" cy="817761"/>
          </a:xfrm>
          <a:prstGeom prst="rect">
            <a:avLst/>
          </a:prstGeom>
          <a:noFill/>
          <a:ln/>
        </p:spPr>
        <p:txBody>
          <a:bodyPr wrap="square" lIns="0" tIns="0" rIns="0" bIns="0" rtlCol="0" anchor="t">
            <a:normAutofit/>
          </a:bodyPr>
          <a:lstStyle/>
          <a:p>
            <a:pPr algn="l" indent="0" marL="0">
              <a:lnSpc>
                <a:spcPts val="2080"/>
              </a:lnSpc>
              <a:buNone/>
            </a:pPr>
            <a:r>
              <a:rPr lang="en-US" sz="1600" dirty="0">
                <a:solidFill>
                  <a:srgbClr val="F7F6F2"/>
                </a:solidFill>
                <a:latin typeface="Be Vietnam Pro" pitchFamily="34" charset="0"/>
                <a:ea typeface="Be Vietnam Pro" pitchFamily="34" charset="-122"/>
                <a:cs typeface="Be Vietnam Pro" pitchFamily="34" charset="-120"/>
              </a:rPr>
              <a:t>Sprints, burndown, velocity, and an AI-written retro from the sprint's own numbers.</a:t>
            </a:r>
            <a:endParaRPr lang="en-US" sz="1600" dirty="0"/>
          </a:p>
        </p:txBody>
      </p:sp>
      <p:sp>
        <p:nvSpPr>
          <p:cNvPr id="11" name="Shape 7"/>
          <p:cNvSpPr/>
          <p:nvPr/>
        </p:nvSpPr>
        <p:spPr>
          <a:xfrm>
            <a:off x="812800" y="3576141"/>
            <a:ext cx="5181600" cy="1752402"/>
          </a:xfrm>
          <a:prstGeom prst="roundRect">
            <a:avLst>
              <a:gd name="adj" fmla="val 8697"/>
            </a:avLst>
          </a:prstGeom>
          <a:solidFill>
            <a:srgbClr val="1E2F55"/>
          </a:solidFill>
          <a:ln/>
        </p:spPr>
      </p:sp>
      <p:pic>
        <p:nvPicPr>
          <p:cNvPr id="12" name="Image 2" descr="Cloud">    </p:cNvPr>
          <p:cNvPicPr>
            <a:picLocks noChangeAspect="1"/>
          </p:cNvPicPr>
          <p:nvPr/>
        </p:nvPicPr>
        <p:blipFill>
          <a:blip r:embed="rId3"/>
          <a:srcRect l="-123" r="-123" t="0" b="0"/>
          <a:stretch/>
        </p:blipFill>
        <p:spPr>
          <a:xfrm>
            <a:off x="1066800" y="3830141"/>
            <a:ext cx="241895" cy="508000"/>
          </a:xfrm>
          <a:prstGeom prst="rect">
            <a:avLst/>
          </a:prstGeom>
        </p:spPr>
      </p:pic>
      <p:sp>
        <p:nvSpPr>
          <p:cNvPr id="13" name="Text 8"/>
          <p:cNvSpPr/>
          <p:nvPr/>
        </p:nvSpPr>
        <p:spPr>
          <a:xfrm>
            <a:off x="1511895" y="3830141"/>
            <a:ext cx="4355360" cy="345380"/>
          </a:xfrm>
          <a:prstGeom prst="rect">
            <a:avLst/>
          </a:prstGeom>
          <a:noFill/>
          <a:ln/>
        </p:spPr>
        <p:txBody>
          <a:bodyPr wrap="square" lIns="0" tIns="0" rIns="0" bIns="0" rtlCol="0" anchor="t">
            <a:normAutofit/>
          </a:bodyPr>
          <a:lstStyle/>
          <a:p>
            <a:pPr algn="l" indent="0" marL="0">
              <a:lnSpc>
                <a:spcPts val="2520"/>
              </a:lnSpc>
              <a:buNone/>
            </a:pPr>
            <a:r>
              <a:rPr lang="en-US" sz="2100" b="1" dirty="0">
                <a:solidFill>
                  <a:srgbClr val="F2A541"/>
                </a:solidFill>
                <a:latin typeface="Be Vietnam Pro" pitchFamily="34" charset="0"/>
                <a:ea typeface="Be Vietnam Pro" pitchFamily="34" charset="-122"/>
                <a:cs typeface="Be Vietnam Pro" pitchFamily="34" charset="-120"/>
              </a:rPr>
              <a:t>Offline with a safety rule</a:t>
            </a:r>
            <a:endParaRPr lang="en-US" sz="2100" dirty="0"/>
          </a:p>
        </p:txBody>
      </p:sp>
      <p:sp>
        <p:nvSpPr>
          <p:cNvPr id="14" name="Text 9"/>
          <p:cNvSpPr/>
          <p:nvPr/>
        </p:nvSpPr>
        <p:spPr>
          <a:xfrm>
            <a:off x="1511895" y="4226322"/>
            <a:ext cx="4355360" cy="817761"/>
          </a:xfrm>
          <a:prstGeom prst="rect">
            <a:avLst/>
          </a:prstGeom>
          <a:noFill/>
          <a:ln/>
        </p:spPr>
        <p:txBody>
          <a:bodyPr wrap="square" lIns="0" tIns="0" rIns="0" bIns="0" rtlCol="0" anchor="t">
            <a:normAutofit/>
          </a:bodyPr>
          <a:lstStyle/>
          <a:p>
            <a:pPr algn="l" indent="0" marL="0">
              <a:lnSpc>
                <a:spcPts val="2080"/>
              </a:lnSpc>
              <a:buNone/>
            </a:pPr>
            <a:r>
              <a:rPr lang="en-US" sz="1600" dirty="0">
                <a:solidFill>
                  <a:srgbClr val="F7F6F2"/>
                </a:solidFill>
                <a:latin typeface="Be Vietnam Pro" pitchFamily="34" charset="0"/>
                <a:ea typeface="Be Vietnam Pro" pitchFamily="34" charset="-122"/>
                <a:cs typeface="Be Vietnam Pro" pitchFamily="34" charset="-120"/>
              </a:rPr>
              <a:t>Personal projects editable offline; team projects read-only, so nobody overwrites anyone.</a:t>
            </a:r>
            <a:endParaRPr lang="en-US" sz="1600" dirty="0"/>
          </a:p>
        </p:txBody>
      </p:sp>
      <p:sp>
        <p:nvSpPr>
          <p:cNvPr id="15" name="Shape 10"/>
          <p:cNvSpPr/>
          <p:nvPr/>
        </p:nvSpPr>
        <p:spPr>
          <a:xfrm>
            <a:off x="6197600" y="3576141"/>
            <a:ext cx="5181600" cy="1752402"/>
          </a:xfrm>
          <a:prstGeom prst="roundRect">
            <a:avLst>
              <a:gd name="adj" fmla="val 8697"/>
            </a:avLst>
          </a:prstGeom>
          <a:solidFill>
            <a:srgbClr val="1E2F55"/>
          </a:solidFill>
          <a:ln/>
        </p:spPr>
      </p:sp>
      <p:sp>
        <p:nvSpPr>
          <p:cNvPr id="16" name="Text 11"/>
          <p:cNvSpPr/>
          <p:nvPr/>
        </p:nvSpPr>
        <p:spPr>
          <a:xfrm>
            <a:off x="6451600" y="3830141"/>
            <a:ext cx="667544"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2A541"/>
                </a:solidFill>
                <a:latin typeface="Arial" pitchFamily="34" charset="0"/>
                <a:ea typeface="Arial" pitchFamily="34" charset="-122"/>
                <a:cs typeface="Arial" pitchFamily="34" charset="-120"/>
              </a:rPr>
              <a:t>[icon: Shield]</a:t>
            </a:r>
            <a:endParaRPr lang="en-US" sz="1600" dirty="0"/>
          </a:p>
        </p:txBody>
      </p:sp>
      <p:sp>
        <p:nvSpPr>
          <p:cNvPr id="17" name="Text 12"/>
          <p:cNvSpPr/>
          <p:nvPr/>
        </p:nvSpPr>
        <p:spPr>
          <a:xfrm>
            <a:off x="7271544" y="3830141"/>
            <a:ext cx="3969266" cy="665361"/>
          </a:xfrm>
          <a:prstGeom prst="rect">
            <a:avLst/>
          </a:prstGeom>
          <a:noFill/>
          <a:ln/>
        </p:spPr>
        <p:txBody>
          <a:bodyPr wrap="square" lIns="0" tIns="0" rIns="0" bIns="0" rtlCol="0" anchor="t">
            <a:normAutofit/>
          </a:bodyPr>
          <a:lstStyle/>
          <a:p>
            <a:pPr algn="l" indent="0" marL="0">
              <a:lnSpc>
                <a:spcPts val="2520"/>
              </a:lnSpc>
              <a:buNone/>
            </a:pPr>
            <a:r>
              <a:rPr lang="en-US" sz="2100" b="1" dirty="0">
                <a:solidFill>
                  <a:srgbClr val="F2A541"/>
                </a:solidFill>
                <a:latin typeface="Be Vietnam Pro" pitchFamily="34" charset="0"/>
                <a:ea typeface="Be Vietnam Pro" pitchFamily="34" charset="-122"/>
                <a:cs typeface="Be Vietnam Pro" pitchFamily="34" charset="-120"/>
              </a:rPr>
              <a:t>Guardrailed AI agent factory</a:t>
            </a:r>
            <a:endParaRPr lang="en-US" sz="2100" dirty="0"/>
          </a:p>
        </p:txBody>
      </p:sp>
      <p:sp>
        <p:nvSpPr>
          <p:cNvPr id="18" name="Text 13"/>
          <p:cNvSpPr/>
          <p:nvPr/>
        </p:nvSpPr>
        <p:spPr>
          <a:xfrm>
            <a:off x="7271544" y="4546302"/>
            <a:ext cx="3969266" cy="553641"/>
          </a:xfrm>
          <a:prstGeom prst="rect">
            <a:avLst/>
          </a:prstGeom>
          <a:noFill/>
          <a:ln/>
        </p:spPr>
        <p:txBody>
          <a:bodyPr wrap="square" lIns="0" tIns="0" rIns="0" bIns="0" rtlCol="0" anchor="t">
            <a:normAutofit/>
          </a:bodyPr>
          <a:lstStyle/>
          <a:p>
            <a:pPr algn="l" indent="0" marL="0">
              <a:lnSpc>
                <a:spcPts val="2080"/>
              </a:lnSpc>
              <a:buNone/>
            </a:pPr>
            <a:r>
              <a:rPr lang="en-US" sz="1600" dirty="0">
                <a:solidFill>
                  <a:srgbClr val="F7F6F2"/>
                </a:solidFill>
                <a:latin typeface="Be Vietnam Pro" pitchFamily="34" charset="0"/>
                <a:ea typeface="Be Vietnam Pro" pitchFamily="34" charset="-122"/>
                <a:cs typeface="Be Vietnam Pro" pitchFamily="34" charset="-120"/>
              </a:rPr>
              <a:t>Six agent stations build the code; rules are enforced by hooks, not advice.</a:t>
            </a:r>
            <a:endParaRPr lang="en-US" sz="1600" dirty="0"/>
          </a:p>
        </p:txBody>
      </p:sp>
      <p:sp>
        <p:nvSpPr>
          <p:cNvPr id="19" name="Text 14"/>
          <p:cNvSpPr/>
          <p:nvPr/>
        </p:nvSpPr>
        <p:spPr>
          <a:xfrm>
            <a:off x="812800" y="6202759"/>
            <a:ext cx="58424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9FB0CF"/>
                </a:solidFill>
                <a:latin typeface="Be Vietnam Pro" pitchFamily="34" charset="0"/>
                <a:ea typeface="Be Vietnam Pro" pitchFamily="34" charset="-122"/>
                <a:cs typeface="Be Vietnam Pro" pitchFamily="34" charset="-120"/>
              </a:rPr>
              <a:t>6 / 14</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14213D"/>
                </a:solidFill>
                <a:latin typeface="Be Vietnam Pro" pitchFamily="34" charset="0"/>
                <a:ea typeface="Be Vietnam Pro" pitchFamily="34" charset="-122"/>
                <a:cs typeface="Be Vietnam Pro" pitchFamily="34" charset="-120"/>
              </a:rPr>
              <a:t>The board: see every task at a glance</a:t>
            </a:r>
            <a:endParaRPr lang="en-US" sz="4000" dirty="0"/>
          </a:p>
        </p:txBody>
      </p:sp>
      <p:sp>
        <p:nvSpPr>
          <p:cNvPr id="3" name="Shape 1"/>
          <p:cNvSpPr/>
          <p:nvPr/>
        </p:nvSpPr>
        <p:spPr>
          <a:xfrm>
            <a:off x="812800" y="1676400"/>
            <a:ext cx="6350000" cy="3797300"/>
          </a:xfrm>
          <a:prstGeom prst="roundRect">
            <a:avLst>
              <a:gd name="adj" fmla="val 2676"/>
            </a:avLst>
          </a:prstGeom>
          <a:solidFill>
            <a:srgbClr val="FFFFFF"/>
          </a:solidFill>
          <a:ln/>
        </p:spPr>
      </p:sp>
      <p:pic>
        <p:nvPicPr>
          <p:cNvPr id="4" name="Image 0" descr="Kanban board with four columns: To Do, In Progress, Blocked, Done">    </p:cNvPr>
          <p:cNvPicPr>
            <a:picLocks noChangeAspect="1"/>
          </p:cNvPicPr>
          <p:nvPr/>
        </p:nvPicPr>
        <p:blipFill>
          <a:blip r:embed="rId1"/>
          <a:srcRect l="-93" r="-93" t="0" b="0"/>
          <a:stretch/>
        </p:blipFill>
        <p:spPr>
          <a:xfrm>
            <a:off x="825500" y="1689100"/>
            <a:ext cx="6324600" cy="3771900"/>
          </a:xfrm>
          <a:prstGeom prst="roundRect">
            <a:avLst>
              <a:gd name="adj" fmla="val 2357"/>
            </a:avLst>
          </a:prstGeom>
        </p:spPr>
      </p:pic>
      <p:sp>
        <p:nvSpPr>
          <p:cNvPr id="5" name="Shape 2"/>
          <p:cNvSpPr/>
          <p:nvPr/>
        </p:nvSpPr>
        <p:spPr>
          <a:xfrm>
            <a:off x="819150" y="1682750"/>
            <a:ext cx="6337300" cy="3784600"/>
          </a:xfrm>
          <a:prstGeom prst="roundRect">
            <a:avLst>
              <a:gd name="adj" fmla="val 2517"/>
            </a:avLst>
          </a:prstGeom>
          <a:noFill/>
          <a:ln w="12700">
            <a:solidFill>
              <a:srgbClr val="E4DED3"/>
            </a:solidFill>
            <a:prstDash val="solid"/>
          </a:ln>
        </p:spPr>
      </p:sp>
      <p:sp>
        <p:nvSpPr>
          <p:cNvPr id="6" name="Text 3"/>
          <p:cNvSpPr/>
          <p:nvPr/>
        </p:nvSpPr>
        <p:spPr>
          <a:xfrm>
            <a:off x="7518400" y="2025650"/>
            <a:ext cx="3976624" cy="1016000"/>
          </a:xfrm>
          <a:prstGeom prst="rect">
            <a:avLst/>
          </a:prstGeom>
          <a:noFill/>
          <a:ln/>
        </p:spPr>
        <p:txBody>
          <a:bodyPr wrap="square" lIns="0" tIns="0" rIns="0" bIns="0" rtlCol="0" anchor="t">
            <a:normAutofit/>
          </a:bodyPr>
          <a:lstStyle/>
          <a:p>
            <a:pPr algn="l" indent="0" marL="0">
              <a:lnSpc>
                <a:spcPts val="2600"/>
              </a:lnSpc>
              <a:buNone/>
            </a:pPr>
            <a:r>
              <a:rPr lang="en-US" sz="2000" b="1" dirty="0">
                <a:solidFill>
                  <a:srgbClr val="14213D"/>
                </a:solidFill>
                <a:latin typeface="Be Vietnam Pro" pitchFamily="34" charset="0"/>
                <a:ea typeface="Be Vietnam Pro" pitchFamily="34" charset="-122"/>
                <a:cs typeface="Be Vietnam Pro" pitchFamily="34" charset="-120"/>
              </a:rPr>
              <a:t>4 columns</a:t>
            </a:r>
            <a:endParaRPr lang="en-US" sz="2000" dirty="0"/>
          </a:p>
          <a:p>
            <a:pPr algn="l" indent="0" marL="0">
              <a:lnSpc>
                <a:spcPts val="2600"/>
              </a:lnSpc>
              <a:buNone/>
            </a:pPr>
            <a:r>
              <a:rPr lang="en-US" sz="2000" dirty="0">
                <a:solidFill>
                  <a:srgbClr val="3D4657"/>
                </a:solidFill>
                <a:latin typeface="Be Vietnam Pro" pitchFamily="34" charset="0"/>
                <a:ea typeface="Be Vietnam Pro" pitchFamily="34" charset="-122"/>
                <a:cs typeface="Be Vietnam Pro" pitchFamily="34" charset="-120"/>
              </a:rPr>
              <a:t>To Do → In Progress → Blocked → Done</a:t>
            </a:r>
            <a:endParaRPr lang="en-US" sz="2000" dirty="0"/>
          </a:p>
        </p:txBody>
      </p:sp>
      <p:sp>
        <p:nvSpPr>
          <p:cNvPr id="7" name="Text 4"/>
          <p:cNvSpPr/>
          <p:nvPr/>
        </p:nvSpPr>
        <p:spPr>
          <a:xfrm>
            <a:off x="7518400" y="3244850"/>
            <a:ext cx="3976624" cy="685800"/>
          </a:xfrm>
          <a:prstGeom prst="rect">
            <a:avLst/>
          </a:prstGeom>
          <a:noFill/>
          <a:ln/>
        </p:spPr>
        <p:txBody>
          <a:bodyPr wrap="square" lIns="0" tIns="0" rIns="0" bIns="0" rtlCol="0" anchor="t">
            <a:normAutofit/>
          </a:bodyPr>
          <a:lstStyle/>
          <a:p>
            <a:pPr algn="l" indent="0" marL="0">
              <a:lnSpc>
                <a:spcPts val="2600"/>
              </a:lnSpc>
              <a:buNone/>
            </a:pPr>
            <a:r>
              <a:rPr lang="en-US" sz="2000" b="1" dirty="0">
                <a:solidFill>
                  <a:srgbClr val="14213D"/>
                </a:solidFill>
                <a:latin typeface="Be Vietnam Pro" pitchFamily="34" charset="0"/>
                <a:ea typeface="Be Vietnam Pro" pitchFamily="34" charset="-122"/>
                <a:cs typeface="Be Vietnam Pro" pitchFamily="34" charset="-120"/>
              </a:rPr>
              <a:t>Deadline first</a:t>
            </a:r>
            <a:endParaRPr lang="en-US" sz="2000" dirty="0"/>
          </a:p>
          <a:p>
            <a:pPr algn="l" indent="0" marL="0">
              <a:lnSpc>
                <a:spcPts val="2600"/>
              </a:lnSpc>
              <a:buNone/>
            </a:pPr>
            <a:r>
              <a:rPr lang="en-US" sz="2000" dirty="0">
                <a:solidFill>
                  <a:srgbClr val="3D4657"/>
                </a:solidFill>
                <a:latin typeface="Be Vietnam Pro" pitchFamily="34" charset="0"/>
                <a:ea typeface="Be Vietnam Pro" pitchFamily="34" charset="-122"/>
                <a:cs typeface="Be Vietnam Pro" pitchFamily="34" charset="-120"/>
              </a:rPr>
              <a:t>late work rises to the top</a:t>
            </a:r>
            <a:endParaRPr lang="en-US" sz="2000" dirty="0"/>
          </a:p>
        </p:txBody>
      </p:sp>
      <p:sp>
        <p:nvSpPr>
          <p:cNvPr id="8" name="Text 5"/>
          <p:cNvSpPr/>
          <p:nvPr/>
        </p:nvSpPr>
        <p:spPr>
          <a:xfrm>
            <a:off x="7518400" y="4133850"/>
            <a:ext cx="3976624" cy="1016000"/>
          </a:xfrm>
          <a:prstGeom prst="rect">
            <a:avLst/>
          </a:prstGeom>
          <a:noFill/>
          <a:ln/>
        </p:spPr>
        <p:txBody>
          <a:bodyPr wrap="square" lIns="0" tIns="0" rIns="0" bIns="0" rtlCol="0" anchor="t">
            <a:normAutofit/>
          </a:bodyPr>
          <a:lstStyle/>
          <a:p>
            <a:pPr algn="l" indent="0" marL="0">
              <a:lnSpc>
                <a:spcPts val="2600"/>
              </a:lnSpc>
              <a:buNone/>
            </a:pPr>
            <a:r>
              <a:rPr lang="en-US" sz="2000" b="1" dirty="0">
                <a:solidFill>
                  <a:srgbClr val="14213D"/>
                </a:solidFill>
                <a:latin typeface="Be Vietnam Pro" pitchFamily="34" charset="0"/>
                <a:ea typeface="Be Vietnam Pro" pitchFamily="34" charset="-122"/>
                <a:cs typeface="Be Vietnam Pro" pitchFamily="34" charset="-120"/>
              </a:rPr>
              <a:t>Keys, no mouse</a:t>
            </a:r>
            <a:endParaRPr lang="en-US" sz="2000" dirty="0"/>
          </a:p>
          <a:p>
            <a:pPr algn="l" indent="0" marL="0">
              <a:lnSpc>
                <a:spcPts val="2600"/>
              </a:lnSpc>
              <a:buNone/>
            </a:pPr>
            <a:r>
              <a:rPr lang="en-US" sz="2000" dirty="0">
                <a:solidFill>
                  <a:srgbClr val="3D4657"/>
                </a:solidFill>
                <a:latin typeface="Be Vietnam Pro" pitchFamily="34" charset="0"/>
                <a:ea typeface="Be Vietnam Pro" pitchFamily="34" charset="-122"/>
                <a:cs typeface="Be Vietnam Pro" pitchFamily="34" charset="-120"/>
              </a:rPr>
              <a:t>h j k l move · Space changes status</a:t>
            </a:r>
            <a:endParaRPr lang="en-US" sz="2000" dirty="0"/>
          </a:p>
        </p:txBody>
      </p:sp>
      <p:sp>
        <p:nvSpPr>
          <p:cNvPr id="9" name="Text 6"/>
          <p:cNvSpPr/>
          <p:nvPr/>
        </p:nvSpPr>
        <p:spPr>
          <a:xfrm>
            <a:off x="812800" y="6202759"/>
            <a:ext cx="4833699"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6A7179"/>
                </a:solidFill>
                <a:latin typeface="Be Vietnam Pro" pitchFamily="34" charset="0"/>
                <a:ea typeface="Be Vietnam Pro" pitchFamily="34" charset="-122"/>
                <a:cs typeface="Be Vietnam Pro" pitchFamily="34" charset="-120"/>
              </a:rPr>
              <a:t>7 / 14 · A flame marks tasks on the critical path</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54335"/>
          </a:xfrm>
          <a:prstGeom prst="rect">
            <a:avLst/>
          </a:prstGeom>
          <a:noFill/>
          <a:ln/>
        </p:spPr>
        <p:txBody>
          <a:bodyPr wrap="square" lIns="0" tIns="0" rIns="0" bIns="0" rtlCol="0" anchor="t">
            <a:normAutofit/>
          </a:bodyPr>
          <a:lstStyle/>
          <a:p>
            <a:pPr algn="l" indent="0" marL="0">
              <a:lnSpc>
                <a:spcPts val="4166"/>
              </a:lnSpc>
              <a:buNone/>
            </a:pPr>
            <a:r>
              <a:rPr lang="en-US" sz="3788" b="1" i="0" dirty="0">
                <a:solidFill>
                  <a:srgbClr val="14213D"/>
                </a:solidFill>
                <a:latin typeface="Be Vietnam Pro" pitchFamily="34" charset="0"/>
                <a:ea typeface="Be Vietnam Pro" pitchFamily="34" charset="-122"/>
                <a:cs typeface="Be Vietnam Pro" pitchFamily="34" charset="-120"/>
              </a:rPr>
              <a:t>Scrum: work in short sprints</a:t>
            </a:r>
            <a:endParaRPr lang="en-US" sz="3788" dirty="0"/>
          </a:p>
        </p:txBody>
      </p:sp>
      <p:sp>
        <p:nvSpPr>
          <p:cNvPr id="3" name="Shape 1"/>
          <p:cNvSpPr/>
          <p:nvPr/>
        </p:nvSpPr>
        <p:spPr>
          <a:xfrm>
            <a:off x="812800" y="1658243"/>
            <a:ext cx="2667000" cy="1462881"/>
          </a:xfrm>
          <a:prstGeom prst="roundRect">
            <a:avLst>
              <a:gd name="adj" fmla="val 10418"/>
            </a:avLst>
          </a:prstGeom>
          <a:solidFill>
            <a:srgbClr val="E7ECF7"/>
          </a:solidFill>
          <a:ln/>
        </p:spPr>
      </p:sp>
      <p:sp>
        <p:nvSpPr>
          <p:cNvPr id="4" name="Text 2"/>
          <p:cNvSpPr/>
          <p:nvPr/>
        </p:nvSpPr>
        <p:spPr>
          <a:xfrm>
            <a:off x="1092200" y="1886843"/>
            <a:ext cx="2171446" cy="375841"/>
          </a:xfrm>
          <a:prstGeom prst="rect">
            <a:avLst/>
          </a:prstGeom>
          <a:noFill/>
          <a:ln/>
        </p:spPr>
        <p:txBody>
          <a:bodyPr wrap="square" lIns="0" tIns="0" rIns="0" bIns="0" rtlCol="0" anchor="t">
            <a:normAutofit/>
          </a:bodyPr>
          <a:lstStyle/>
          <a:p>
            <a:pPr algn="l" indent="0" marL="0">
              <a:lnSpc>
                <a:spcPts val="2760"/>
              </a:lnSpc>
              <a:buNone/>
            </a:pPr>
            <a:r>
              <a:rPr lang="en-US" sz="2300" b="1" dirty="0">
                <a:solidFill>
                  <a:srgbClr val="1D4ED8"/>
                </a:solidFill>
                <a:latin typeface="Be Vietnam Pro" pitchFamily="34" charset="0"/>
                <a:ea typeface="Be Vietnam Pro" pitchFamily="34" charset="-122"/>
                <a:cs typeface="Be Vietnam Pro" pitchFamily="34" charset="-120"/>
              </a:rPr>
              <a:t>Planned</a:t>
            </a:r>
            <a:endParaRPr lang="en-US" sz="2300" dirty="0"/>
          </a:p>
        </p:txBody>
      </p:sp>
      <p:sp>
        <p:nvSpPr>
          <p:cNvPr id="5" name="Text 3"/>
          <p:cNvSpPr/>
          <p:nvPr/>
        </p:nvSpPr>
        <p:spPr>
          <a:xfrm>
            <a:off x="1092200" y="2288084"/>
            <a:ext cx="2171446" cy="629841"/>
          </a:xfrm>
          <a:prstGeom prst="rect">
            <a:avLst/>
          </a:prstGeom>
          <a:noFill/>
          <a:ln/>
        </p:spPr>
        <p:txBody>
          <a:bodyPr wrap="square" lIns="0" tIns="0" rIns="0" bIns="0" rtlCol="0" anchor="t">
            <a:normAutofit/>
          </a:bodyPr>
          <a:lstStyle/>
          <a:p>
            <a:pPr algn="l" indent="0" marL="0">
              <a:lnSpc>
                <a:spcPts val="2380"/>
              </a:lnSpc>
              <a:buNone/>
            </a:pPr>
            <a:r>
              <a:rPr lang="en-US" sz="1700" dirty="0">
                <a:solidFill>
                  <a:srgbClr val="3D4657"/>
                </a:solidFill>
                <a:latin typeface="Be Vietnam Pro" pitchFamily="34" charset="0"/>
                <a:ea typeface="Be Vietnam Pro" pitchFamily="34" charset="-122"/>
                <a:cs typeface="Be Vietnam Pro" pitchFamily="34" charset="-120"/>
              </a:rPr>
              <a:t>PM picks tasks from the backlog</a:t>
            </a:r>
            <a:endParaRPr lang="en-US" sz="1700" dirty="0"/>
          </a:p>
        </p:txBody>
      </p:sp>
      <p:pic>
        <p:nvPicPr>
          <p:cNvPr id="6" name="Image 0" descr="arrow-right">    </p:cNvPr>
          <p:cNvPicPr>
            <a:picLocks noChangeAspect="1"/>
          </p:cNvPicPr>
          <p:nvPr/>
        </p:nvPicPr>
        <p:blipFill>
          <a:blip r:embed="rId1"/>
          <a:srcRect l="0" r="0" t="0" b="0"/>
          <a:stretch/>
        </p:blipFill>
        <p:spPr>
          <a:xfrm>
            <a:off x="3632200" y="2211884"/>
            <a:ext cx="698500" cy="355600"/>
          </a:xfrm>
          <a:prstGeom prst="rect">
            <a:avLst/>
          </a:prstGeom>
        </p:spPr>
      </p:pic>
      <p:sp>
        <p:nvSpPr>
          <p:cNvPr id="7" name="Shape 4"/>
          <p:cNvSpPr/>
          <p:nvPr/>
        </p:nvSpPr>
        <p:spPr>
          <a:xfrm>
            <a:off x="4483100" y="1658243"/>
            <a:ext cx="2667000" cy="1462881"/>
          </a:xfrm>
          <a:prstGeom prst="roundRect">
            <a:avLst>
              <a:gd name="adj" fmla="val 10418"/>
            </a:avLst>
          </a:prstGeom>
          <a:solidFill>
            <a:srgbClr val="FCE9D6"/>
          </a:solidFill>
          <a:ln/>
        </p:spPr>
      </p:sp>
      <p:sp>
        <p:nvSpPr>
          <p:cNvPr id="8" name="Text 5"/>
          <p:cNvSpPr/>
          <p:nvPr/>
        </p:nvSpPr>
        <p:spPr>
          <a:xfrm>
            <a:off x="4762500" y="1886843"/>
            <a:ext cx="2171446" cy="375841"/>
          </a:xfrm>
          <a:prstGeom prst="rect">
            <a:avLst/>
          </a:prstGeom>
          <a:noFill/>
          <a:ln/>
        </p:spPr>
        <p:txBody>
          <a:bodyPr wrap="square" lIns="0" tIns="0" rIns="0" bIns="0" rtlCol="0" anchor="t">
            <a:normAutofit/>
          </a:bodyPr>
          <a:lstStyle/>
          <a:p>
            <a:pPr algn="l" indent="0" marL="0">
              <a:lnSpc>
                <a:spcPts val="2760"/>
              </a:lnSpc>
              <a:buNone/>
            </a:pPr>
            <a:r>
              <a:rPr lang="en-US" sz="2300" b="1" dirty="0">
                <a:solidFill>
                  <a:srgbClr val="C2410C"/>
                </a:solidFill>
                <a:latin typeface="Be Vietnam Pro" pitchFamily="34" charset="0"/>
                <a:ea typeface="Be Vietnam Pro" pitchFamily="34" charset="-122"/>
                <a:cs typeface="Be Vietnam Pro" pitchFamily="34" charset="-120"/>
              </a:rPr>
              <a:t>Active</a:t>
            </a:r>
            <a:endParaRPr lang="en-US" sz="2300" dirty="0"/>
          </a:p>
        </p:txBody>
      </p:sp>
      <p:sp>
        <p:nvSpPr>
          <p:cNvPr id="9" name="Text 6"/>
          <p:cNvSpPr/>
          <p:nvPr/>
        </p:nvSpPr>
        <p:spPr>
          <a:xfrm>
            <a:off x="4762500" y="2288084"/>
            <a:ext cx="2171446" cy="629841"/>
          </a:xfrm>
          <a:prstGeom prst="rect">
            <a:avLst/>
          </a:prstGeom>
          <a:noFill/>
          <a:ln/>
        </p:spPr>
        <p:txBody>
          <a:bodyPr wrap="square" lIns="0" tIns="0" rIns="0" bIns="0" rtlCol="0" anchor="t">
            <a:normAutofit/>
          </a:bodyPr>
          <a:lstStyle/>
          <a:p>
            <a:pPr algn="l" indent="0" marL="0">
              <a:lnSpc>
                <a:spcPts val="2380"/>
              </a:lnSpc>
              <a:buNone/>
            </a:pPr>
            <a:r>
              <a:rPr lang="en-US" sz="1700" dirty="0">
                <a:solidFill>
                  <a:srgbClr val="3D4657"/>
                </a:solidFill>
                <a:latin typeface="Be Vietnam Pro" pitchFamily="34" charset="0"/>
                <a:ea typeface="Be Vietnam Pro" pitchFamily="34" charset="-122"/>
                <a:cs typeface="Be Vietnam Pro" pitchFamily="34" charset="-120"/>
              </a:rPr>
              <a:t>Team works; points are the promise</a:t>
            </a:r>
            <a:endParaRPr lang="en-US" sz="1700" dirty="0"/>
          </a:p>
        </p:txBody>
      </p:sp>
      <p:pic>
        <p:nvPicPr>
          <p:cNvPr id="10" name="Image 1" descr="arrow-right">    </p:cNvPr>
          <p:cNvPicPr>
            <a:picLocks noChangeAspect="1"/>
          </p:cNvPicPr>
          <p:nvPr/>
        </p:nvPicPr>
        <p:blipFill>
          <a:blip r:embed="rId2"/>
          <a:srcRect l="0" r="0" t="0" b="0"/>
          <a:stretch/>
        </p:blipFill>
        <p:spPr>
          <a:xfrm>
            <a:off x="7302500" y="2211884"/>
            <a:ext cx="698500" cy="355600"/>
          </a:xfrm>
          <a:prstGeom prst="rect">
            <a:avLst/>
          </a:prstGeom>
        </p:spPr>
      </p:pic>
      <p:sp>
        <p:nvSpPr>
          <p:cNvPr id="11" name="Shape 7"/>
          <p:cNvSpPr/>
          <p:nvPr/>
        </p:nvSpPr>
        <p:spPr>
          <a:xfrm>
            <a:off x="8153400" y="1658243"/>
            <a:ext cx="2667000" cy="1462881"/>
          </a:xfrm>
          <a:prstGeom prst="roundRect">
            <a:avLst>
              <a:gd name="adj" fmla="val 10418"/>
            </a:avLst>
          </a:prstGeom>
          <a:solidFill>
            <a:srgbClr val="DCEFE3"/>
          </a:solidFill>
          <a:ln/>
        </p:spPr>
      </p:sp>
      <p:sp>
        <p:nvSpPr>
          <p:cNvPr id="12" name="Text 8"/>
          <p:cNvSpPr/>
          <p:nvPr/>
        </p:nvSpPr>
        <p:spPr>
          <a:xfrm>
            <a:off x="8432800" y="1886843"/>
            <a:ext cx="2171446" cy="375841"/>
          </a:xfrm>
          <a:prstGeom prst="rect">
            <a:avLst/>
          </a:prstGeom>
          <a:noFill/>
          <a:ln/>
        </p:spPr>
        <p:txBody>
          <a:bodyPr wrap="square" lIns="0" tIns="0" rIns="0" bIns="0" rtlCol="0" anchor="t">
            <a:normAutofit/>
          </a:bodyPr>
          <a:lstStyle/>
          <a:p>
            <a:pPr algn="l" indent="0" marL="0">
              <a:lnSpc>
                <a:spcPts val="2760"/>
              </a:lnSpc>
              <a:buNone/>
            </a:pPr>
            <a:r>
              <a:rPr lang="en-US" sz="2300" b="1" dirty="0">
                <a:solidFill>
                  <a:srgbClr val="15803D"/>
                </a:solidFill>
                <a:latin typeface="Be Vietnam Pro" pitchFamily="34" charset="0"/>
                <a:ea typeface="Be Vietnam Pro" pitchFamily="34" charset="-122"/>
                <a:cs typeface="Be Vietnam Pro" pitchFamily="34" charset="-120"/>
              </a:rPr>
              <a:t>Completed</a:t>
            </a:r>
            <a:endParaRPr lang="en-US" sz="2300" dirty="0"/>
          </a:p>
        </p:txBody>
      </p:sp>
      <p:sp>
        <p:nvSpPr>
          <p:cNvPr id="13" name="Text 9"/>
          <p:cNvSpPr/>
          <p:nvPr/>
        </p:nvSpPr>
        <p:spPr>
          <a:xfrm>
            <a:off x="8432800" y="2288084"/>
            <a:ext cx="2171446" cy="629841"/>
          </a:xfrm>
          <a:prstGeom prst="rect">
            <a:avLst/>
          </a:prstGeom>
          <a:noFill/>
          <a:ln/>
        </p:spPr>
        <p:txBody>
          <a:bodyPr wrap="square" lIns="0" tIns="0" rIns="0" bIns="0" rtlCol="0" anchor="t">
            <a:normAutofit/>
          </a:bodyPr>
          <a:lstStyle/>
          <a:p>
            <a:pPr algn="l" indent="0" marL="0">
              <a:lnSpc>
                <a:spcPts val="2380"/>
              </a:lnSpc>
              <a:buNone/>
            </a:pPr>
            <a:r>
              <a:rPr lang="en-US" sz="1700" dirty="0">
                <a:solidFill>
                  <a:srgbClr val="3D4657"/>
                </a:solidFill>
                <a:latin typeface="Be Vietnam Pro" pitchFamily="34" charset="0"/>
                <a:ea typeface="Be Vietnam Pro" pitchFamily="34" charset="-122"/>
                <a:cs typeface="Be Vietnam Pro" pitchFamily="34" charset="-120"/>
              </a:rPr>
              <a:t>Unfinished work moves on</a:t>
            </a:r>
            <a:endParaRPr lang="en-US" sz="1700" dirty="0"/>
          </a:p>
        </p:txBody>
      </p:sp>
      <p:sp>
        <p:nvSpPr>
          <p:cNvPr id="14" name="Shape 10"/>
          <p:cNvSpPr/>
          <p:nvPr/>
        </p:nvSpPr>
        <p:spPr>
          <a:xfrm>
            <a:off x="812800" y="3369766"/>
            <a:ext cx="4826000" cy="2540000"/>
          </a:xfrm>
          <a:prstGeom prst="roundRect">
            <a:avLst>
              <a:gd name="adj" fmla="val 4000"/>
            </a:avLst>
          </a:prstGeom>
          <a:solidFill>
            <a:srgbClr val="FFFFFF"/>
          </a:solidFill>
          <a:ln/>
        </p:spPr>
      </p:sp>
      <p:pic>
        <p:nvPicPr>
          <p:cNvPr id="15" name="Image 2" descr="Scrum panel listing completed, active and planned sprints">    </p:cNvPr>
          <p:cNvPicPr>
            <a:picLocks noChangeAspect="1"/>
          </p:cNvPicPr>
          <p:nvPr/>
        </p:nvPicPr>
        <p:blipFill>
          <a:blip r:embed="rId3"/>
          <a:stretch>
            <a:fillRect/>
          </a:stretch>
        </p:blipFill>
        <p:spPr>
          <a:xfrm>
            <a:off x="1121532" y="3382466"/>
            <a:ext cx="4208536" cy="2514600"/>
          </a:xfrm>
          <a:prstGeom prst="rect">
            <a:avLst/>
          </a:prstGeom>
        </p:spPr>
      </p:pic>
      <p:sp>
        <p:nvSpPr>
          <p:cNvPr id="16" name="Shape 11"/>
          <p:cNvSpPr/>
          <p:nvPr/>
        </p:nvSpPr>
        <p:spPr>
          <a:xfrm>
            <a:off x="819150" y="3376116"/>
            <a:ext cx="4813300" cy="2527300"/>
          </a:xfrm>
          <a:prstGeom prst="roundRect">
            <a:avLst>
              <a:gd name="adj" fmla="val 3769"/>
            </a:avLst>
          </a:prstGeom>
          <a:noFill/>
          <a:ln w="12700">
            <a:solidFill>
              <a:srgbClr val="E4DED3"/>
            </a:solidFill>
            <a:prstDash val="solid"/>
          </a:ln>
        </p:spPr>
      </p:sp>
      <p:sp>
        <p:nvSpPr>
          <p:cNvPr id="17" name="Text 12"/>
          <p:cNvSpPr/>
          <p:nvPr/>
        </p:nvSpPr>
        <p:spPr>
          <a:xfrm>
            <a:off x="5892800" y="4296866"/>
            <a:ext cx="5650992" cy="7112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3D4657"/>
                </a:solidFill>
                <a:latin typeface="Be Vietnam Pro" pitchFamily="34" charset="0"/>
                <a:ea typeface="Be Vietnam Pro" pitchFamily="34" charset="-122"/>
                <a:cs typeface="Be Vietnam Pro" pitchFamily="34" charset="-120"/>
              </a:rPr>
              <a:t>Only one sprint runs at a time. Only the </a:t>
            </a:r>
            <a:r>
              <a:rPr lang="en-US" sz="2000" b="1" dirty="0">
                <a:solidFill>
                  <a:srgbClr val="14213D"/>
                </a:solidFill>
                <a:latin typeface="Be Vietnam Pro" pitchFamily="34" charset="0"/>
                <a:ea typeface="Be Vietnam Pro" pitchFamily="34" charset="-122"/>
                <a:cs typeface="Be Vietnam Pro" pitchFamily="34" charset="-120"/>
              </a:rPr>
              <a:t>PM</a:t>
            </a:r>
            <a:r>
              <a:rPr lang="en-US" sz="2000" dirty="0">
                <a:solidFill>
                  <a:srgbClr val="3D4657"/>
                </a:solidFill>
                <a:latin typeface="Be Vietnam Pro" pitchFamily="34" charset="0"/>
                <a:ea typeface="Be Vietnam Pro" pitchFamily="34" charset="-122"/>
                <a:cs typeface="Be Vietnam Pro" pitchFamily="34" charset="-120"/>
              </a:rPr>
              <a:t> can start or finish it.</a:t>
            </a:r>
            <a:endParaRPr lang="en-US" sz="2000" dirty="0"/>
          </a:p>
        </p:txBody>
      </p:sp>
      <p:sp>
        <p:nvSpPr>
          <p:cNvPr id="18" name="Text 13"/>
          <p:cNvSpPr/>
          <p:nvPr/>
        </p:nvSpPr>
        <p:spPr>
          <a:xfrm>
            <a:off x="812800" y="6202759"/>
            <a:ext cx="3665339"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6A7179"/>
                </a:solidFill>
                <a:latin typeface="Be Vietnam Pro" pitchFamily="34" charset="0"/>
                <a:ea typeface="Be Vietnam Pro" pitchFamily="34" charset="-122"/>
                <a:cs typeface="Be Vietnam Pro" pitchFamily="34" charset="-120"/>
              </a:rPr>
              <a:t>8 / 14 · Suggested by our supervisor</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14213D"/>
                </a:solidFill>
                <a:latin typeface="Be Vietnam Pro" pitchFamily="34" charset="0"/>
                <a:ea typeface="Be Vietnam Pro" pitchFamily="34" charset="-122"/>
                <a:cs typeface="Be Vietnam Pro" pitchFamily="34" charset="-120"/>
              </a:rPr>
              <a:t>Sprint charts show if we are on track</a:t>
            </a:r>
            <a:endParaRPr lang="en-US" sz="4000" dirty="0"/>
          </a:p>
        </p:txBody>
      </p:sp>
      <p:sp>
        <p:nvSpPr>
          <p:cNvPr id="3" name="Shape 1"/>
          <p:cNvSpPr/>
          <p:nvPr/>
        </p:nvSpPr>
        <p:spPr>
          <a:xfrm>
            <a:off x="812800" y="1651000"/>
            <a:ext cx="3352800" cy="2032000"/>
          </a:xfrm>
          <a:prstGeom prst="roundRect">
            <a:avLst>
              <a:gd name="adj" fmla="val 5000"/>
            </a:avLst>
          </a:prstGeom>
          <a:solidFill>
            <a:srgbClr val="FFFFFF"/>
          </a:solidFill>
          <a:ln/>
        </p:spPr>
      </p:sp>
      <p:pic>
        <p:nvPicPr>
          <p:cNvPr id="4" name="Image 0" descr="Burndown chart: remaining points against the ideal line">    </p:cNvPr>
          <p:cNvPicPr>
            <a:picLocks noChangeAspect="1"/>
          </p:cNvPicPr>
          <p:nvPr/>
        </p:nvPicPr>
        <p:blipFill>
          <a:blip r:embed="rId1"/>
          <a:srcRect l="0" r="0" t="-465" b="-465"/>
          <a:stretch/>
        </p:blipFill>
        <p:spPr>
          <a:xfrm>
            <a:off x="825500" y="1663700"/>
            <a:ext cx="3327400" cy="2006600"/>
          </a:xfrm>
          <a:prstGeom prst="roundRect">
            <a:avLst>
              <a:gd name="adj" fmla="val 4430"/>
            </a:avLst>
          </a:prstGeom>
        </p:spPr>
      </p:pic>
      <p:sp>
        <p:nvSpPr>
          <p:cNvPr id="5" name="Shape 2"/>
          <p:cNvSpPr/>
          <p:nvPr/>
        </p:nvSpPr>
        <p:spPr>
          <a:xfrm>
            <a:off x="819150" y="1657350"/>
            <a:ext cx="3340100" cy="2019300"/>
          </a:xfrm>
          <a:prstGeom prst="roundRect">
            <a:avLst>
              <a:gd name="adj" fmla="val 4717"/>
            </a:avLst>
          </a:prstGeom>
          <a:noFill/>
          <a:ln w="12700">
            <a:solidFill>
              <a:srgbClr val="E4DED3"/>
            </a:solidFill>
            <a:prstDash val="solid"/>
          </a:ln>
        </p:spPr>
      </p:sp>
      <p:sp>
        <p:nvSpPr>
          <p:cNvPr id="6" name="Text 3"/>
          <p:cNvSpPr/>
          <p:nvPr/>
        </p:nvSpPr>
        <p:spPr>
          <a:xfrm>
            <a:off x="812800" y="3810000"/>
            <a:ext cx="3470757"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Be Vietnam Pro" pitchFamily="34" charset="0"/>
                <a:ea typeface="Be Vietnam Pro" pitchFamily="34" charset="-122"/>
                <a:cs typeface="Be Vietnam Pro" pitchFamily="34" charset="-120"/>
              </a:rPr>
              <a:t>Burndown</a:t>
            </a:r>
            <a:endParaRPr lang="en-US" sz="2200" dirty="0"/>
          </a:p>
        </p:txBody>
      </p:sp>
      <p:sp>
        <p:nvSpPr>
          <p:cNvPr id="7" name="Text 4"/>
          <p:cNvSpPr/>
          <p:nvPr/>
        </p:nvSpPr>
        <p:spPr>
          <a:xfrm>
            <a:off x="812800" y="4272260"/>
            <a:ext cx="3470757" cy="619720"/>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3D4657"/>
                </a:solidFill>
                <a:latin typeface="Be Vietnam Pro" pitchFamily="34" charset="0"/>
                <a:ea typeface="Be Vietnam Pro" pitchFamily="34" charset="-122"/>
                <a:cs typeface="Be Vietnam Pro" pitchFamily="34" charset="-120"/>
              </a:rPr>
              <a:t>Work left each day vs. the ideal line</a:t>
            </a:r>
            <a:endParaRPr lang="en-US" sz="1800" dirty="0"/>
          </a:p>
        </p:txBody>
      </p:sp>
      <p:sp>
        <p:nvSpPr>
          <p:cNvPr id="8" name="Shape 5"/>
          <p:cNvSpPr/>
          <p:nvPr/>
        </p:nvSpPr>
        <p:spPr>
          <a:xfrm>
            <a:off x="4411067" y="1651000"/>
            <a:ext cx="3352800" cy="2032000"/>
          </a:xfrm>
          <a:prstGeom prst="roundRect">
            <a:avLst>
              <a:gd name="adj" fmla="val 5000"/>
            </a:avLst>
          </a:prstGeom>
          <a:solidFill>
            <a:srgbClr val="FFFFFF"/>
          </a:solidFill>
          <a:ln/>
        </p:spPr>
      </p:sp>
      <p:pic>
        <p:nvPicPr>
          <p:cNvPr id="9" name="Image 1" descr="Velocity bars: committed and completed points per sprint">    </p:cNvPr>
          <p:cNvPicPr>
            <a:picLocks noChangeAspect="1"/>
          </p:cNvPicPr>
          <p:nvPr/>
        </p:nvPicPr>
        <p:blipFill>
          <a:blip r:embed="rId2"/>
          <a:srcRect l="0" r="0" t="-465" b="-465"/>
          <a:stretch/>
        </p:blipFill>
        <p:spPr>
          <a:xfrm>
            <a:off x="4423767" y="1663700"/>
            <a:ext cx="3327400" cy="2006600"/>
          </a:xfrm>
          <a:prstGeom prst="roundRect">
            <a:avLst>
              <a:gd name="adj" fmla="val 4430"/>
            </a:avLst>
          </a:prstGeom>
        </p:spPr>
      </p:pic>
      <p:sp>
        <p:nvSpPr>
          <p:cNvPr id="10" name="Shape 6"/>
          <p:cNvSpPr/>
          <p:nvPr/>
        </p:nvSpPr>
        <p:spPr>
          <a:xfrm>
            <a:off x="4417417" y="1657350"/>
            <a:ext cx="3340100" cy="2019300"/>
          </a:xfrm>
          <a:prstGeom prst="roundRect">
            <a:avLst>
              <a:gd name="adj" fmla="val 4717"/>
            </a:avLst>
          </a:prstGeom>
          <a:noFill/>
          <a:ln w="12700">
            <a:solidFill>
              <a:srgbClr val="E4DED3"/>
            </a:solidFill>
            <a:prstDash val="solid"/>
          </a:ln>
        </p:spPr>
      </p:sp>
      <p:sp>
        <p:nvSpPr>
          <p:cNvPr id="11" name="Text 7"/>
          <p:cNvSpPr/>
          <p:nvPr/>
        </p:nvSpPr>
        <p:spPr>
          <a:xfrm>
            <a:off x="4411067" y="3810000"/>
            <a:ext cx="3470859"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Be Vietnam Pro" pitchFamily="34" charset="0"/>
                <a:ea typeface="Be Vietnam Pro" pitchFamily="34" charset="-122"/>
                <a:cs typeface="Be Vietnam Pro" pitchFamily="34" charset="-120"/>
              </a:rPr>
              <a:t>Velocity</a:t>
            </a:r>
            <a:endParaRPr lang="en-US" sz="2200" dirty="0"/>
          </a:p>
        </p:txBody>
      </p:sp>
      <p:sp>
        <p:nvSpPr>
          <p:cNvPr id="12" name="Text 8"/>
          <p:cNvSpPr/>
          <p:nvPr/>
        </p:nvSpPr>
        <p:spPr>
          <a:xfrm>
            <a:off x="4411067" y="4272260"/>
            <a:ext cx="3470859" cy="619720"/>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3D4657"/>
                </a:solidFill>
                <a:latin typeface="Be Vietnam Pro" pitchFamily="34" charset="0"/>
                <a:ea typeface="Be Vietnam Pro" pitchFamily="34" charset="-122"/>
                <a:cs typeface="Be Vietnam Pro" pitchFamily="34" charset="-120"/>
              </a:rPr>
              <a:t>Points promised vs. points done</a:t>
            </a:r>
            <a:endParaRPr lang="en-US" sz="1800" dirty="0"/>
          </a:p>
        </p:txBody>
      </p:sp>
      <p:sp>
        <p:nvSpPr>
          <p:cNvPr id="13" name="Shape 9"/>
          <p:cNvSpPr/>
          <p:nvPr/>
        </p:nvSpPr>
        <p:spPr>
          <a:xfrm>
            <a:off x="8009434" y="1651000"/>
            <a:ext cx="3352800" cy="2032000"/>
          </a:xfrm>
          <a:prstGeom prst="roundRect">
            <a:avLst>
              <a:gd name="adj" fmla="val 5000"/>
            </a:avLst>
          </a:prstGeom>
          <a:solidFill>
            <a:srgbClr val="FFFFFF"/>
          </a:solidFill>
          <a:ln/>
        </p:spPr>
      </p:sp>
      <p:pic>
        <p:nvPicPr>
          <p:cNvPr id="14" name="Image 2" descr="AI retrospective: went well, to improve, action items">    </p:cNvPr>
          <p:cNvPicPr>
            <a:picLocks noChangeAspect="1"/>
          </p:cNvPicPr>
          <p:nvPr/>
        </p:nvPicPr>
        <p:blipFill>
          <a:blip r:embed="rId3"/>
          <a:srcRect l="0" r="0" t="-465" b="-465"/>
          <a:stretch/>
        </p:blipFill>
        <p:spPr>
          <a:xfrm>
            <a:off x="8022134" y="1663700"/>
            <a:ext cx="3327400" cy="2006600"/>
          </a:xfrm>
          <a:prstGeom prst="roundRect">
            <a:avLst>
              <a:gd name="adj" fmla="val 4430"/>
            </a:avLst>
          </a:prstGeom>
        </p:spPr>
      </p:pic>
      <p:sp>
        <p:nvSpPr>
          <p:cNvPr id="15" name="Shape 10"/>
          <p:cNvSpPr/>
          <p:nvPr/>
        </p:nvSpPr>
        <p:spPr>
          <a:xfrm>
            <a:off x="8015784" y="1657350"/>
            <a:ext cx="3340100" cy="2019300"/>
          </a:xfrm>
          <a:prstGeom prst="roundRect">
            <a:avLst>
              <a:gd name="adj" fmla="val 4717"/>
            </a:avLst>
          </a:prstGeom>
          <a:noFill/>
          <a:ln w="12700">
            <a:solidFill>
              <a:srgbClr val="E4DED3"/>
            </a:solidFill>
            <a:prstDash val="solid"/>
          </a:ln>
        </p:spPr>
      </p:sp>
      <p:sp>
        <p:nvSpPr>
          <p:cNvPr id="16" name="Text 11"/>
          <p:cNvSpPr/>
          <p:nvPr/>
        </p:nvSpPr>
        <p:spPr>
          <a:xfrm>
            <a:off x="8009434" y="3810000"/>
            <a:ext cx="3470859"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Be Vietnam Pro" pitchFamily="34" charset="0"/>
                <a:ea typeface="Be Vietnam Pro" pitchFamily="34" charset="-122"/>
                <a:cs typeface="Be Vietnam Pro" pitchFamily="34" charset="-120"/>
              </a:rPr>
              <a:t>AI retrospective</a:t>
            </a:r>
            <a:endParaRPr lang="en-US" sz="2200" dirty="0"/>
          </a:p>
        </p:txBody>
      </p:sp>
      <p:sp>
        <p:nvSpPr>
          <p:cNvPr id="17" name="Text 12"/>
          <p:cNvSpPr/>
          <p:nvPr/>
        </p:nvSpPr>
        <p:spPr>
          <a:xfrm>
            <a:off x="8009434" y="4272260"/>
            <a:ext cx="3470859" cy="619720"/>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3D4657"/>
                </a:solidFill>
                <a:latin typeface="Be Vietnam Pro" pitchFamily="34" charset="0"/>
                <a:ea typeface="Be Vietnam Pro" pitchFamily="34" charset="-122"/>
                <a:cs typeface="Be Vietnam Pro" pitchFamily="34" charset="-120"/>
              </a:rPr>
              <a:t>What went well, what to fix, next actions</a:t>
            </a:r>
            <a:endParaRPr lang="en-US" sz="1800" dirty="0"/>
          </a:p>
        </p:txBody>
      </p:sp>
      <p:sp>
        <p:nvSpPr>
          <p:cNvPr id="18" name="Text 13"/>
          <p:cNvSpPr/>
          <p:nvPr/>
        </p:nvSpPr>
        <p:spPr>
          <a:xfrm>
            <a:off x="812800" y="6202759"/>
            <a:ext cx="58424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6A7179"/>
                </a:solidFill>
                <a:latin typeface="Be Vietnam Pro" pitchFamily="34" charset="0"/>
                <a:ea typeface="Be Vietnam Pro" pitchFamily="34" charset="-122"/>
                <a:cs typeface="Be Vietnam Pro" pitchFamily="34" charset="-120"/>
              </a:rPr>
              <a:t>9 / 14</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213D"/>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F7F6F2"/>
                </a:solidFill>
                <a:latin typeface="Be Vietnam Pro" pitchFamily="34" charset="0"/>
                <a:ea typeface="Be Vietnam Pro" pitchFamily="34" charset="-122"/>
                <a:cs typeface="Be Vietnam Pro" pitchFamily="34" charset="-120"/>
              </a:rPr>
              <a:t>AI does the boring management work</a:t>
            </a:r>
            <a:endParaRPr lang="en-US" sz="4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1689100"/>
          <a:ext cx="5626100" cy="3791347"/>
        </p:xfrm>
        <a:graphic>
          <a:graphicData uri="http://schemas.openxmlformats.org/drawingml/2006/table">
            <a:tbl>
              <a:tblPr/>
              <a:tblGrid>
                <a:gridCol w="2475484"/>
                <a:gridCol w="3150616"/>
              </a:tblGrid>
              <a:tr h="519311">
                <a:tc>
                  <a:txBody>
                    <a:bodyPr/>
                    <a:lstStyle/>
                    <a:p>
                      <a:pPr indent="0" marL="0">
                        <a:lnSpc>
                          <a:spcPts val="2660"/>
                        </a:lnSpc>
                        <a:buNone/>
                      </a:pPr>
                      <a:r>
                        <a:rPr lang="en-US" sz="1900" b="1" dirty="0">
                          <a:solidFill>
                            <a:srgbClr val="F7F6F2"/>
                          </a:solidFill>
                          <a:latin typeface="Be Vietnam Pro" pitchFamily="34" charset="0"/>
                          <a:ea typeface="Be Vietnam Pro" pitchFamily="34" charset="-122"/>
                          <a:cs typeface="Be Vietnam Pro" pitchFamily="34" charset="-120"/>
                        </a:rPr>
                        <a:t>You give</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475165"/>
                      </a:solidFill>
                      <a:prstDash val="solid"/>
                      <a:round/>
                      <a:headEnd type="none" w="med" len="med"/>
                      <a:tailEnd type="none" w="med" len="med"/>
                    </a:lnL>
                    <a:lnR w="12700" cap="flat" cmpd="sng" algn="ctr">
                      <a:solidFill>
                        <a:srgbClr val="555E71"/>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555E71"/>
                      </a:solidFill>
                      <a:prstDash val="solid"/>
                      <a:round/>
                      <a:headEnd type="none" w="med" len="med"/>
                      <a:tailEnd type="none" w="med" len="med"/>
                    </a:lnB>
                    <a:solidFill>
                      <a:srgbClr val="26324C"/>
                    </a:solidFill>
                  </a:tcPr>
                </a:tc>
                <a:tc>
                  <a:txBody>
                    <a:bodyPr/>
                    <a:lstStyle/>
                    <a:p>
                      <a:pPr indent="0" marL="0">
                        <a:lnSpc>
                          <a:spcPts val="2660"/>
                        </a:lnSpc>
                        <a:buNone/>
                      </a:pPr>
                      <a:r>
                        <a:rPr lang="en-US" sz="1900" b="1" dirty="0">
                          <a:solidFill>
                            <a:srgbClr val="F7F6F2"/>
                          </a:solidFill>
                          <a:latin typeface="Be Vietnam Pro" pitchFamily="34" charset="0"/>
                          <a:ea typeface="Be Vietnam Pro" pitchFamily="34" charset="-122"/>
                          <a:cs typeface="Be Vietnam Pro" pitchFamily="34" charset="-120"/>
                        </a:rPr>
                        <a:t>AI returns</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555E71"/>
                      </a:solidFill>
                      <a:prstDash val="solid"/>
                      <a:round/>
                      <a:headEnd type="none" w="med" len="med"/>
                      <a:tailEnd type="none" w="med" len="med"/>
                    </a:lnL>
                    <a:lnR w="12700" cap="flat" cmpd="sng" algn="ctr">
                      <a:solidFill>
                        <a:srgbClr val="555E71"/>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555E71"/>
                      </a:solidFill>
                      <a:prstDash val="solid"/>
                      <a:round/>
                      <a:headEnd type="none" w="med" len="med"/>
                      <a:tailEnd type="none" w="med" len="med"/>
                    </a:lnB>
                    <a:solidFill>
                      <a:srgbClr val="26324C"/>
                    </a:solidFill>
                  </a:tcPr>
                </a:tc>
              </a:tr>
              <a:tr h="857052">
                <a:tc>
                  <a:txBody>
                    <a:bodyPr/>
                    <a:lstStyle/>
                    <a:p>
                      <a:pPr indent="0" marL="0">
                        <a:lnSpc>
                          <a:spcPts val="2660"/>
                        </a:lnSpc>
                        <a:buNone/>
                      </a:pPr>
                      <a:r>
                        <a:rPr lang="en-US" sz="1900" dirty="0">
                          <a:solidFill>
                            <a:srgbClr val="F7F6F2"/>
                          </a:solidFill>
                          <a:latin typeface="Be Vietnam Pro" pitchFamily="34" charset="0"/>
                          <a:ea typeface="Be Vietnam Pro" pitchFamily="34" charset="-122"/>
                          <a:cs typeface="Be Vietnam Pro" pitchFamily="34" charset="-120"/>
                        </a:rPr>
                        <a:t>The board</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555E71"/>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c>
                  <a:txBody>
                    <a:bodyPr/>
                    <a:lstStyle/>
                    <a:p>
                      <a:pPr indent="0" marL="0">
                        <a:lnSpc>
                          <a:spcPts val="2660"/>
                        </a:lnSpc>
                        <a:buNone/>
                      </a:pPr>
                      <a:r>
                        <a:rPr lang="en-US" sz="1900" dirty="0">
                          <a:solidFill>
                            <a:srgbClr val="F7F6F2"/>
                          </a:solidFill>
                          <a:latin typeface="Be Vietnam Pro" pitchFamily="34" charset="0"/>
                          <a:ea typeface="Be Vietnam Pro" pitchFamily="34" charset="-122"/>
                          <a:cs typeface="Be Vietnam Pro" pitchFamily="34" charset="-120"/>
                        </a:rPr>
                        <a:t>Weekly progress summary</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555E71"/>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r>
              <a:tr h="857052">
                <a:tc>
                  <a:txBody>
                    <a:bodyPr/>
                    <a:lstStyle/>
                    <a:p>
                      <a:pPr indent="0" marL="0">
                        <a:lnSpc>
                          <a:spcPts val="2660"/>
                        </a:lnSpc>
                        <a:buNone/>
                      </a:pPr>
                      <a:r>
                        <a:rPr lang="en-US" sz="1900" dirty="0">
                          <a:solidFill>
                            <a:srgbClr val="F7F6F2"/>
                          </a:solidFill>
                          <a:latin typeface="Be Vietnam Pro" pitchFamily="34" charset="0"/>
                          <a:ea typeface="Be Vietnam Pro" pitchFamily="34" charset="-122"/>
                          <a:cs typeface="Be Vietnam Pro" pitchFamily="34" charset="-120"/>
                        </a:rPr>
                        <a:t>Meeting notes</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c>
                  <a:txBody>
                    <a:bodyPr/>
                    <a:lstStyle/>
                    <a:p>
                      <a:pPr indent="0" marL="0">
                        <a:lnSpc>
                          <a:spcPts val="2660"/>
                        </a:lnSpc>
                        <a:buNone/>
                      </a:pPr>
                      <a:r>
                        <a:rPr lang="en-US" sz="1900" dirty="0">
                          <a:solidFill>
                            <a:srgbClr val="F7F6F2"/>
                          </a:solidFill>
                          <a:latin typeface="Be Vietnam Pro" pitchFamily="34" charset="0"/>
                          <a:ea typeface="Be Vietnam Pro" pitchFamily="34" charset="-122"/>
                          <a:cs typeface="Be Vietnam Pro" pitchFamily="34" charset="-120"/>
                        </a:rPr>
                        <a:t>Tasks, owners, decisions</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r>
              <a:tr h="519311">
                <a:tc>
                  <a:txBody>
                    <a:bodyPr/>
                    <a:lstStyle/>
                    <a:p>
                      <a:pPr indent="0" marL="0">
                        <a:lnSpc>
                          <a:spcPts val="2660"/>
                        </a:lnSpc>
                        <a:buNone/>
                      </a:pPr>
                      <a:r>
                        <a:rPr lang="en-US" sz="1900" dirty="0">
                          <a:solidFill>
                            <a:srgbClr val="F7F6F2"/>
                          </a:solidFill>
                          <a:latin typeface="Be Vietnam Pro" pitchFamily="34" charset="0"/>
                          <a:ea typeface="Be Vietnam Pro" pitchFamily="34" charset="-122"/>
                          <a:cs typeface="Be Vietnam Pro" pitchFamily="34" charset="-120"/>
                        </a:rPr>
                        <a:t>A new task</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c>
                  <a:txBody>
                    <a:bodyPr/>
                    <a:lstStyle/>
                    <a:p>
                      <a:pPr indent="0" marL="0">
                        <a:lnSpc>
                          <a:spcPts val="2660"/>
                        </a:lnSpc>
                        <a:buNone/>
                      </a:pPr>
                      <a:r>
                        <a:rPr lang="en-US" sz="1900" dirty="0">
                          <a:solidFill>
                            <a:srgbClr val="F7F6F2"/>
                          </a:solidFill>
                          <a:latin typeface="Be Vietnam Pro" pitchFamily="34" charset="0"/>
                          <a:ea typeface="Be Vietnam Pro" pitchFamily="34" charset="-122"/>
                          <a:cs typeface="Be Vietnam Pro" pitchFamily="34" charset="-120"/>
                        </a:rPr>
                        <a:t>Best person to do it</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r>
              <a:tr h="519311">
                <a:tc>
                  <a:txBody>
                    <a:bodyPr/>
                    <a:lstStyle/>
                    <a:p>
                      <a:pPr indent="0" marL="0">
                        <a:lnSpc>
                          <a:spcPts val="2660"/>
                        </a:lnSpc>
                        <a:buNone/>
                      </a:pPr>
                      <a:r>
                        <a:rPr lang="en-US" sz="1900" dirty="0">
                          <a:solidFill>
                            <a:srgbClr val="F7F6F2"/>
                          </a:solidFill>
                          <a:latin typeface="Be Vietnam Pro" pitchFamily="34" charset="0"/>
                          <a:ea typeface="Be Vietnam Pro" pitchFamily="34" charset="-122"/>
                          <a:cs typeface="Be Vietnam Pro" pitchFamily="34" charset="-120"/>
                        </a:rPr>
                        <a:t>A big goal</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c>
                  <a:txBody>
                    <a:bodyPr/>
                    <a:lstStyle/>
                    <a:p>
                      <a:pPr indent="0" marL="0">
                        <a:lnSpc>
                          <a:spcPts val="2660"/>
                        </a:lnSpc>
                        <a:buNone/>
                      </a:pPr>
                      <a:r>
                        <a:rPr lang="en-US" sz="1900" dirty="0">
                          <a:solidFill>
                            <a:srgbClr val="F7F6F2"/>
                          </a:solidFill>
                          <a:latin typeface="Be Vietnam Pro" pitchFamily="34" charset="0"/>
                          <a:ea typeface="Be Vietnam Pro" pitchFamily="34" charset="-122"/>
                          <a:cs typeface="Be Vietnam Pro" pitchFamily="34" charset="-120"/>
                        </a:rPr>
                        <a:t>Sub-tasks + order</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r>
              <a:tr h="519311">
                <a:tc>
                  <a:txBody>
                    <a:bodyPr/>
                    <a:lstStyle/>
                    <a:p>
                      <a:pPr indent="0" marL="0">
                        <a:lnSpc>
                          <a:spcPts val="2660"/>
                        </a:lnSpc>
                        <a:buNone/>
                      </a:pPr>
                      <a:r>
                        <a:rPr lang="en-US" sz="1900" dirty="0">
                          <a:solidFill>
                            <a:srgbClr val="F7F6F2"/>
                          </a:solidFill>
                          <a:latin typeface="Be Vietnam Pro" pitchFamily="34" charset="0"/>
                          <a:ea typeface="Be Vietnam Pro" pitchFamily="34" charset="-122"/>
                          <a:cs typeface="Be Vietnam Pro" pitchFamily="34" charset="-120"/>
                        </a:rPr>
                        <a:t>A finished sprint</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c>
                  <a:txBody>
                    <a:bodyPr/>
                    <a:lstStyle/>
                    <a:p>
                      <a:pPr indent="0" marL="0">
                        <a:lnSpc>
                          <a:spcPts val="2660"/>
                        </a:lnSpc>
                        <a:buNone/>
                      </a:pPr>
                      <a:r>
                        <a:rPr lang="en-US" sz="1900" dirty="0">
                          <a:solidFill>
                            <a:srgbClr val="F7F6F2"/>
                          </a:solidFill>
                          <a:latin typeface="Be Vietnam Pro" pitchFamily="34" charset="0"/>
                          <a:ea typeface="Be Vietnam Pro" pitchFamily="34" charset="-122"/>
                          <a:cs typeface="Be Vietnam Pro" pitchFamily="34" charset="-120"/>
                        </a:rPr>
                        <a:t>Retrospective</a:t>
                      </a:r>
                      <a:endParaRPr lang="en-US" sz="1900" dirty="0">
                        <a:latin typeface="Be Vietnam Pro" charset="0"/>
                        <a:ea typeface="Be Vietnam Pro" charset="0"/>
                        <a:cs typeface="Be Vietnam Pro" charset="0"/>
                      </a:endParaRPr>
                    </a:p>
                  </a:txBody>
                  <a:tcPr marL="84455" marR="84455" marT="84455" marB="84455" anchor="t">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75165"/>
                      </a:solidFill>
                      <a:prstDash val="solid"/>
                      <a:round/>
                      <a:headEnd type="none" w="med" len="med"/>
                      <a:tailEnd type="none" w="med" len="med"/>
                    </a:lnB>
                  </a:tcPr>
                </a:tc>
              </a:tr>
            </a:tbl>
          </a:graphicData>
        </a:graphic>
      </p:graphicFrame>
      <p:sp>
        <p:nvSpPr>
          <p:cNvPr id="4" name="Shape 1"/>
          <p:cNvSpPr/>
          <p:nvPr/>
        </p:nvSpPr>
        <p:spPr>
          <a:xfrm>
            <a:off x="6807200" y="1927423"/>
            <a:ext cx="4572000" cy="3302000"/>
          </a:xfrm>
          <a:prstGeom prst="roundRect">
            <a:avLst>
              <a:gd name="adj" fmla="val 3077"/>
            </a:avLst>
          </a:prstGeom>
          <a:solidFill>
            <a:srgbClr val="F7F6F2"/>
          </a:solidFill>
          <a:ln/>
        </p:spPr>
      </p:sp>
      <p:pic>
        <p:nvPicPr>
          <p:cNvPr id="5" name="Image 0" descr="Smart assignment: team workload and a recommended assignee with reasons">    </p:cNvPr>
          <p:cNvPicPr>
            <a:picLocks noChangeAspect="1"/>
          </p:cNvPicPr>
          <p:nvPr/>
        </p:nvPicPr>
        <p:blipFill>
          <a:blip r:embed="rId1"/>
          <a:stretch>
            <a:fillRect/>
          </a:stretch>
        </p:blipFill>
        <p:spPr>
          <a:xfrm>
            <a:off x="6807200" y="2212538"/>
            <a:ext cx="4572000" cy="2731770"/>
          </a:xfrm>
          <a:prstGeom prst="rect">
            <a:avLst/>
          </a:prstGeom>
        </p:spPr>
      </p:pic>
      <p:sp>
        <p:nvSpPr>
          <p:cNvPr id="6" name="Text 2"/>
          <p:cNvSpPr/>
          <p:nvPr/>
        </p:nvSpPr>
        <p:spPr>
          <a:xfrm>
            <a:off x="812800" y="6202759"/>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9FB0CF"/>
                </a:solidFill>
                <a:latin typeface="Be Vietnam Pro" pitchFamily="34" charset="0"/>
                <a:ea typeface="Be Vietnam Pro" pitchFamily="34" charset="-122"/>
                <a:cs typeface="Be Vietnam Pro" pitchFamily="34" charset="-120"/>
              </a:rPr>
              <a:t>10 / 14 · Groq cloud model · if AI is down, a rule-based answer is used, so it never breaks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6F2"/>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14213D"/>
                </a:solidFill>
                <a:latin typeface="Be Vietnam Pro" pitchFamily="34" charset="0"/>
                <a:ea typeface="Be Vietnam Pro" pitchFamily="34" charset="-122"/>
                <a:cs typeface="Be Vietnam Pro" pitchFamily="34" charset="-120"/>
              </a:rPr>
              <a:t>An AI agent factory builds the software</a:t>
            </a:r>
            <a:endParaRPr lang="en-US" sz="4000" dirty="0"/>
          </a:p>
        </p:txBody>
      </p:sp>
      <p:sp>
        <p:nvSpPr>
          <p:cNvPr id="3" name="Text 1"/>
          <p:cNvSpPr/>
          <p:nvPr/>
        </p:nvSpPr>
        <p:spPr>
          <a:xfrm>
            <a:off x="812800" y="1809750"/>
            <a:ext cx="1397000" cy="571500"/>
          </a:xfrm>
          <a:prstGeom prst="roundRect">
            <a:avLst>
              <a:gd name="adj" fmla="val 22222"/>
            </a:avLst>
          </a:prstGeom>
          <a:solidFill>
            <a:srgbClr val="E7ECF7"/>
          </a:solidFill>
          <a:ln/>
        </p:spPr>
        <p:txBody>
          <a:bodyPr wrap="square" lIns="115203" tIns="115203" rIns="64403" bIns="89803" rtlCol="0" anchor="t">
            <a:normAutofit/>
          </a:bodyPr>
          <a:lstStyle/>
          <a:p>
            <a:pPr algn="l" indent="0" marL="0">
              <a:lnSpc>
                <a:spcPts val="2100"/>
              </a:lnSpc>
              <a:buNone/>
            </a:pPr>
            <a:r>
              <a:rPr lang="en-US" sz="1500" b="1" dirty="0">
                <a:solidFill>
                  <a:srgbClr val="1D4ED8"/>
                </a:solidFill>
                <a:latin typeface="Be Vietnam Pro" pitchFamily="34" charset="0"/>
                <a:ea typeface="Be Vietnam Pro" pitchFamily="34" charset="-122"/>
                <a:cs typeface="Be Vietnam Pro" pitchFamily="34" charset="-120"/>
              </a:rPr>
              <a:t>1 Specs</a:t>
            </a:r>
            <a:endParaRPr lang="en-US" sz="1500" dirty="0"/>
          </a:p>
        </p:txBody>
      </p:sp>
      <p:pic>
        <p:nvPicPr>
          <p:cNvPr id="4" name="Image 0" descr="arrow-right">    </p:cNvPr>
          <p:cNvPicPr>
            <a:picLocks noChangeAspect="1"/>
          </p:cNvPicPr>
          <p:nvPr/>
        </p:nvPicPr>
        <p:blipFill>
          <a:blip r:embed="rId1"/>
          <a:srcRect l="0" r="0" t="-227" b="-227"/>
          <a:stretch/>
        </p:blipFill>
        <p:spPr>
          <a:xfrm>
            <a:off x="2286000" y="1993900"/>
            <a:ext cx="284460" cy="203200"/>
          </a:xfrm>
          <a:prstGeom prst="rect">
            <a:avLst/>
          </a:prstGeom>
        </p:spPr>
      </p:pic>
      <p:sp>
        <p:nvSpPr>
          <p:cNvPr id="5" name="Text 2"/>
          <p:cNvSpPr/>
          <p:nvPr/>
        </p:nvSpPr>
        <p:spPr>
          <a:xfrm>
            <a:off x="2646660" y="1809750"/>
            <a:ext cx="1397000" cy="571500"/>
          </a:xfrm>
          <a:prstGeom prst="roundRect">
            <a:avLst>
              <a:gd name="adj" fmla="val 22222"/>
            </a:avLst>
          </a:prstGeom>
          <a:solidFill>
            <a:srgbClr val="E7ECF7"/>
          </a:solidFill>
          <a:ln/>
        </p:spPr>
        <p:txBody>
          <a:bodyPr wrap="square" lIns="115203" tIns="115203" rIns="64403" bIns="89803" rtlCol="0" anchor="t">
            <a:normAutofit/>
          </a:bodyPr>
          <a:lstStyle/>
          <a:p>
            <a:pPr algn="l" indent="0" marL="0">
              <a:lnSpc>
                <a:spcPts val="2100"/>
              </a:lnSpc>
              <a:buNone/>
            </a:pPr>
            <a:r>
              <a:rPr lang="en-US" sz="1500" b="1" dirty="0">
                <a:solidFill>
                  <a:srgbClr val="1D4ED8"/>
                </a:solidFill>
                <a:latin typeface="Be Vietnam Pro" pitchFamily="34" charset="0"/>
                <a:ea typeface="Be Vietnam Pro" pitchFamily="34" charset="-122"/>
                <a:cs typeface="Be Vietnam Pro" pitchFamily="34" charset="-120"/>
              </a:rPr>
              <a:t>2 Design</a:t>
            </a:r>
            <a:endParaRPr lang="en-US" sz="1500" dirty="0"/>
          </a:p>
        </p:txBody>
      </p:sp>
      <p:pic>
        <p:nvPicPr>
          <p:cNvPr id="6" name="Image 1" descr="arrow-right">    </p:cNvPr>
          <p:cNvPicPr>
            <a:picLocks noChangeAspect="1"/>
          </p:cNvPicPr>
          <p:nvPr/>
        </p:nvPicPr>
        <p:blipFill>
          <a:blip r:embed="rId2"/>
          <a:srcRect l="0" r="0" t="-227" b="-227"/>
          <a:stretch/>
        </p:blipFill>
        <p:spPr>
          <a:xfrm>
            <a:off x="4119860" y="1993900"/>
            <a:ext cx="284460" cy="203200"/>
          </a:xfrm>
          <a:prstGeom prst="rect">
            <a:avLst/>
          </a:prstGeom>
        </p:spPr>
      </p:pic>
      <p:sp>
        <p:nvSpPr>
          <p:cNvPr id="7" name="Text 3"/>
          <p:cNvSpPr/>
          <p:nvPr/>
        </p:nvSpPr>
        <p:spPr>
          <a:xfrm>
            <a:off x="4480520" y="1676400"/>
            <a:ext cx="1397000" cy="838200"/>
          </a:xfrm>
          <a:prstGeom prst="roundRect">
            <a:avLst>
              <a:gd name="adj" fmla="val 15152"/>
            </a:avLst>
          </a:prstGeom>
          <a:solidFill>
            <a:srgbClr val="E7ECF7"/>
          </a:solidFill>
          <a:ln/>
        </p:spPr>
        <p:txBody>
          <a:bodyPr wrap="square" lIns="115203" tIns="115203" rIns="64403" bIns="89803" rtlCol="0" anchor="t">
            <a:normAutofit/>
          </a:bodyPr>
          <a:lstStyle/>
          <a:p>
            <a:pPr algn="l" indent="0" marL="0">
              <a:lnSpc>
                <a:spcPts val="2100"/>
              </a:lnSpc>
              <a:buNone/>
            </a:pPr>
            <a:r>
              <a:rPr lang="en-US" sz="1500" b="1" dirty="0">
                <a:solidFill>
                  <a:srgbClr val="1D4ED8"/>
                </a:solidFill>
                <a:latin typeface="Be Vietnam Pro" pitchFamily="34" charset="0"/>
                <a:ea typeface="Be Vietnam Pro" pitchFamily="34" charset="-122"/>
                <a:cs typeface="Be Vietnam Pro" pitchFamily="34" charset="-120"/>
              </a:rPr>
              <a:t>3 Tests first</a:t>
            </a:r>
            <a:endParaRPr lang="en-US" sz="1500" dirty="0"/>
          </a:p>
        </p:txBody>
      </p:sp>
      <p:pic>
        <p:nvPicPr>
          <p:cNvPr id="8" name="Image 2" descr="arrow-right">    </p:cNvPr>
          <p:cNvPicPr>
            <a:picLocks noChangeAspect="1"/>
          </p:cNvPicPr>
          <p:nvPr/>
        </p:nvPicPr>
        <p:blipFill>
          <a:blip r:embed="rId3"/>
          <a:srcRect l="0" r="0" t="-227" b="-227"/>
          <a:stretch/>
        </p:blipFill>
        <p:spPr>
          <a:xfrm>
            <a:off x="5953720" y="1993900"/>
            <a:ext cx="284460" cy="203200"/>
          </a:xfrm>
          <a:prstGeom prst="rect">
            <a:avLst/>
          </a:prstGeom>
        </p:spPr>
      </p:pic>
      <p:sp>
        <p:nvSpPr>
          <p:cNvPr id="9" name="Text 4"/>
          <p:cNvSpPr/>
          <p:nvPr/>
        </p:nvSpPr>
        <p:spPr>
          <a:xfrm>
            <a:off x="6314380" y="1809750"/>
            <a:ext cx="1397000" cy="571500"/>
          </a:xfrm>
          <a:prstGeom prst="roundRect">
            <a:avLst>
              <a:gd name="adj" fmla="val 22222"/>
            </a:avLst>
          </a:prstGeom>
          <a:solidFill>
            <a:srgbClr val="E7ECF7"/>
          </a:solidFill>
          <a:ln/>
        </p:spPr>
        <p:txBody>
          <a:bodyPr wrap="square" lIns="115203" tIns="115203" rIns="64403" bIns="89803" rtlCol="0" anchor="t">
            <a:normAutofit/>
          </a:bodyPr>
          <a:lstStyle/>
          <a:p>
            <a:pPr algn="l" indent="0" marL="0">
              <a:lnSpc>
                <a:spcPts val="2100"/>
              </a:lnSpc>
              <a:buNone/>
            </a:pPr>
            <a:r>
              <a:rPr lang="en-US" sz="1500" b="1" dirty="0">
                <a:solidFill>
                  <a:srgbClr val="1D4ED8"/>
                </a:solidFill>
                <a:latin typeface="Be Vietnam Pro" pitchFamily="34" charset="0"/>
                <a:ea typeface="Be Vietnam Pro" pitchFamily="34" charset="-122"/>
                <a:cs typeface="Be Vietnam Pro" pitchFamily="34" charset="-120"/>
              </a:rPr>
              <a:t>4 Code</a:t>
            </a:r>
            <a:endParaRPr lang="en-US" sz="1500" dirty="0"/>
          </a:p>
        </p:txBody>
      </p:sp>
      <p:pic>
        <p:nvPicPr>
          <p:cNvPr id="10" name="Image 3" descr="arrow-right">    </p:cNvPr>
          <p:cNvPicPr>
            <a:picLocks noChangeAspect="1"/>
          </p:cNvPicPr>
          <p:nvPr/>
        </p:nvPicPr>
        <p:blipFill>
          <a:blip r:embed="rId4"/>
          <a:srcRect l="0" r="0" t="-227" b="-227"/>
          <a:stretch/>
        </p:blipFill>
        <p:spPr>
          <a:xfrm>
            <a:off x="7787580" y="1993900"/>
            <a:ext cx="284460" cy="203200"/>
          </a:xfrm>
          <a:prstGeom prst="rect">
            <a:avLst/>
          </a:prstGeom>
        </p:spPr>
      </p:pic>
      <p:sp>
        <p:nvSpPr>
          <p:cNvPr id="11" name="Text 5"/>
          <p:cNvSpPr/>
          <p:nvPr/>
        </p:nvSpPr>
        <p:spPr>
          <a:xfrm>
            <a:off x="8148241" y="1809750"/>
            <a:ext cx="1397000" cy="571500"/>
          </a:xfrm>
          <a:prstGeom prst="roundRect">
            <a:avLst>
              <a:gd name="adj" fmla="val 22222"/>
            </a:avLst>
          </a:prstGeom>
          <a:solidFill>
            <a:srgbClr val="E7ECF7"/>
          </a:solidFill>
          <a:ln/>
        </p:spPr>
        <p:txBody>
          <a:bodyPr wrap="square" lIns="115203" tIns="115203" rIns="64403" bIns="89803" rtlCol="0" anchor="t">
            <a:normAutofit/>
          </a:bodyPr>
          <a:lstStyle/>
          <a:p>
            <a:pPr algn="l" indent="0" marL="0">
              <a:lnSpc>
                <a:spcPts val="2100"/>
              </a:lnSpc>
              <a:buNone/>
            </a:pPr>
            <a:r>
              <a:rPr lang="en-US" sz="1500" b="1" dirty="0">
                <a:solidFill>
                  <a:srgbClr val="1D4ED8"/>
                </a:solidFill>
                <a:latin typeface="Be Vietnam Pro" pitchFamily="34" charset="0"/>
                <a:ea typeface="Be Vietnam Pro" pitchFamily="34" charset="-122"/>
                <a:cs typeface="Be Vietnam Pro" pitchFamily="34" charset="-120"/>
              </a:rPr>
              <a:t>5 Review</a:t>
            </a:r>
            <a:endParaRPr lang="en-US" sz="1500" dirty="0"/>
          </a:p>
        </p:txBody>
      </p:sp>
      <p:pic>
        <p:nvPicPr>
          <p:cNvPr id="12" name="Image 4" descr="arrow-right">    </p:cNvPr>
          <p:cNvPicPr>
            <a:picLocks noChangeAspect="1"/>
          </p:cNvPicPr>
          <p:nvPr/>
        </p:nvPicPr>
        <p:blipFill>
          <a:blip r:embed="rId5"/>
          <a:srcRect l="0" r="0" t="-227" b="-227"/>
          <a:stretch/>
        </p:blipFill>
        <p:spPr>
          <a:xfrm>
            <a:off x="9621441" y="1993900"/>
            <a:ext cx="284460" cy="203200"/>
          </a:xfrm>
          <a:prstGeom prst="rect">
            <a:avLst/>
          </a:prstGeom>
        </p:spPr>
      </p:pic>
      <p:sp>
        <p:nvSpPr>
          <p:cNvPr id="13" name="Text 6"/>
          <p:cNvSpPr/>
          <p:nvPr/>
        </p:nvSpPr>
        <p:spPr>
          <a:xfrm>
            <a:off x="9982101" y="1809750"/>
            <a:ext cx="1397000" cy="571500"/>
          </a:xfrm>
          <a:prstGeom prst="roundRect">
            <a:avLst>
              <a:gd name="adj" fmla="val 22222"/>
            </a:avLst>
          </a:prstGeom>
          <a:solidFill>
            <a:srgbClr val="E7ECF7"/>
          </a:solidFill>
          <a:ln/>
        </p:spPr>
        <p:txBody>
          <a:bodyPr wrap="square" lIns="115203" tIns="115203" rIns="64403" bIns="89803" rtlCol="0" anchor="t">
            <a:normAutofit/>
          </a:bodyPr>
          <a:lstStyle/>
          <a:p>
            <a:pPr algn="l" indent="0" marL="0">
              <a:lnSpc>
                <a:spcPts val="2100"/>
              </a:lnSpc>
              <a:buNone/>
            </a:pPr>
            <a:r>
              <a:rPr lang="en-US" sz="1500" b="1" dirty="0">
                <a:solidFill>
                  <a:srgbClr val="1D4ED8"/>
                </a:solidFill>
                <a:latin typeface="Be Vietnam Pro" pitchFamily="34" charset="0"/>
                <a:ea typeface="Be Vietnam Pro" pitchFamily="34" charset="-122"/>
                <a:cs typeface="Be Vietnam Pro" pitchFamily="34" charset="-120"/>
              </a:rPr>
              <a:t>6 Release</a:t>
            </a:r>
            <a:endParaRPr lang="en-US" sz="1500" dirty="0"/>
          </a:p>
        </p:txBody>
      </p:sp>
      <p:sp>
        <p:nvSpPr>
          <p:cNvPr id="14" name="Shape 7"/>
          <p:cNvSpPr/>
          <p:nvPr/>
        </p:nvSpPr>
        <p:spPr>
          <a:xfrm>
            <a:off x="812800" y="2819400"/>
            <a:ext cx="3386634" cy="1761232"/>
          </a:xfrm>
          <a:prstGeom prst="roundRect">
            <a:avLst>
              <a:gd name="adj" fmla="val 8653"/>
            </a:avLst>
          </a:prstGeom>
          <a:solidFill>
            <a:srgbClr val="FCE9D6"/>
          </a:solidFill>
          <a:ln/>
        </p:spPr>
      </p:sp>
      <p:sp>
        <p:nvSpPr>
          <p:cNvPr id="15" name="Text 8"/>
          <p:cNvSpPr/>
          <p:nvPr/>
        </p:nvSpPr>
        <p:spPr>
          <a:xfrm>
            <a:off x="1066800" y="3073400"/>
            <a:ext cx="2964993"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C2410C"/>
                </a:solidFill>
                <a:latin typeface="Be Vietnam Pro" pitchFamily="34" charset="0"/>
                <a:ea typeface="Be Vietnam Pro" pitchFamily="34" charset="-122"/>
                <a:cs typeface="Be Vietnam Pro" pitchFamily="34" charset="-120"/>
              </a:rPr>
              <a:t>Deny</a:t>
            </a:r>
            <a:endParaRPr lang="en-US" sz="2200" dirty="0"/>
          </a:p>
        </p:txBody>
      </p:sp>
      <p:sp>
        <p:nvSpPr>
          <p:cNvPr id="16" name="Text 9"/>
          <p:cNvSpPr/>
          <p:nvPr/>
        </p:nvSpPr>
        <p:spPr>
          <a:xfrm>
            <a:off x="1066800" y="3484860"/>
            <a:ext cx="2964993" cy="867172"/>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14213D"/>
                </a:solidFill>
                <a:latin typeface="Be Vietnam Pro" pitchFamily="34" charset="0"/>
                <a:ea typeface="Be Vietnam Pro" pitchFamily="34" charset="-122"/>
                <a:cs typeface="Be Vietnam Pro" pitchFamily="34" charset="-120"/>
              </a:rPr>
              <a:t>Secrets, .env, force-push, editing an applied migration</a:t>
            </a:r>
            <a:endParaRPr lang="en-US" sz="1700" dirty="0"/>
          </a:p>
        </p:txBody>
      </p:sp>
      <p:sp>
        <p:nvSpPr>
          <p:cNvPr id="17" name="Shape 10"/>
          <p:cNvSpPr/>
          <p:nvPr/>
        </p:nvSpPr>
        <p:spPr>
          <a:xfrm>
            <a:off x="4402634" y="2819400"/>
            <a:ext cx="3386634" cy="1761232"/>
          </a:xfrm>
          <a:prstGeom prst="roundRect">
            <a:avLst>
              <a:gd name="adj" fmla="val 8653"/>
            </a:avLst>
          </a:prstGeom>
          <a:solidFill>
            <a:srgbClr val="FFF4D6"/>
          </a:solidFill>
          <a:ln/>
        </p:spPr>
      </p:sp>
      <p:sp>
        <p:nvSpPr>
          <p:cNvPr id="18" name="Text 11"/>
          <p:cNvSpPr/>
          <p:nvPr/>
        </p:nvSpPr>
        <p:spPr>
          <a:xfrm>
            <a:off x="4656634" y="3073400"/>
            <a:ext cx="2964993"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8A5A00"/>
                </a:solidFill>
                <a:latin typeface="Be Vietnam Pro" pitchFamily="34" charset="0"/>
                <a:ea typeface="Be Vietnam Pro" pitchFamily="34" charset="-122"/>
                <a:cs typeface="Be Vietnam Pro" pitchFamily="34" charset="-120"/>
              </a:rPr>
              <a:t>Ask a human</a:t>
            </a:r>
            <a:endParaRPr lang="en-US" sz="2200" dirty="0"/>
          </a:p>
        </p:txBody>
      </p:sp>
      <p:sp>
        <p:nvSpPr>
          <p:cNvPr id="19" name="Text 12"/>
          <p:cNvSpPr/>
          <p:nvPr/>
        </p:nvSpPr>
        <p:spPr>
          <a:xfrm>
            <a:off x="4656634" y="3484860"/>
            <a:ext cx="2964993" cy="586581"/>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14213D"/>
                </a:solidFill>
                <a:latin typeface="Be Vietnam Pro" pitchFamily="34" charset="0"/>
                <a:ea typeface="Be Vietnam Pro" pitchFamily="34" charset="-122"/>
                <a:cs typeface="Be Vietnam Pro" pitchFamily="34" charset="-120"/>
              </a:rPr>
              <a:t>Auth, roles, contracts, git push, deploy</a:t>
            </a:r>
            <a:endParaRPr lang="en-US" sz="1700" dirty="0"/>
          </a:p>
        </p:txBody>
      </p:sp>
      <p:sp>
        <p:nvSpPr>
          <p:cNvPr id="20" name="Shape 13"/>
          <p:cNvSpPr/>
          <p:nvPr/>
        </p:nvSpPr>
        <p:spPr>
          <a:xfrm>
            <a:off x="7992467" y="2819400"/>
            <a:ext cx="3386634" cy="1761232"/>
          </a:xfrm>
          <a:prstGeom prst="roundRect">
            <a:avLst>
              <a:gd name="adj" fmla="val 8653"/>
            </a:avLst>
          </a:prstGeom>
          <a:solidFill>
            <a:srgbClr val="DCEFE3"/>
          </a:solidFill>
          <a:ln/>
        </p:spPr>
      </p:sp>
      <p:sp>
        <p:nvSpPr>
          <p:cNvPr id="21" name="Text 14"/>
          <p:cNvSpPr/>
          <p:nvPr/>
        </p:nvSpPr>
        <p:spPr>
          <a:xfrm>
            <a:off x="8246467" y="3073400"/>
            <a:ext cx="2964993"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5803D"/>
                </a:solidFill>
                <a:latin typeface="Be Vietnam Pro" pitchFamily="34" charset="0"/>
                <a:ea typeface="Be Vietnam Pro" pitchFamily="34" charset="-122"/>
                <a:cs typeface="Be Vietnam Pro" pitchFamily="34" charset="-120"/>
              </a:rPr>
              <a:t>Done means done</a:t>
            </a:r>
            <a:endParaRPr lang="en-US" sz="2200" dirty="0"/>
          </a:p>
        </p:txBody>
      </p:sp>
      <p:sp>
        <p:nvSpPr>
          <p:cNvPr id="22" name="Text 15"/>
          <p:cNvSpPr/>
          <p:nvPr/>
        </p:nvSpPr>
        <p:spPr>
          <a:xfrm>
            <a:off x="8246467" y="3484860"/>
            <a:ext cx="2964993" cy="867172"/>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14213D"/>
                </a:solidFill>
                <a:latin typeface="Be Vietnam Pro" pitchFamily="34" charset="0"/>
                <a:ea typeface="Be Vietnam Pro" pitchFamily="34" charset="-122"/>
                <a:cs typeface="Be Vietnam Pro" pitchFamily="34" charset="-120"/>
              </a:rPr>
              <a:t>Code changed without tests or docs? The agent may not stop.</a:t>
            </a:r>
            <a:endParaRPr lang="en-US" sz="1700" dirty="0"/>
          </a:p>
        </p:txBody>
      </p:sp>
      <p:sp>
        <p:nvSpPr>
          <p:cNvPr id="23" name="Text 16"/>
          <p:cNvSpPr/>
          <p:nvPr/>
        </p:nvSpPr>
        <p:spPr>
          <a:xfrm>
            <a:off x="812800" y="6202759"/>
            <a:ext cx="6295073"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6A7179"/>
                </a:solidFill>
                <a:latin typeface="Be Vietnam Pro" pitchFamily="34" charset="0"/>
                <a:ea typeface="Be Vietnam Pro" pitchFamily="34" charset="-122"/>
                <a:cs typeface="Be Vietnam Pro" pitchFamily="34" charset="-120"/>
              </a:rPr>
              <a:t>11 / 14 · Guardrails are code (hooks), not just advice · 57 tests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2"/>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14213D"/>
                </a:solidFill>
                <a:latin typeface="Be Vietnam Pro" pitchFamily="34" charset="0"/>
                <a:ea typeface="Be Vietnam Pro" pitchFamily="34" charset="-122"/>
                <a:cs typeface="Be Vietnam Pro" pitchFamily="34" charset="-120"/>
              </a:rPr>
              <a:t>Packaged, running and watched</a:t>
            </a:r>
            <a:endParaRPr lang="en-US" sz="4000" dirty="0"/>
          </a:p>
        </p:txBody>
      </p:sp>
      <p:sp>
        <p:nvSpPr>
          <p:cNvPr id="3" name="Shape 1"/>
          <p:cNvSpPr/>
          <p:nvPr/>
        </p:nvSpPr>
        <p:spPr>
          <a:xfrm>
            <a:off x="819150" y="1733550"/>
            <a:ext cx="3356967" cy="2598241"/>
          </a:xfrm>
          <a:prstGeom prst="roundRect">
            <a:avLst>
              <a:gd name="adj" fmla="val 5621"/>
            </a:avLst>
          </a:prstGeom>
          <a:solidFill>
            <a:srgbClr val="FFFDF9"/>
          </a:solidFill>
          <a:ln w="12700">
            <a:solidFill>
              <a:srgbClr val="E4DED3"/>
            </a:solidFill>
            <a:prstDash val="solid"/>
          </a:ln>
        </p:spPr>
      </p:sp>
      <p:sp>
        <p:nvSpPr>
          <p:cNvPr id="4" name="Text 2"/>
          <p:cNvSpPr/>
          <p:nvPr/>
        </p:nvSpPr>
        <p:spPr>
          <a:xfrm>
            <a:off x="1104900" y="2019300"/>
            <a:ext cx="2869031"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E07B24"/>
                </a:solidFill>
                <a:latin typeface="Arial" pitchFamily="34" charset="0"/>
                <a:ea typeface="Arial" pitchFamily="34" charset="-122"/>
                <a:cs typeface="Arial" pitchFamily="34" charset="-120"/>
              </a:rPr>
              <a:t>[icon: Package]</a:t>
            </a:r>
            <a:endParaRPr lang="en-US" sz="1600" dirty="0"/>
          </a:p>
        </p:txBody>
      </p:sp>
      <p:sp>
        <p:nvSpPr>
          <p:cNvPr id="5" name="Text 3"/>
          <p:cNvSpPr/>
          <p:nvPr/>
        </p:nvSpPr>
        <p:spPr>
          <a:xfrm>
            <a:off x="1104900" y="2405360"/>
            <a:ext cx="2869031" cy="375841"/>
          </a:xfrm>
          <a:prstGeom prst="rect">
            <a:avLst/>
          </a:prstGeom>
          <a:noFill/>
          <a:ln/>
        </p:spPr>
        <p:txBody>
          <a:bodyPr wrap="square" lIns="0" tIns="0" rIns="0" bIns="0" rtlCol="0" anchor="t">
            <a:normAutofit/>
          </a:bodyPr>
          <a:lstStyle/>
          <a:p>
            <a:pPr algn="l" indent="0" marL="0">
              <a:lnSpc>
                <a:spcPts val="2760"/>
              </a:lnSpc>
              <a:buNone/>
            </a:pPr>
            <a:r>
              <a:rPr lang="en-US" sz="2300" b="1" dirty="0">
                <a:solidFill>
                  <a:srgbClr val="14213D"/>
                </a:solidFill>
                <a:latin typeface="Be Vietnam Pro" pitchFamily="34" charset="0"/>
                <a:ea typeface="Be Vietnam Pro" pitchFamily="34" charset="-122"/>
                <a:cs typeface="Be Vietnam Pro" pitchFamily="34" charset="-120"/>
              </a:rPr>
              <a:t>Package</a:t>
            </a:r>
            <a:endParaRPr lang="en-US" sz="2300" dirty="0"/>
          </a:p>
        </p:txBody>
      </p:sp>
      <p:sp>
        <p:nvSpPr>
          <p:cNvPr id="6" name="Text 4"/>
          <p:cNvSpPr/>
          <p:nvPr/>
        </p:nvSpPr>
        <p:spPr>
          <a:xfrm>
            <a:off x="1104900" y="2857401"/>
            <a:ext cx="2869031" cy="1214041"/>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3D4657"/>
                </a:solidFill>
                <a:latin typeface="Be Vietnam Pro" pitchFamily="34" charset="0"/>
                <a:ea typeface="Be Vietnam Pro" pitchFamily="34" charset="-122"/>
                <a:cs typeface="Be Vietnam Pro" pitchFamily="34" charset="-120"/>
              </a:rPr>
              <a:t>Docker images, one command to start; database upgraded by migrations</a:t>
            </a:r>
            <a:endParaRPr lang="en-US" sz="1800" dirty="0"/>
          </a:p>
        </p:txBody>
      </p:sp>
      <p:sp>
        <p:nvSpPr>
          <p:cNvPr id="7" name="Shape 5"/>
          <p:cNvSpPr/>
          <p:nvPr/>
        </p:nvSpPr>
        <p:spPr>
          <a:xfrm>
            <a:off x="4417417" y="1733550"/>
            <a:ext cx="3357066" cy="2598241"/>
          </a:xfrm>
          <a:prstGeom prst="roundRect">
            <a:avLst>
              <a:gd name="adj" fmla="val 5621"/>
            </a:avLst>
          </a:prstGeom>
          <a:solidFill>
            <a:srgbClr val="FFFDF9"/>
          </a:solidFill>
          <a:ln w="12700">
            <a:solidFill>
              <a:srgbClr val="E4DED3"/>
            </a:solidFill>
            <a:prstDash val="solid"/>
          </a:ln>
        </p:spPr>
      </p:sp>
      <p:pic>
        <p:nvPicPr>
          <p:cNvPr id="8" name="Image 0" descr="Play">    </p:cNvPr>
          <p:cNvPicPr>
            <a:picLocks noChangeAspect="1"/>
          </p:cNvPicPr>
          <p:nvPr/>
        </p:nvPicPr>
        <p:blipFill>
          <a:blip r:embed="rId1"/>
          <a:srcRect l="0" r="0" t="0" b="0"/>
          <a:stretch/>
        </p:blipFill>
        <p:spPr>
          <a:xfrm>
            <a:off x="4703167" y="2019300"/>
            <a:ext cx="457200" cy="457200"/>
          </a:xfrm>
          <a:prstGeom prst="rect">
            <a:avLst/>
          </a:prstGeom>
        </p:spPr>
      </p:pic>
      <p:sp>
        <p:nvSpPr>
          <p:cNvPr id="9" name="Text 6"/>
          <p:cNvSpPr/>
          <p:nvPr/>
        </p:nvSpPr>
        <p:spPr>
          <a:xfrm>
            <a:off x="4703167" y="2578100"/>
            <a:ext cx="2869133" cy="375841"/>
          </a:xfrm>
          <a:prstGeom prst="rect">
            <a:avLst/>
          </a:prstGeom>
          <a:noFill/>
          <a:ln/>
        </p:spPr>
        <p:txBody>
          <a:bodyPr wrap="square" lIns="0" tIns="0" rIns="0" bIns="0" rtlCol="0" anchor="t">
            <a:normAutofit/>
          </a:bodyPr>
          <a:lstStyle/>
          <a:p>
            <a:pPr algn="l" indent="0" marL="0">
              <a:lnSpc>
                <a:spcPts val="2760"/>
              </a:lnSpc>
              <a:buNone/>
            </a:pPr>
            <a:r>
              <a:rPr lang="en-US" sz="2300" b="1" dirty="0">
                <a:solidFill>
                  <a:srgbClr val="14213D"/>
                </a:solidFill>
                <a:latin typeface="Be Vietnam Pro" pitchFamily="34" charset="0"/>
                <a:ea typeface="Be Vietnam Pro" pitchFamily="34" charset="-122"/>
                <a:cs typeface="Be Vietnam Pro" pitchFamily="34" charset="-120"/>
              </a:rPr>
              <a:t>Operate</a:t>
            </a:r>
            <a:endParaRPr lang="en-US" sz="2300" dirty="0"/>
          </a:p>
        </p:txBody>
      </p:sp>
      <p:sp>
        <p:nvSpPr>
          <p:cNvPr id="10" name="Text 7"/>
          <p:cNvSpPr/>
          <p:nvPr/>
        </p:nvSpPr>
        <p:spPr>
          <a:xfrm>
            <a:off x="4703167" y="3030141"/>
            <a:ext cx="2869133" cy="916880"/>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3D4657"/>
                </a:solidFill>
                <a:latin typeface="Be Vietnam Pro" pitchFamily="34" charset="0"/>
                <a:ea typeface="Be Vietnam Pro" pitchFamily="34" charset="-122"/>
                <a:cs typeface="Be Vietnam Pro" pitchFamily="34" charset="-120"/>
              </a:rPr>
              <a:t>Health check restarts a sick server; logs capped; safe deploy script</a:t>
            </a:r>
            <a:endParaRPr lang="en-US" sz="1800" dirty="0"/>
          </a:p>
        </p:txBody>
      </p:sp>
      <p:sp>
        <p:nvSpPr>
          <p:cNvPr id="11" name="Shape 8"/>
          <p:cNvSpPr/>
          <p:nvPr/>
        </p:nvSpPr>
        <p:spPr>
          <a:xfrm>
            <a:off x="8015784" y="1733550"/>
            <a:ext cx="3357066" cy="2598241"/>
          </a:xfrm>
          <a:prstGeom prst="roundRect">
            <a:avLst>
              <a:gd name="adj" fmla="val 5621"/>
            </a:avLst>
          </a:prstGeom>
          <a:solidFill>
            <a:srgbClr val="FFFDF9"/>
          </a:solidFill>
          <a:ln w="12700">
            <a:solidFill>
              <a:srgbClr val="E4DED3"/>
            </a:solidFill>
            <a:prstDash val="solid"/>
          </a:ln>
        </p:spPr>
      </p:sp>
      <p:pic>
        <p:nvPicPr>
          <p:cNvPr id="12" name="Image 1" descr="Activity">    </p:cNvPr>
          <p:cNvPicPr>
            <a:picLocks noChangeAspect="1"/>
          </p:cNvPicPr>
          <p:nvPr/>
        </p:nvPicPr>
        <p:blipFill>
          <a:blip r:embed="rId2"/>
          <a:srcRect l="0" r="0" t="0" b="0"/>
          <a:stretch/>
        </p:blipFill>
        <p:spPr>
          <a:xfrm>
            <a:off x="8301534" y="2019300"/>
            <a:ext cx="457200" cy="457200"/>
          </a:xfrm>
          <a:prstGeom prst="rect">
            <a:avLst/>
          </a:prstGeom>
        </p:spPr>
      </p:pic>
      <p:sp>
        <p:nvSpPr>
          <p:cNvPr id="13" name="Text 9"/>
          <p:cNvSpPr/>
          <p:nvPr/>
        </p:nvSpPr>
        <p:spPr>
          <a:xfrm>
            <a:off x="8301534" y="2578100"/>
            <a:ext cx="2869133" cy="375841"/>
          </a:xfrm>
          <a:prstGeom prst="rect">
            <a:avLst/>
          </a:prstGeom>
          <a:noFill/>
          <a:ln/>
        </p:spPr>
        <p:txBody>
          <a:bodyPr wrap="square" lIns="0" tIns="0" rIns="0" bIns="0" rtlCol="0" anchor="t">
            <a:normAutofit/>
          </a:bodyPr>
          <a:lstStyle/>
          <a:p>
            <a:pPr algn="l" indent="0" marL="0">
              <a:lnSpc>
                <a:spcPts val="2760"/>
              </a:lnSpc>
              <a:buNone/>
            </a:pPr>
            <a:r>
              <a:rPr lang="en-US" sz="2300" b="1" dirty="0">
                <a:solidFill>
                  <a:srgbClr val="14213D"/>
                </a:solidFill>
                <a:latin typeface="Be Vietnam Pro" pitchFamily="34" charset="0"/>
                <a:ea typeface="Be Vietnam Pro" pitchFamily="34" charset="-122"/>
                <a:cs typeface="Be Vietnam Pro" pitchFamily="34" charset="-120"/>
              </a:rPr>
              <a:t>Monitor</a:t>
            </a:r>
            <a:endParaRPr lang="en-US" sz="2300" dirty="0"/>
          </a:p>
        </p:txBody>
      </p:sp>
      <p:sp>
        <p:nvSpPr>
          <p:cNvPr id="14" name="Text 10"/>
          <p:cNvSpPr/>
          <p:nvPr/>
        </p:nvSpPr>
        <p:spPr>
          <a:xfrm>
            <a:off x="8301534" y="3030141"/>
            <a:ext cx="2869133" cy="916880"/>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3D4657"/>
                </a:solidFill>
                <a:latin typeface="Be Vietnam Pro" pitchFamily="34" charset="0"/>
                <a:ea typeface="Be Vietnam Pro" pitchFamily="34" charset="-122"/>
                <a:cs typeface="Be Vietnam Pro" pitchFamily="34" charset="-120"/>
              </a:rPr>
              <a:t>Metrics: requests, errors, speed, AI vs fallback answers</a:t>
            </a:r>
            <a:endParaRPr lang="en-US" sz="1800" dirty="0"/>
          </a:p>
        </p:txBody>
      </p:sp>
      <p:sp>
        <p:nvSpPr>
          <p:cNvPr id="15" name="Text 11"/>
          <p:cNvSpPr/>
          <p:nvPr/>
        </p:nvSpPr>
        <p:spPr>
          <a:xfrm>
            <a:off x="812800" y="4693741"/>
            <a:ext cx="10464800" cy="3683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3D4657"/>
                </a:solidFill>
                <a:latin typeface="Be Vietnam Pro" pitchFamily="34" charset="0"/>
                <a:ea typeface="Be Vietnam Pro" pitchFamily="34" charset="-122"/>
                <a:cs typeface="Be Vietnam Pro" pitchFamily="34" charset="-120"/>
              </a:rPr>
              <a:t>Every request gets an </a:t>
            </a:r>
            <a:r>
              <a:rPr lang="en-US" sz="2000" b="1" dirty="0">
                <a:solidFill>
                  <a:srgbClr val="14213D"/>
                </a:solidFill>
                <a:latin typeface="Be Vietnam Pro" pitchFamily="34" charset="0"/>
                <a:ea typeface="Be Vietnam Pro" pitchFamily="34" charset="-122"/>
                <a:cs typeface="Be Vietnam Pro" pitchFamily="34" charset="-120"/>
              </a:rPr>
              <a:t>ID</a:t>
            </a:r>
            <a:r>
              <a:rPr lang="en-US" sz="2000" dirty="0">
                <a:solidFill>
                  <a:srgbClr val="3D4657"/>
                </a:solidFill>
                <a:latin typeface="Be Vietnam Pro" pitchFamily="34" charset="0"/>
                <a:ea typeface="Be Vietnam Pro" pitchFamily="34" charset="-122"/>
                <a:cs typeface="Be Vietnam Pro" pitchFamily="34" charset="-120"/>
              </a:rPr>
              <a:t>, so one error can be traced in the logs.</a:t>
            </a:r>
            <a:endParaRPr lang="en-US" sz="2000" dirty="0"/>
          </a:p>
        </p:txBody>
      </p:sp>
      <p:sp>
        <p:nvSpPr>
          <p:cNvPr id="16" name="Text 12"/>
          <p:cNvSpPr/>
          <p:nvPr/>
        </p:nvSpPr>
        <p:spPr>
          <a:xfrm>
            <a:off x="812800" y="6202759"/>
            <a:ext cx="6851333"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6A7179"/>
                </a:solidFill>
                <a:latin typeface="Be Vietnam Pro" pitchFamily="34" charset="0"/>
                <a:ea typeface="Be Vietnam Pro" pitchFamily="34" charset="-122"/>
                <a:cs typeface="Be Vietnam Pro" pitchFamily="34" charset="-120"/>
              </a:rPr>
              <a:t>12 / 14 · /api/health · /api/metrics (protected) · scripts/monitor.sh</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13D"/>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695920"/>
          </a:xfrm>
          <a:prstGeom prst="rect">
            <a:avLst/>
          </a:prstGeom>
          <a:noFill/>
          <a:ln/>
        </p:spPr>
        <p:txBody>
          <a:bodyPr wrap="square" lIns="0" tIns="0" rIns="0" bIns="0" rtlCol="0" anchor="t">
            <a:normAutofit/>
          </a:bodyPr>
          <a:lstStyle/>
          <a:p>
            <a:pPr algn="l" indent="0" marL="0">
              <a:lnSpc>
                <a:spcPts val="5280"/>
              </a:lnSpc>
              <a:buNone/>
            </a:pPr>
            <a:r>
              <a:rPr lang="en-US" sz="4800" b="1" i="0" dirty="0">
                <a:solidFill>
                  <a:srgbClr val="F7F6F2"/>
                </a:solidFill>
                <a:latin typeface="Be Vietnam Pro" pitchFamily="34" charset="0"/>
                <a:ea typeface="Be Vietnam Pro" pitchFamily="34" charset="-122"/>
                <a:cs typeface="Be Vietnam Pro" pitchFamily="34" charset="-120"/>
              </a:rPr>
              <a:t>Results</a:t>
            </a:r>
            <a:endParaRPr lang="en-US" sz="4800" dirty="0"/>
          </a:p>
        </p:txBody>
      </p:sp>
      <p:sp>
        <p:nvSpPr>
          <p:cNvPr id="3" name="Text 1"/>
          <p:cNvSpPr/>
          <p:nvPr/>
        </p:nvSpPr>
        <p:spPr>
          <a:xfrm>
            <a:off x="812800" y="1889720"/>
            <a:ext cx="2563876" cy="660400"/>
          </a:xfrm>
          <a:prstGeom prst="rect">
            <a:avLst/>
          </a:prstGeom>
          <a:noFill/>
          <a:ln/>
        </p:spPr>
        <p:txBody>
          <a:bodyPr wrap="square" lIns="0" tIns="0" rIns="0" bIns="0" rtlCol="0" anchor="t">
            <a:normAutofit/>
          </a:bodyPr>
          <a:lstStyle/>
          <a:p>
            <a:pPr algn="l" indent="0" marL="0">
              <a:lnSpc>
                <a:spcPts val="5000"/>
              </a:lnSpc>
              <a:buNone/>
            </a:pPr>
            <a:r>
              <a:rPr lang="en-US" sz="5000" b="1" dirty="0">
                <a:solidFill>
                  <a:srgbClr val="F2A541"/>
                </a:solidFill>
                <a:latin typeface="Be Vietnam Pro" pitchFamily="34" charset="0"/>
                <a:ea typeface="Be Vietnam Pro" pitchFamily="34" charset="-122"/>
                <a:cs typeface="Be Vietnam Pro" pitchFamily="34" charset="-120"/>
              </a:rPr>
              <a:t>Live</a:t>
            </a:r>
            <a:endParaRPr lang="en-US" sz="5000" dirty="0"/>
          </a:p>
        </p:txBody>
      </p:sp>
      <p:sp>
        <p:nvSpPr>
          <p:cNvPr id="4" name="Text 2"/>
          <p:cNvSpPr/>
          <p:nvPr/>
        </p:nvSpPr>
        <p:spPr>
          <a:xfrm>
            <a:off x="812800" y="2600920"/>
            <a:ext cx="2563876" cy="586581"/>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C9D3E6"/>
                </a:solidFill>
                <a:latin typeface="Be Vietnam Pro" pitchFamily="34" charset="0"/>
                <a:ea typeface="Be Vietnam Pro" pitchFamily="34" charset="-122"/>
                <a:cs typeface="Be Vietnam Pro" pitchFamily="34" charset="-120"/>
              </a:rPr>
              <a:t>koshi.huynhca.com, used by our team</a:t>
            </a:r>
            <a:endParaRPr lang="en-US" sz="1700" dirty="0"/>
          </a:p>
        </p:txBody>
      </p:sp>
      <p:sp>
        <p:nvSpPr>
          <p:cNvPr id="5" name="Text 3"/>
          <p:cNvSpPr/>
          <p:nvPr/>
        </p:nvSpPr>
        <p:spPr>
          <a:xfrm>
            <a:off x="3505200" y="1889720"/>
            <a:ext cx="2563876" cy="660400"/>
          </a:xfrm>
          <a:prstGeom prst="rect">
            <a:avLst/>
          </a:prstGeom>
          <a:noFill/>
          <a:ln/>
        </p:spPr>
        <p:txBody>
          <a:bodyPr wrap="square" lIns="0" tIns="0" rIns="0" bIns="0" rtlCol="0" anchor="t">
            <a:normAutofit/>
          </a:bodyPr>
          <a:lstStyle/>
          <a:p>
            <a:pPr algn="l" indent="0" marL="0">
              <a:lnSpc>
                <a:spcPts val="5000"/>
              </a:lnSpc>
              <a:buNone/>
            </a:pPr>
            <a:r>
              <a:rPr lang="en-US" sz="5000" b="1" dirty="0">
                <a:solidFill>
                  <a:srgbClr val="F2A541"/>
                </a:solidFill>
                <a:latin typeface="Be Vietnam Pro" pitchFamily="34" charset="0"/>
                <a:ea typeface="Be Vietnam Pro" pitchFamily="34" charset="-122"/>
                <a:cs typeface="Be Vietnam Pro" pitchFamily="34" charset="-120"/>
              </a:rPr>
              <a:t>684</a:t>
            </a:r>
            <a:endParaRPr lang="en-US" sz="5000" dirty="0"/>
          </a:p>
        </p:txBody>
      </p:sp>
      <p:sp>
        <p:nvSpPr>
          <p:cNvPr id="6" name="Text 4"/>
          <p:cNvSpPr/>
          <p:nvPr/>
        </p:nvSpPr>
        <p:spPr>
          <a:xfrm>
            <a:off x="3505200" y="2600920"/>
            <a:ext cx="2563876" cy="586581"/>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C9D3E6"/>
                </a:solidFill>
                <a:latin typeface="Be Vietnam Pro" pitchFamily="34" charset="0"/>
                <a:ea typeface="Be Vietnam Pro" pitchFamily="34" charset="-122"/>
                <a:cs typeface="Be Vietnam Pro" pitchFamily="34" charset="-120"/>
              </a:rPr>
              <a:t>automated tests, all passing</a:t>
            </a:r>
            <a:endParaRPr lang="en-US" sz="1700" dirty="0"/>
          </a:p>
        </p:txBody>
      </p:sp>
      <p:sp>
        <p:nvSpPr>
          <p:cNvPr id="7" name="Text 5"/>
          <p:cNvSpPr/>
          <p:nvPr/>
        </p:nvSpPr>
        <p:spPr>
          <a:xfrm>
            <a:off x="6197600" y="1889720"/>
            <a:ext cx="2563876" cy="660400"/>
          </a:xfrm>
          <a:prstGeom prst="rect">
            <a:avLst/>
          </a:prstGeom>
          <a:noFill/>
          <a:ln/>
        </p:spPr>
        <p:txBody>
          <a:bodyPr wrap="square" lIns="0" tIns="0" rIns="0" bIns="0" rtlCol="0" anchor="t">
            <a:normAutofit/>
          </a:bodyPr>
          <a:lstStyle/>
          <a:p>
            <a:pPr algn="l" indent="0" marL="0">
              <a:lnSpc>
                <a:spcPts val="5000"/>
              </a:lnSpc>
              <a:buNone/>
            </a:pPr>
            <a:r>
              <a:rPr lang="en-US" sz="5000" b="1" dirty="0">
                <a:solidFill>
                  <a:srgbClr val="F2A541"/>
                </a:solidFill>
                <a:latin typeface="Be Vietnam Pro" pitchFamily="34" charset="0"/>
                <a:ea typeface="Be Vietnam Pro" pitchFamily="34" charset="-122"/>
                <a:cs typeface="Be Vietnam Pro" pitchFamily="34" charset="-120"/>
              </a:rPr>
              <a:t>13 / 14</a:t>
            </a:r>
            <a:endParaRPr lang="en-US" sz="5000" dirty="0"/>
          </a:p>
        </p:txBody>
      </p:sp>
      <p:sp>
        <p:nvSpPr>
          <p:cNvPr id="8" name="Text 6"/>
          <p:cNvSpPr/>
          <p:nvPr/>
        </p:nvSpPr>
        <p:spPr>
          <a:xfrm>
            <a:off x="6197600" y="2600920"/>
            <a:ext cx="2563876" cy="586581"/>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C9D3E6"/>
                </a:solidFill>
                <a:latin typeface="Be Vietnam Pro" pitchFamily="34" charset="0"/>
                <a:ea typeface="Be Vietnam Pro" pitchFamily="34" charset="-122"/>
                <a:cs typeface="Be Vietnam Pro" pitchFamily="34" charset="-120"/>
              </a:rPr>
              <a:t>failed checks on the live site</a:t>
            </a:r>
            <a:endParaRPr lang="en-US" sz="1700" dirty="0"/>
          </a:p>
        </p:txBody>
      </p:sp>
      <p:sp>
        <p:nvSpPr>
          <p:cNvPr id="9" name="Text 7"/>
          <p:cNvSpPr/>
          <p:nvPr/>
        </p:nvSpPr>
        <p:spPr>
          <a:xfrm>
            <a:off x="8890000" y="1889720"/>
            <a:ext cx="2563876" cy="660400"/>
          </a:xfrm>
          <a:prstGeom prst="rect">
            <a:avLst/>
          </a:prstGeom>
          <a:noFill/>
          <a:ln/>
        </p:spPr>
        <p:txBody>
          <a:bodyPr wrap="square" lIns="0" tIns="0" rIns="0" bIns="0" rtlCol="0" anchor="t">
            <a:normAutofit/>
          </a:bodyPr>
          <a:lstStyle/>
          <a:p>
            <a:pPr algn="l" indent="0" marL="0">
              <a:lnSpc>
                <a:spcPts val="5000"/>
              </a:lnSpc>
              <a:buNone/>
            </a:pPr>
            <a:r>
              <a:rPr lang="en-US" sz="5000" b="1" dirty="0">
                <a:solidFill>
                  <a:srgbClr val="F2A541"/>
                </a:solidFill>
                <a:latin typeface="Be Vietnam Pro" pitchFamily="34" charset="0"/>
                <a:ea typeface="Be Vietnam Pro" pitchFamily="34" charset="-122"/>
                <a:cs typeface="Be Vietnam Pro" pitchFamily="34" charset="-120"/>
              </a:rPr>
              <a:t>2</a:t>
            </a:r>
            <a:endParaRPr lang="en-US" sz="5000" dirty="0"/>
          </a:p>
        </p:txBody>
      </p:sp>
      <p:sp>
        <p:nvSpPr>
          <p:cNvPr id="10" name="Text 8"/>
          <p:cNvSpPr/>
          <p:nvPr/>
        </p:nvSpPr>
        <p:spPr>
          <a:xfrm>
            <a:off x="8890000" y="2600920"/>
            <a:ext cx="2563876" cy="867172"/>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C9D3E6"/>
                </a:solidFill>
                <a:latin typeface="Be Vietnam Pro" pitchFamily="34" charset="0"/>
                <a:ea typeface="Be Vietnam Pro" pitchFamily="34" charset="-122"/>
                <a:cs typeface="Be Vietnam Pro" pitchFamily="34" charset="-120"/>
              </a:rPr>
              <a:t>times the guardrails stopped the agent itself</a:t>
            </a:r>
            <a:endParaRPr lang="en-US" sz="1700" dirty="0"/>
          </a:p>
        </p:txBody>
      </p:sp>
      <p:sp>
        <p:nvSpPr>
          <p:cNvPr id="11" name="Text 9"/>
          <p:cNvSpPr/>
          <p:nvPr/>
        </p:nvSpPr>
        <p:spPr>
          <a:xfrm>
            <a:off x="812800" y="3849092"/>
            <a:ext cx="10464800" cy="642541"/>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F7F6F2"/>
                </a:solidFill>
                <a:latin typeface="Be Vietnam Pro" pitchFamily="34" charset="0"/>
                <a:ea typeface="Be Vietnam Pro" pitchFamily="34" charset="-122"/>
                <a:cs typeface="Be Vietnam Pro" pitchFamily="34" charset="-120"/>
              </a:rPr>
              <a:t>5 AI features answered by the real model in the live test · health, metrics and request IDs in production</a:t>
            </a:r>
            <a:endParaRPr lang="en-US" sz="1800" dirty="0"/>
          </a:p>
        </p:txBody>
      </p:sp>
      <p:sp>
        <p:nvSpPr>
          <p:cNvPr id="12" name="Text 10"/>
          <p:cNvSpPr/>
          <p:nvPr/>
        </p:nvSpPr>
        <p:spPr>
          <a:xfrm>
            <a:off x="812800" y="6202759"/>
            <a:ext cx="492919"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9FB0CF"/>
                </a:solidFill>
                <a:latin typeface="Be Vietnam Pro" pitchFamily="34" charset="0"/>
                <a:ea typeface="Be Vietnam Pro" pitchFamily="34" charset="-122"/>
                <a:cs typeface="Be Vietnam Pro" pitchFamily="34" charset="-120"/>
              </a:rPr>
              <a:t>NUM</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07B24"/>
        </a:solidFill>
      </p:bgPr>
    </p:bg>
    <p:spTree>
      <p:nvGrpSpPr>
        <p:cNvPr id="1" name=""/>
        <p:cNvGrpSpPr/>
        <p:nvPr/>
      </p:nvGrpSpPr>
      <p:grpSpPr>
        <a:xfrm>
          <a:off x="0" y="0"/>
          <a:ext cx="0" cy="0"/>
          <a:chOff x="0" y="0"/>
          <a:chExt cx="0" cy="0"/>
        </a:xfrm>
      </p:grpSpPr>
      <p:sp>
        <p:nvSpPr>
          <p:cNvPr id="2" name="Text 0"/>
          <p:cNvSpPr/>
          <p:nvPr>
            <p:ph type="title"/>
          </p:nvPr>
        </p:nvSpPr>
        <p:spPr>
          <a:xfrm>
            <a:off x="812800" y="2197398"/>
            <a:ext cx="10883392" cy="1025525"/>
          </a:xfrm>
          <a:prstGeom prst="rect">
            <a:avLst/>
          </a:prstGeom>
          <a:noFill/>
          <a:ln/>
        </p:spPr>
        <p:txBody>
          <a:bodyPr wrap="square" lIns="0" tIns="0" rIns="0" bIns="0" rtlCol="0" anchor="t">
            <a:normAutofit/>
          </a:bodyPr>
          <a:lstStyle/>
          <a:p>
            <a:pPr algn="l" indent="0" marL="0">
              <a:lnSpc>
                <a:spcPts val="7875"/>
              </a:lnSpc>
              <a:buNone/>
            </a:pPr>
            <a:r>
              <a:rPr lang="en-US" sz="7500" b="1" i="0" dirty="0">
                <a:solidFill>
                  <a:srgbClr val="14213D"/>
                </a:solidFill>
                <a:latin typeface="Be Vietnam Pro" pitchFamily="34" charset="0"/>
                <a:ea typeface="Be Vietnam Pro" pitchFamily="34" charset="-122"/>
                <a:cs typeface="Be Vietnam Pro" pitchFamily="34" charset="-120"/>
              </a:rPr>
              <a:t>Thank you!</a:t>
            </a:r>
            <a:endParaRPr lang="en-US" sz="7500" dirty="0"/>
          </a:p>
        </p:txBody>
      </p:sp>
      <p:sp>
        <p:nvSpPr>
          <p:cNvPr id="3" name="Text 1"/>
          <p:cNvSpPr/>
          <p:nvPr/>
        </p:nvSpPr>
        <p:spPr>
          <a:xfrm>
            <a:off x="812800" y="3502323"/>
            <a:ext cx="10883392" cy="52318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14213D"/>
                </a:solidFill>
                <a:latin typeface="Be Vietnam Pro" pitchFamily="34" charset="0"/>
                <a:ea typeface="Be Vietnam Pro" pitchFamily="34" charset="-122"/>
                <a:cs typeface="Be Vietnam Pro" pitchFamily="34" charset="-120"/>
              </a:rPr>
              <a:t>Questions &amp; live demo</a:t>
            </a:r>
            <a:endParaRPr lang="en-US" sz="2800" dirty="0"/>
          </a:p>
        </p:txBody>
      </p:sp>
      <p:sp>
        <p:nvSpPr>
          <p:cNvPr id="4" name="Text 2"/>
          <p:cNvSpPr/>
          <p:nvPr/>
        </p:nvSpPr>
        <p:spPr>
          <a:xfrm>
            <a:off x="812800" y="4304903"/>
            <a:ext cx="10883392" cy="3810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14213D"/>
                </a:solidFill>
                <a:latin typeface="Be Vietnam Pro" pitchFamily="34" charset="0"/>
                <a:ea typeface="Be Vietnam Pro" pitchFamily="34" charset="-122"/>
                <a:cs typeface="Be Vietnam Pro" pitchFamily="34" charset="-120"/>
              </a:rPr>
              <a:t>Phạm Văn Huynh · Đàm Đức Đôn · Phạm Minh Tú — Computer Engineering K23A</a:t>
            </a:r>
            <a:endParaRPr lang="en-US" sz="2000" dirty="0"/>
          </a:p>
        </p:txBody>
      </p:sp>
    </p:spTree>
  </p:cSld>
  <p:clrMapOvr>
    <a:masterClrMapping/>
  </p:clrMapOvr>
</p:sld>
</file>

<file path=ppt/theme/theme1.xml><?xml version="1.0" encoding="utf-8"?>
<a:theme xmlns:a="http://schemas.openxmlformats.org/drawingml/2006/main" name="A Team Project Management System with Integrated AI">
  <a:themeElements>
    <a:clrScheme name="A Team Project Management System with Integrated AI">
      <a:dk1>
        <a:srgbClr val="14213D"/>
      </a:dk1>
      <a:lt1>
        <a:srgbClr val="F7F6F2"/>
      </a:lt1>
      <a:dk2>
        <a:srgbClr val="4D566A"/>
      </a:dk2>
      <a:lt2>
        <a:srgbClr val="E0E1E0"/>
      </a:lt2>
      <a:accent1>
        <a:srgbClr val="F2A541"/>
      </a:accent1>
      <a:accent2>
        <a:srgbClr val="1D4ED8"/>
      </a:accent2>
      <a:accent3>
        <a:srgbClr val="9FB0CF"/>
      </a:accent3>
      <a:accent4>
        <a:srgbClr val="E07B24"/>
      </a:accent4>
      <a:accent5>
        <a:srgbClr val="C2410C"/>
      </a:accent5>
      <a:accent6>
        <a:srgbClr val="15803D"/>
      </a:accent6>
      <a:hlink>
        <a:srgbClr val="0563C1"/>
      </a:hlink>
      <a:folHlink>
        <a:srgbClr val="954F72"/>
      </a:folHlink>
    </a:clrScheme>
    <a:fontScheme name="A Team Project Management System with Integrated AI">
      <a:majorFont>
        <a:latin typeface="Be Vietnam Pr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e Vietnam Pr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Team Project Management System with Integrated AI</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Be Vietnam Pro
Copyright 2021 The Be Vietnam Pro Project Authors (https://github.com/bettergui/BeVietnamPro),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2026-10-29T15:15:04Z</dcterms:created>
  <dcterms:modified xsi:type="dcterms:W3CDTF">2026-10-29T15:15:04Z</dcterms:modified>
</cp:coreProperties>
</file>