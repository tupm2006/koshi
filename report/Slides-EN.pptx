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Be Vietnam Pro" pitchFamily="34"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Huynh, Đôn and Tú. Our project is a project management system built for small teams like ours, with Kanban, Scrum and an AI assistant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own team had this problem. We tracked work in chat and spreadsheets, lost tasks, and had no idea who was blocked. Jira and Trello help, but they are heavy, need the internet all the time, and charge for Scrum reports and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built a web app around four ideas. Everything can be done from the keyboard. It supports both Kanban and Scrum. An AI assistant does the boring management writing. And it keeps working when the network drops, because data is saved in the browser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account has no power by itself. Power comes from the project: whoever creates a project is its PM, invited people are Members once they accept. The same student can lead one project and be a member of another. And the server enforces this on every request, not just the buttons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screen. Four columns, one card per task. Each card shows the owner, priority and deadline, and cards are sorted by deadline so overdue work is never buried. You can do everything with the keyboard: move with h j k l, press Space to change status, n for a new task. The flame icon means the task is on the critical path, which I will explain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 task shows everything about it. A task can have several people. Discussion happens here, with mentions and replies, so nothing is lost in chat. When a task is finished you can attach proof, like a screenshot. And the history shows every change and who made it, which helps a lot when several people edit the same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supervisor suggested supporting Scrum, so we did. Work is split into sprints of about two weeks. A sprint is first planned: the PM pulls tasks from the backlog. When it starts, the system remembers how many points the team promised. When it ends, anything unfinished goes to the next sprint or back to the backlog, nothing is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charts tell the team how the sprint is going. Burndown: how much work is left each day compared with the ideal straight line. Velocity: how many points we promised and how many we actually finished, so the next promise is realistic. And at the end, the AI writes a retrospective from the sprint's real numbers: what went well, what to improve and concrete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AI features. Give it the board and it writes the weekly report. Paste meeting notes and it extracts tasks, owners and decisions. Describe a new task and it suggests who should take it, based on skills and current workload. Give it a big goal and it breaks it into ordered sub-tasks. And the sprint retrospective. We use a model on Groq. If the AI service fails, a rule-based answer from the project data is returned instead, so the feature never crashes. Answers always come back in the language of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local-first. Every change goes to the browser's own database first, so the screen reacts instantly, then it is sent to the server. If you lose the connection on a personal project you just keep working. On a shared project we switch to read-only, because two people editing offline would overwrite each other and we chose safety over cleverness.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it is a classic three-part system. The browser runs a Vue 3 app and keeps a local copy of the project. The server is Python with FastAPI, about fifty endpoints. Data lives in MySQL, and the server calls the AI model on Groq. Everything runs in Docker containers, and a Cloudflare tunnel publishes it on the internet without opening any port on our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took testing seriously. 177 tests on the server, 442 on the interface, and a script that checks 32 things on the live website, including the AI. We even tested our tests: we broke the code on purpose and made sure a test failed. Testing and review found 53 issues, each recorded with its cause. My favourite: the AI task splitter never actually called the AI, it returned the same template every time. Only testing against the real model revealed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live on the internet at koshi dot huynhca dot com, and our team tested it there. Everything we planned works: roles per project, Kanban, Scrum, the five AI features, and both languages. Next we would like teams to edit offline too, build a mobile app, and link tasks to Git commits. Now a short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are happy to answer questions, and we can show the live system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58800"/>
          </a:xfrm>
          <a:prstGeom prst="rect">
            <a:avLst/>
          </a:prstGeom>
          <a:noFill/>
          <a:ln/>
        </p:spPr>
        <p:txBody>
          <a:bodyPr wrap="square" lIns="0" tIns="0" rIns="0" bIns="0" rtlCol="0" anchor="t"/>
          <a:lstStyle>
            <a:lvl1pPr algn="l" indent="0" marL="0">
              <a:lnSpc>
                <a:spcPct val="115000"/>
              </a:lnSpc>
              <a:buNone/>
              <a:defRPr lang="en-US" sz="40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676400"/>
            <a:ext cx="10566400" cy="436880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58800"/>
          </a:xfrm>
          <a:prstGeom prst="rect">
            <a:avLst/>
          </a:prstGeom>
          <a:noFill/>
          <a:ln/>
        </p:spPr>
        <p:txBody>
          <a:bodyPr wrap="square" lIns="0" tIns="0" rIns="0" bIns="0" rtlCol="0" anchor="t"/>
          <a:lstStyle>
            <a:lvl1pPr algn="l" indent="0" marL="0">
              <a:lnSpc>
                <a:spcPct val="115000"/>
              </a:lnSpc>
              <a:buNone/>
              <a:defRPr lang="en-US" sz="40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676400"/>
            <a:ext cx="10566400" cy="436880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e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jpe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b="1" spc="100" kern="0" dirty="0">
                <a:solidFill>
                  <a:srgbClr val="F2A541"/>
                </a:solidFill>
                <a:latin typeface="Be Vietnam Pro" pitchFamily="34" charset="0"/>
                <a:ea typeface="Be Vietnam Pro" pitchFamily="34" charset="-122"/>
                <a:cs typeface="Be Vietnam Pro" pitchFamily="34" charset="-120"/>
              </a:rPr>
              <a:t>COURSE PROJECT · COMPUTER ENGINEERING K23A</a:t>
            </a:r>
            <a:endParaRPr lang="en-US" sz="1800" dirty="0"/>
          </a:p>
        </p:txBody>
      </p:sp>
      <p:sp>
        <p:nvSpPr>
          <p:cNvPr id="3" name="Text 1"/>
          <p:cNvSpPr/>
          <p:nvPr>
            <p:ph type="title"/>
          </p:nvPr>
        </p:nvSpPr>
        <p:spPr>
          <a:xfrm>
            <a:off x="812800" y="1386780"/>
            <a:ext cx="9810750" cy="226556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7F6F2"/>
                </a:solidFill>
                <a:latin typeface="Be Vietnam Pro" pitchFamily="34" charset="0"/>
                <a:ea typeface="Be Vietnam Pro" pitchFamily="34" charset="-122"/>
                <a:cs typeface="Be Vietnam Pro" pitchFamily="34" charset="-120"/>
              </a:rPr>
              <a:t>A Team Project Management System with Integrated AI</a:t>
            </a:r>
            <a:endParaRPr lang="en-US" sz="5600" dirty="0"/>
          </a:p>
        </p:txBody>
      </p:sp>
      <p:sp>
        <p:nvSpPr>
          <p:cNvPr id="4" name="Text 2"/>
          <p:cNvSpPr/>
          <p:nvPr/>
        </p:nvSpPr>
        <p:spPr>
          <a:xfrm>
            <a:off x="812800" y="3880941"/>
            <a:ext cx="9156700" cy="807641"/>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D3E6"/>
                </a:solidFill>
                <a:latin typeface="Be Vietnam Pro" pitchFamily="34" charset="0"/>
                <a:ea typeface="Be Vietnam Pro" pitchFamily="34" charset="-122"/>
                <a:cs typeface="Be Vietnam Pro" pitchFamily="34" charset="-120"/>
              </a:rPr>
              <a:t>Kanban + Scrum + AI assistant, usable from the keyboard and even offline</a:t>
            </a:r>
            <a:endParaRPr lang="en-US" sz="2200" dirty="0"/>
          </a:p>
        </p:txBody>
      </p:sp>
      <p:sp>
        <p:nvSpPr>
          <p:cNvPr id="5" name="Text 3"/>
          <p:cNvSpPr/>
          <p:nvPr/>
        </p:nvSpPr>
        <p:spPr>
          <a:xfrm>
            <a:off x="812800" y="5293420"/>
            <a:ext cx="723352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7F6F2"/>
                </a:solidFill>
                <a:latin typeface="Be Vietnam Pro" pitchFamily="34" charset="0"/>
                <a:ea typeface="Be Vietnam Pro" pitchFamily="34" charset="-122"/>
                <a:cs typeface="Be Vietnam Pro" pitchFamily="34" charset="-120"/>
              </a:rPr>
              <a:t>Phạm Văn Huynh · Đàm Đức Đôn · Phạm Minh Tú</a:t>
            </a:r>
            <a:endParaRPr lang="en-US" sz="2000" dirty="0"/>
          </a:p>
        </p:txBody>
      </p:sp>
      <p:sp>
        <p:nvSpPr>
          <p:cNvPr id="6" name="Text 4"/>
          <p:cNvSpPr/>
          <p:nvPr/>
        </p:nvSpPr>
        <p:spPr>
          <a:xfrm>
            <a:off x="812800" y="5725220"/>
            <a:ext cx="6208774"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E6"/>
                </a:solidFill>
                <a:latin typeface="Be Vietnam Pro" pitchFamily="34" charset="0"/>
                <a:ea typeface="Be Vietnam Pro" pitchFamily="34" charset="-122"/>
                <a:cs typeface="Be Vietnam Pro" pitchFamily="34" charset="-120"/>
              </a:rPr>
              <a:t>Supervisor: Hà Thị Thanh</a:t>
            </a:r>
            <a:endParaRPr lang="en-US" sz="1800" dirty="0"/>
          </a:p>
        </p:txBody>
      </p:sp>
      <p:sp>
        <p:nvSpPr>
          <p:cNvPr id="7" name="Text 5"/>
          <p:cNvSpPr/>
          <p:nvPr/>
        </p:nvSpPr>
        <p:spPr>
          <a:xfrm>
            <a:off x="9812457" y="5725220"/>
            <a:ext cx="1566743" cy="34538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C9D3E6"/>
                </a:solidFill>
                <a:latin typeface="Be Vietnam Pro" pitchFamily="34" charset="0"/>
                <a:ea typeface="Be Vietnam Pro" pitchFamily="34" charset="-122"/>
                <a:cs typeface="Be Vietnam Pro" pitchFamily="34" charset="-120"/>
              </a:rPr>
              <a:t>ICTU ·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4213D"/>
                </a:solidFill>
                <a:latin typeface="Be Vietnam Pro" pitchFamily="34" charset="0"/>
                <a:ea typeface="Be Vietnam Pro" pitchFamily="34" charset="-122"/>
                <a:cs typeface="Be Vietnam Pro" pitchFamily="34" charset="-120"/>
              </a:rPr>
              <a:t>The problem: student teams manage work badly</a:t>
            </a:r>
            <a:endParaRPr lang="en-US" sz="4000" dirty="0"/>
          </a:p>
        </p:txBody>
      </p:sp>
      <p:sp>
        <p:nvSpPr>
          <p:cNvPr id="3" name="Shape 1"/>
          <p:cNvSpPr/>
          <p:nvPr/>
        </p:nvSpPr>
        <p:spPr>
          <a:xfrm>
            <a:off x="819150" y="2343150"/>
            <a:ext cx="3340100" cy="3052961"/>
          </a:xfrm>
          <a:prstGeom prst="roundRect">
            <a:avLst>
              <a:gd name="adj" fmla="val 4784"/>
            </a:avLst>
          </a:prstGeom>
          <a:solidFill>
            <a:srgbClr val="FFFDF9"/>
          </a:solidFill>
          <a:ln w="12700">
            <a:solidFill>
              <a:srgbClr val="E4DED3"/>
            </a:solidFill>
            <a:prstDash val="solid"/>
          </a:ln>
        </p:spPr>
      </p:sp>
      <p:pic>
        <p:nvPicPr>
          <p:cNvPr id="4" name="Image 0" descr="Chat">    </p:cNvPr>
          <p:cNvPicPr>
            <a:picLocks noChangeAspect="1"/>
          </p:cNvPicPr>
          <p:nvPr/>
        </p:nvPicPr>
        <p:blipFill>
          <a:blip r:embed="rId1"/>
          <a:srcRect l="0" r="0" t="0" b="0"/>
          <a:stretch/>
        </p:blipFill>
        <p:spPr>
          <a:xfrm>
            <a:off x="1130300" y="2654300"/>
            <a:ext cx="508000" cy="508000"/>
          </a:xfrm>
          <a:prstGeom prst="rect">
            <a:avLst/>
          </a:prstGeom>
        </p:spPr>
      </p:pic>
      <p:sp>
        <p:nvSpPr>
          <p:cNvPr id="5" name="Text 2"/>
          <p:cNvSpPr/>
          <p:nvPr/>
        </p:nvSpPr>
        <p:spPr>
          <a:xfrm>
            <a:off x="1130300" y="3289300"/>
            <a:ext cx="2799334"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4213D"/>
                </a:solidFill>
                <a:latin typeface="Be Vietnam Pro" pitchFamily="34" charset="0"/>
                <a:ea typeface="Be Vietnam Pro" pitchFamily="34" charset="-122"/>
                <a:cs typeface="Be Vietnam Pro" pitchFamily="34" charset="-120"/>
              </a:rPr>
              <a:t>Chat &amp; Excel</a:t>
            </a:r>
            <a:endParaRPr lang="en-US" sz="2400" dirty="0"/>
          </a:p>
        </p:txBody>
      </p:sp>
      <p:sp>
        <p:nvSpPr>
          <p:cNvPr id="6" name="Text 3"/>
          <p:cNvSpPr/>
          <p:nvPr/>
        </p:nvSpPr>
        <p:spPr>
          <a:xfrm>
            <a:off x="1130300" y="3782020"/>
            <a:ext cx="2799334" cy="1328341"/>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3D4657"/>
                </a:solidFill>
                <a:latin typeface="Be Vietnam Pro" pitchFamily="34" charset="0"/>
                <a:ea typeface="Be Vietnam Pro" pitchFamily="34" charset="-122"/>
                <a:cs typeface="Be Vietnam Pro" pitchFamily="34" charset="-120"/>
              </a:rPr>
              <a:t>Tasks get lost in messages. No status, no deadlines, no owner.</a:t>
            </a:r>
            <a:endParaRPr lang="en-US" sz="1900" dirty="0"/>
          </a:p>
        </p:txBody>
      </p:sp>
      <p:sp>
        <p:nvSpPr>
          <p:cNvPr id="7" name="Shape 4"/>
          <p:cNvSpPr/>
          <p:nvPr/>
        </p:nvSpPr>
        <p:spPr>
          <a:xfrm>
            <a:off x="4425950" y="2343150"/>
            <a:ext cx="3340100" cy="3052961"/>
          </a:xfrm>
          <a:prstGeom prst="roundRect">
            <a:avLst>
              <a:gd name="adj" fmla="val 4784"/>
            </a:avLst>
          </a:prstGeom>
          <a:solidFill>
            <a:srgbClr val="FFFDF9"/>
          </a:solidFill>
          <a:ln w="12700">
            <a:solidFill>
              <a:srgbClr val="E4DED3"/>
            </a:solidFill>
            <a:prstDash val="solid"/>
          </a:ln>
        </p:spPr>
      </p:sp>
      <p:pic>
        <p:nvPicPr>
          <p:cNvPr id="8" name="Image 1" descr="Lock">    </p:cNvPr>
          <p:cNvPicPr>
            <a:picLocks noChangeAspect="1"/>
          </p:cNvPicPr>
          <p:nvPr/>
        </p:nvPicPr>
        <p:blipFill>
          <a:blip r:embed="rId2"/>
          <a:srcRect l="0" r="0" t="0" b="0"/>
          <a:stretch/>
        </p:blipFill>
        <p:spPr>
          <a:xfrm>
            <a:off x="4737100" y="2654300"/>
            <a:ext cx="508000" cy="508000"/>
          </a:xfrm>
          <a:prstGeom prst="rect">
            <a:avLst/>
          </a:prstGeom>
        </p:spPr>
      </p:pic>
      <p:sp>
        <p:nvSpPr>
          <p:cNvPr id="9" name="Text 5"/>
          <p:cNvSpPr/>
          <p:nvPr/>
        </p:nvSpPr>
        <p:spPr>
          <a:xfrm>
            <a:off x="4737100" y="3289300"/>
            <a:ext cx="2799334"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4213D"/>
                </a:solidFill>
                <a:latin typeface="Be Vietnam Pro" pitchFamily="34" charset="0"/>
                <a:ea typeface="Be Vietnam Pro" pitchFamily="34" charset="-122"/>
                <a:cs typeface="Be Vietnam Pro" pitchFamily="34" charset="-120"/>
              </a:rPr>
              <a:t>Big tools</a:t>
            </a:r>
            <a:endParaRPr lang="en-US" sz="2400" dirty="0"/>
          </a:p>
        </p:txBody>
      </p:sp>
      <p:sp>
        <p:nvSpPr>
          <p:cNvPr id="10" name="Text 6"/>
          <p:cNvSpPr/>
          <p:nvPr/>
        </p:nvSpPr>
        <p:spPr>
          <a:xfrm>
            <a:off x="4737100" y="3782020"/>
            <a:ext cx="2799334" cy="1328341"/>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3D4657"/>
                </a:solidFill>
                <a:latin typeface="Be Vietnam Pro" pitchFamily="34" charset="0"/>
                <a:ea typeface="Be Vietnam Pro" pitchFamily="34" charset="-122"/>
                <a:cs typeface="Be Vietnam Pro" pitchFamily="34" charset="-120"/>
              </a:rPr>
              <a:t>Jira is heavy and online-only. Scrum reports and AI cost money.</a:t>
            </a:r>
            <a:endParaRPr lang="en-US" sz="1900" dirty="0"/>
          </a:p>
        </p:txBody>
      </p:sp>
      <p:sp>
        <p:nvSpPr>
          <p:cNvPr id="11" name="Shape 7"/>
          <p:cNvSpPr/>
          <p:nvPr/>
        </p:nvSpPr>
        <p:spPr>
          <a:xfrm>
            <a:off x="8032750" y="2343150"/>
            <a:ext cx="3340100" cy="3052961"/>
          </a:xfrm>
          <a:prstGeom prst="roundRect">
            <a:avLst>
              <a:gd name="adj" fmla="val 4784"/>
            </a:avLst>
          </a:prstGeom>
          <a:solidFill>
            <a:srgbClr val="FFFDF9"/>
          </a:solidFill>
          <a:ln w="12700">
            <a:solidFill>
              <a:srgbClr val="E4DED3"/>
            </a:solidFill>
            <a:prstDash val="solid"/>
          </a:ln>
        </p:spPr>
      </p:sp>
      <p:pic>
        <p:nvPicPr>
          <p:cNvPr id="12" name="Image 2" descr="Clock">    </p:cNvPr>
          <p:cNvPicPr>
            <a:picLocks noChangeAspect="1"/>
          </p:cNvPicPr>
          <p:nvPr/>
        </p:nvPicPr>
        <p:blipFill>
          <a:blip r:embed="rId3"/>
          <a:srcRect l="0" r="0" t="0" b="0"/>
          <a:stretch/>
        </p:blipFill>
        <p:spPr>
          <a:xfrm>
            <a:off x="8343900" y="2654300"/>
            <a:ext cx="508000" cy="508000"/>
          </a:xfrm>
          <a:prstGeom prst="rect">
            <a:avLst/>
          </a:prstGeom>
        </p:spPr>
      </p:pic>
      <p:sp>
        <p:nvSpPr>
          <p:cNvPr id="13" name="Text 8"/>
          <p:cNvSpPr/>
          <p:nvPr/>
        </p:nvSpPr>
        <p:spPr>
          <a:xfrm>
            <a:off x="8343900" y="3289300"/>
            <a:ext cx="2799334"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4213D"/>
                </a:solidFill>
                <a:latin typeface="Be Vietnam Pro" pitchFamily="34" charset="0"/>
                <a:ea typeface="Be Vietnam Pro" pitchFamily="34" charset="-122"/>
                <a:cs typeface="Be Vietnam Pro" pitchFamily="34" charset="-120"/>
              </a:rPr>
              <a:t>Busy work</a:t>
            </a:r>
            <a:endParaRPr lang="en-US" sz="2400" dirty="0"/>
          </a:p>
        </p:txBody>
      </p:sp>
      <p:sp>
        <p:nvSpPr>
          <p:cNvPr id="14" name="Text 9"/>
          <p:cNvSpPr/>
          <p:nvPr/>
        </p:nvSpPr>
        <p:spPr>
          <a:xfrm>
            <a:off x="8343900" y="3782020"/>
            <a:ext cx="2799334" cy="1328341"/>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3D4657"/>
                </a:solidFill>
                <a:latin typeface="Be Vietnam Pro" pitchFamily="34" charset="0"/>
                <a:ea typeface="Be Vietnam Pro" pitchFamily="34" charset="-122"/>
                <a:cs typeface="Be Vietnam Pro" pitchFamily="34" charset="-120"/>
              </a:rPr>
              <a:t>Writing reports, meeting minutes and plans eats the team’s time.</a:t>
            </a:r>
            <a:endParaRPr lang="en-US" sz="1900" dirty="0"/>
          </a:p>
        </p:txBody>
      </p:sp>
      <p:sp>
        <p:nvSpPr>
          <p:cNvPr id="15" name="Text 10"/>
          <p:cNvSpPr/>
          <p:nvPr/>
        </p:nvSpPr>
        <p:spPr>
          <a:xfrm>
            <a:off x="812800" y="6202759"/>
            <a:ext cx="57804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2 / 14</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7F6F2"/>
                </a:solidFill>
                <a:latin typeface="Be Vietnam Pro" pitchFamily="34" charset="0"/>
                <a:ea typeface="Be Vietnam Pro" pitchFamily="34" charset="-122"/>
                <a:cs typeface="Be Vietnam Pro" pitchFamily="34" charset="-120"/>
              </a:rPr>
              <a:t>Our solution: one web app, four ideas</a:t>
            </a:r>
            <a:endParaRPr lang="en-US" sz="4000" dirty="0"/>
          </a:p>
        </p:txBody>
      </p:sp>
      <p:sp>
        <p:nvSpPr>
          <p:cNvPr id="3" name="Shape 1"/>
          <p:cNvSpPr/>
          <p:nvPr/>
        </p:nvSpPr>
        <p:spPr>
          <a:xfrm>
            <a:off x="812800" y="1727200"/>
            <a:ext cx="5168900" cy="1252141"/>
          </a:xfrm>
          <a:prstGeom prst="roundRect">
            <a:avLst>
              <a:gd name="adj" fmla="val 12171"/>
            </a:avLst>
          </a:prstGeom>
          <a:solidFill>
            <a:srgbClr val="1E2F55"/>
          </a:solidFill>
          <a:ln/>
        </p:spPr>
      </p:sp>
      <p:pic>
        <p:nvPicPr>
          <p:cNvPr id="4" name="Image 0" descr="Lightning">    </p:cNvPr>
          <p:cNvPicPr>
            <a:picLocks noChangeAspect="1"/>
          </p:cNvPicPr>
          <p:nvPr/>
        </p:nvPicPr>
        <p:blipFill>
          <a:blip r:embed="rId1"/>
          <a:srcRect l="0" r="0" t="0" b="0"/>
          <a:stretch/>
        </p:blipFill>
        <p:spPr>
          <a:xfrm>
            <a:off x="1092200" y="2073870"/>
            <a:ext cx="558800" cy="558800"/>
          </a:xfrm>
          <a:prstGeom prst="rect">
            <a:avLst/>
          </a:prstGeom>
        </p:spPr>
      </p:pic>
      <p:sp>
        <p:nvSpPr>
          <p:cNvPr id="5" name="Text 2"/>
          <p:cNvSpPr/>
          <p:nvPr/>
        </p:nvSpPr>
        <p:spPr>
          <a:xfrm>
            <a:off x="1854200" y="2006600"/>
            <a:ext cx="3655220" cy="718741"/>
          </a:xfrm>
          <a:prstGeom prst="rect">
            <a:avLst/>
          </a:prstGeom>
          <a:noFill/>
          <a:ln/>
        </p:spPr>
        <p:txBody>
          <a:bodyPr wrap="square" lIns="0" tIns="0" rIns="0" bIns="0" rtlCol="0" anchor="t">
            <a:normAutofit/>
          </a:bodyPr>
          <a:lstStyle/>
          <a:p>
            <a:pPr algn="l" indent="0" marL="0">
              <a:lnSpc>
                <a:spcPts val="2730"/>
              </a:lnSpc>
              <a:buNone/>
            </a:pPr>
            <a:r>
              <a:rPr lang="en-US" sz="2100" b="1" dirty="0">
                <a:solidFill>
                  <a:srgbClr val="F7F6F2"/>
                </a:solidFill>
                <a:latin typeface="Be Vietnam Pro" pitchFamily="34" charset="0"/>
                <a:ea typeface="Be Vietnam Pro" pitchFamily="34" charset="-122"/>
                <a:cs typeface="Be Vietnam Pro" pitchFamily="34" charset="-120"/>
              </a:rPr>
              <a:t>Keyboard-first</a:t>
            </a:r>
            <a:endParaRPr lang="en-US" sz="2100" dirty="0"/>
          </a:p>
          <a:p>
            <a:pPr algn="l" indent="0" marL="0">
              <a:lnSpc>
                <a:spcPts val="2730"/>
              </a:lnSpc>
              <a:buNone/>
            </a:pPr>
            <a:r>
              <a:rPr lang="en-US" sz="2100" dirty="0">
                <a:solidFill>
                  <a:srgbClr val="F7F6F2"/>
                </a:solidFill>
                <a:latin typeface="Be Vietnam Pro" pitchFamily="34" charset="0"/>
                <a:ea typeface="Be Vietnam Pro" pitchFamily="34" charset="-122"/>
                <a:cs typeface="Be Vietnam Pro" pitchFamily="34" charset="-120"/>
              </a:rPr>
              <a:t>every action has a shortcut</a:t>
            </a:r>
            <a:endParaRPr lang="en-US" sz="2100" dirty="0"/>
          </a:p>
        </p:txBody>
      </p:sp>
      <p:sp>
        <p:nvSpPr>
          <p:cNvPr id="6" name="Shape 3"/>
          <p:cNvSpPr/>
          <p:nvPr/>
        </p:nvSpPr>
        <p:spPr>
          <a:xfrm>
            <a:off x="6210300" y="1727200"/>
            <a:ext cx="5168900" cy="1252141"/>
          </a:xfrm>
          <a:prstGeom prst="roundRect">
            <a:avLst>
              <a:gd name="adj" fmla="val 12171"/>
            </a:avLst>
          </a:prstGeom>
          <a:solidFill>
            <a:srgbClr val="1E2F55"/>
          </a:solidFill>
          <a:ln/>
        </p:spPr>
      </p:sp>
      <p:pic>
        <p:nvPicPr>
          <p:cNvPr id="7" name="Image 1" descr="Activity">    </p:cNvPr>
          <p:cNvPicPr>
            <a:picLocks noChangeAspect="1"/>
          </p:cNvPicPr>
          <p:nvPr/>
        </p:nvPicPr>
        <p:blipFill>
          <a:blip r:embed="rId2"/>
          <a:srcRect l="0" r="0" t="0" b="0"/>
          <a:stretch/>
        </p:blipFill>
        <p:spPr>
          <a:xfrm>
            <a:off x="6489700" y="2073870"/>
            <a:ext cx="558800" cy="558800"/>
          </a:xfrm>
          <a:prstGeom prst="rect">
            <a:avLst/>
          </a:prstGeom>
        </p:spPr>
      </p:pic>
      <p:sp>
        <p:nvSpPr>
          <p:cNvPr id="8" name="Text 4"/>
          <p:cNvSpPr/>
          <p:nvPr/>
        </p:nvSpPr>
        <p:spPr>
          <a:xfrm>
            <a:off x="7251700" y="2006600"/>
            <a:ext cx="3357218" cy="718741"/>
          </a:xfrm>
          <a:prstGeom prst="rect">
            <a:avLst/>
          </a:prstGeom>
          <a:noFill/>
          <a:ln/>
        </p:spPr>
        <p:txBody>
          <a:bodyPr wrap="square" lIns="0" tIns="0" rIns="0" bIns="0" rtlCol="0" anchor="t">
            <a:normAutofit/>
          </a:bodyPr>
          <a:lstStyle/>
          <a:p>
            <a:pPr algn="l" indent="0" marL="0">
              <a:lnSpc>
                <a:spcPts val="2730"/>
              </a:lnSpc>
              <a:buNone/>
            </a:pPr>
            <a:r>
              <a:rPr lang="en-US" sz="2100" b="1" dirty="0">
                <a:solidFill>
                  <a:srgbClr val="F7F6F2"/>
                </a:solidFill>
                <a:latin typeface="Be Vietnam Pro" pitchFamily="34" charset="0"/>
                <a:ea typeface="Be Vietnam Pro" pitchFamily="34" charset="-122"/>
                <a:cs typeface="Be Vietnam Pro" pitchFamily="34" charset="-120"/>
              </a:rPr>
              <a:t>Kanban + Scrum</a:t>
            </a:r>
            <a:endParaRPr lang="en-US" sz="2100" dirty="0"/>
          </a:p>
          <a:p>
            <a:pPr algn="l" indent="0" marL="0">
              <a:lnSpc>
                <a:spcPts val="2730"/>
              </a:lnSpc>
              <a:buNone/>
            </a:pPr>
            <a:r>
              <a:rPr lang="en-US" sz="2100" dirty="0">
                <a:solidFill>
                  <a:srgbClr val="F7F6F2"/>
                </a:solidFill>
                <a:latin typeface="Be Vietnam Pro" pitchFamily="34" charset="0"/>
                <a:ea typeface="Be Vietnam Pro" pitchFamily="34" charset="-122"/>
                <a:cs typeface="Be Vietnam Pro" pitchFamily="34" charset="-120"/>
              </a:rPr>
              <a:t>board, sprints, burndown</a:t>
            </a:r>
            <a:endParaRPr lang="en-US" sz="2100" dirty="0"/>
          </a:p>
        </p:txBody>
      </p:sp>
      <p:sp>
        <p:nvSpPr>
          <p:cNvPr id="9" name="Shape 5"/>
          <p:cNvSpPr/>
          <p:nvPr/>
        </p:nvSpPr>
        <p:spPr>
          <a:xfrm>
            <a:off x="812800" y="3207941"/>
            <a:ext cx="5168900" cy="1598811"/>
          </a:xfrm>
          <a:prstGeom prst="roundRect">
            <a:avLst>
              <a:gd name="adj" fmla="val 9532"/>
            </a:avLst>
          </a:prstGeom>
          <a:solidFill>
            <a:srgbClr val="1E2F55"/>
          </a:solidFill>
          <a:ln/>
        </p:spPr>
      </p:sp>
      <p:pic>
        <p:nvPicPr>
          <p:cNvPr id="10" name="Image 2" descr="Lightbulb">    </p:cNvPr>
          <p:cNvPicPr>
            <a:picLocks noChangeAspect="1"/>
          </p:cNvPicPr>
          <p:nvPr/>
        </p:nvPicPr>
        <p:blipFill>
          <a:blip r:embed="rId3"/>
          <a:srcRect l="0" r="0" t="0" b="0"/>
          <a:stretch/>
        </p:blipFill>
        <p:spPr>
          <a:xfrm>
            <a:off x="1092200" y="3727946"/>
            <a:ext cx="558800" cy="558800"/>
          </a:xfrm>
          <a:prstGeom prst="rect">
            <a:avLst/>
          </a:prstGeom>
        </p:spPr>
      </p:pic>
      <p:sp>
        <p:nvSpPr>
          <p:cNvPr id="11" name="Text 6"/>
          <p:cNvSpPr/>
          <p:nvPr/>
        </p:nvSpPr>
        <p:spPr>
          <a:xfrm>
            <a:off x="1854200" y="3660676"/>
            <a:ext cx="3938403" cy="718741"/>
          </a:xfrm>
          <a:prstGeom prst="rect">
            <a:avLst/>
          </a:prstGeom>
          <a:noFill/>
          <a:ln/>
        </p:spPr>
        <p:txBody>
          <a:bodyPr wrap="square" lIns="0" tIns="0" rIns="0" bIns="0" rtlCol="0" anchor="t">
            <a:normAutofit/>
          </a:bodyPr>
          <a:lstStyle/>
          <a:p>
            <a:pPr algn="l" indent="0" marL="0">
              <a:lnSpc>
                <a:spcPts val="2730"/>
              </a:lnSpc>
              <a:buNone/>
            </a:pPr>
            <a:r>
              <a:rPr lang="en-US" sz="2100" b="1" dirty="0">
                <a:solidFill>
                  <a:srgbClr val="F7F6F2"/>
                </a:solidFill>
                <a:latin typeface="Be Vietnam Pro" pitchFamily="34" charset="0"/>
                <a:ea typeface="Be Vietnam Pro" pitchFamily="34" charset="-122"/>
                <a:cs typeface="Be Vietnam Pro" pitchFamily="34" charset="-120"/>
              </a:rPr>
              <a:t>AI assistant</a:t>
            </a:r>
            <a:endParaRPr lang="en-US" sz="2100" dirty="0"/>
          </a:p>
          <a:p>
            <a:pPr algn="l" indent="0" marL="0">
              <a:lnSpc>
                <a:spcPts val="2730"/>
              </a:lnSpc>
              <a:buNone/>
            </a:pPr>
            <a:r>
              <a:rPr lang="en-US" sz="2100" dirty="0">
                <a:solidFill>
                  <a:srgbClr val="F7F6F2"/>
                </a:solidFill>
                <a:latin typeface="Be Vietnam Pro" pitchFamily="34" charset="0"/>
                <a:ea typeface="Be Vietnam Pro" pitchFamily="34" charset="-122"/>
                <a:cs typeface="Be Vietnam Pro" pitchFamily="34" charset="-120"/>
              </a:rPr>
              <a:t>summaries, minutes, planning</a:t>
            </a:r>
            <a:endParaRPr lang="en-US" sz="2100" dirty="0"/>
          </a:p>
        </p:txBody>
      </p:sp>
      <p:sp>
        <p:nvSpPr>
          <p:cNvPr id="12" name="Shape 7"/>
          <p:cNvSpPr/>
          <p:nvPr/>
        </p:nvSpPr>
        <p:spPr>
          <a:xfrm>
            <a:off x="6210300" y="3207941"/>
            <a:ext cx="5168900" cy="1598811"/>
          </a:xfrm>
          <a:prstGeom prst="roundRect">
            <a:avLst>
              <a:gd name="adj" fmla="val 9532"/>
            </a:avLst>
          </a:prstGeom>
          <a:solidFill>
            <a:srgbClr val="1E2F55"/>
          </a:solidFill>
          <a:ln/>
        </p:spPr>
      </p:sp>
      <p:pic>
        <p:nvPicPr>
          <p:cNvPr id="13" name="Image 3" descr="Cloud">    </p:cNvPr>
          <p:cNvPicPr>
            <a:picLocks noChangeAspect="1"/>
          </p:cNvPicPr>
          <p:nvPr/>
        </p:nvPicPr>
        <p:blipFill>
          <a:blip r:embed="rId4"/>
          <a:srcRect l="0" r="0" t="-9" b="-9"/>
          <a:stretch/>
        </p:blipFill>
        <p:spPr>
          <a:xfrm>
            <a:off x="6489700" y="3727946"/>
            <a:ext cx="539651" cy="558800"/>
          </a:xfrm>
          <a:prstGeom prst="rect">
            <a:avLst/>
          </a:prstGeom>
        </p:spPr>
      </p:pic>
      <p:sp>
        <p:nvSpPr>
          <p:cNvPr id="14" name="Text 8"/>
          <p:cNvSpPr/>
          <p:nvPr/>
        </p:nvSpPr>
        <p:spPr>
          <a:xfrm>
            <a:off x="7232551" y="3487341"/>
            <a:ext cx="3983267" cy="1065411"/>
          </a:xfrm>
          <a:prstGeom prst="rect">
            <a:avLst/>
          </a:prstGeom>
          <a:noFill/>
          <a:ln/>
        </p:spPr>
        <p:txBody>
          <a:bodyPr wrap="square" lIns="0" tIns="0" rIns="0" bIns="0" rtlCol="0" anchor="t">
            <a:normAutofit/>
          </a:bodyPr>
          <a:lstStyle/>
          <a:p>
            <a:pPr algn="l" indent="0" marL="0">
              <a:lnSpc>
                <a:spcPts val="2730"/>
              </a:lnSpc>
              <a:buNone/>
            </a:pPr>
            <a:r>
              <a:rPr lang="en-US" sz="2100" b="1" dirty="0">
                <a:solidFill>
                  <a:srgbClr val="F7F6F2"/>
                </a:solidFill>
                <a:latin typeface="Be Vietnam Pro" pitchFamily="34" charset="0"/>
                <a:ea typeface="Be Vietnam Pro" pitchFamily="34" charset="-122"/>
                <a:cs typeface="Be Vietnam Pro" pitchFamily="34" charset="-120"/>
              </a:rPr>
              <a:t>Works offline</a:t>
            </a:r>
            <a:endParaRPr lang="en-US" sz="2100" dirty="0"/>
          </a:p>
          <a:p>
            <a:pPr algn="l" indent="0" marL="0">
              <a:lnSpc>
                <a:spcPts val="2730"/>
              </a:lnSpc>
              <a:buNone/>
            </a:pPr>
            <a:r>
              <a:rPr lang="en-US" sz="2100" dirty="0">
                <a:solidFill>
                  <a:srgbClr val="F7F6F2"/>
                </a:solidFill>
                <a:latin typeface="Be Vietnam Pro" pitchFamily="34" charset="0"/>
                <a:ea typeface="Be Vietnam Pro" pitchFamily="34" charset="-122"/>
                <a:cs typeface="Be Vietnam Pro" pitchFamily="34" charset="-120"/>
              </a:rPr>
              <a:t>data saved on your device first</a:t>
            </a:r>
            <a:endParaRPr lang="en-US" sz="2100" dirty="0"/>
          </a:p>
        </p:txBody>
      </p:sp>
      <p:sp>
        <p:nvSpPr>
          <p:cNvPr id="15" name="Text 9"/>
          <p:cNvSpPr/>
          <p:nvPr/>
        </p:nvSpPr>
        <p:spPr>
          <a:xfrm>
            <a:off x="812800" y="6202759"/>
            <a:ext cx="395489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CF"/>
                </a:solidFill>
                <a:latin typeface="Be Vietnam Pro" pitchFamily="34" charset="0"/>
                <a:ea typeface="Be Vietnam Pro" pitchFamily="34" charset="-122"/>
                <a:cs typeface="Be Vietnam Pro" pitchFamily="34" charset="-120"/>
              </a:rPr>
              <a:t>3 / 14 · English &amp; Vietnamese interface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4213D"/>
                </a:solidFill>
                <a:latin typeface="Be Vietnam Pro" pitchFamily="34" charset="0"/>
                <a:ea typeface="Be Vietnam Pro" pitchFamily="34" charset="-122"/>
                <a:cs typeface="Be Vietnam Pro" pitchFamily="34" charset="-120"/>
              </a:rPr>
              <a:t>Roles belong to the project, not the account</a:t>
            </a:r>
            <a:endParaRPr lang="en-US" sz="4000" dirty="0"/>
          </a:p>
        </p:txBody>
      </p:sp>
      <p:sp>
        <p:nvSpPr>
          <p:cNvPr id="3" name="Text 1"/>
          <p:cNvSpPr/>
          <p:nvPr/>
        </p:nvSpPr>
        <p:spPr>
          <a:xfrm>
            <a:off x="812800" y="2286000"/>
            <a:ext cx="5598668"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3D4657"/>
                </a:solidFill>
                <a:latin typeface="Be Vietnam Pro" pitchFamily="34" charset="0"/>
                <a:ea typeface="Be Vietnam Pro" pitchFamily="34" charset="-122"/>
                <a:cs typeface="Be Vietnam Pro" pitchFamily="34" charset="-120"/>
              </a:rPr>
              <a:t>Sign up with only name, email, password. </a:t>
            </a:r>
            <a:r>
              <a:rPr lang="en-US" sz="2000" b="1" dirty="0">
                <a:solidFill>
                  <a:srgbClr val="3D4657"/>
                </a:solidFill>
                <a:latin typeface="Be Vietnam Pro" pitchFamily="34" charset="0"/>
                <a:ea typeface="Be Vietnam Pro" pitchFamily="34" charset="-122"/>
                <a:cs typeface="Be Vietnam Pro" pitchFamily="34" charset="-120"/>
              </a:rPr>
              <a:t>No role is chosen.</a:t>
            </a:r>
            <a:endParaRPr lang="en-US" sz="2000" dirty="0"/>
          </a:p>
        </p:txBody>
      </p:sp>
      <p:sp>
        <p:nvSpPr>
          <p:cNvPr id="4" name="Text 2"/>
          <p:cNvSpPr/>
          <p:nvPr/>
        </p:nvSpPr>
        <p:spPr>
          <a:xfrm>
            <a:off x="812800" y="3149600"/>
            <a:ext cx="5598668" cy="10541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3D4657"/>
                </a:solidFill>
                <a:latin typeface="Be Vietnam Pro" pitchFamily="34" charset="0"/>
                <a:ea typeface="Be Vietnam Pro" pitchFamily="34" charset="-122"/>
                <a:cs typeface="Be Vietnam Pro" pitchFamily="34" charset="-120"/>
              </a:rPr>
              <a:t>Create a project → you are its </a:t>
            </a:r>
            <a:r>
              <a:rPr lang="en-US" sz="2000" b="1" dirty="0">
                <a:solidFill>
                  <a:srgbClr val="C2410C"/>
                </a:solidFill>
                <a:latin typeface="Be Vietnam Pro" pitchFamily="34" charset="0"/>
                <a:ea typeface="Be Vietnam Pro" pitchFamily="34" charset="-122"/>
                <a:cs typeface="Be Vietnam Pro" pitchFamily="34" charset="-120"/>
              </a:rPr>
              <a:t>PM</a:t>
            </a:r>
            <a:r>
              <a:rPr lang="en-US" sz="2000" dirty="0">
                <a:solidFill>
                  <a:srgbClr val="3D4657"/>
                </a:solidFill>
                <a:latin typeface="Be Vietnam Pro" pitchFamily="34" charset="0"/>
                <a:ea typeface="Be Vietnam Pro" pitchFamily="34" charset="-122"/>
                <a:cs typeface="Be Vietnam Pro" pitchFamily="34" charset="-120"/>
              </a:rPr>
              <a:t>. Invite others → they join as </a:t>
            </a:r>
            <a:r>
              <a:rPr lang="en-US" sz="2000" b="1" dirty="0">
                <a:solidFill>
                  <a:srgbClr val="1D4ED8"/>
                </a:solidFill>
                <a:latin typeface="Be Vietnam Pro" pitchFamily="34" charset="0"/>
                <a:ea typeface="Be Vietnam Pro" pitchFamily="34" charset="-122"/>
                <a:cs typeface="Be Vietnam Pro" pitchFamily="34" charset="-120"/>
              </a:rPr>
              <a:t>Member</a:t>
            </a:r>
            <a:r>
              <a:rPr lang="en-US" sz="2000" dirty="0">
                <a:solidFill>
                  <a:srgbClr val="3D4657"/>
                </a:solidFill>
                <a:latin typeface="Be Vietnam Pro" pitchFamily="34" charset="0"/>
                <a:ea typeface="Be Vietnam Pro" pitchFamily="34" charset="-122"/>
                <a:cs typeface="Be Vietnam Pro" pitchFamily="34" charset="-120"/>
              </a:rPr>
              <a:t> after accepting.</a:t>
            </a:r>
            <a:endParaRPr lang="en-US" sz="2000" dirty="0"/>
          </a:p>
        </p:txBody>
      </p:sp>
      <p:sp>
        <p:nvSpPr>
          <p:cNvPr id="5" name="Text 3"/>
          <p:cNvSpPr/>
          <p:nvPr/>
        </p:nvSpPr>
        <p:spPr>
          <a:xfrm>
            <a:off x="812800" y="4356100"/>
            <a:ext cx="5598668"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3D4657"/>
                </a:solidFill>
                <a:latin typeface="Be Vietnam Pro" pitchFamily="34" charset="0"/>
                <a:ea typeface="Be Vietnam Pro" pitchFamily="34" charset="-122"/>
                <a:cs typeface="Be Vietnam Pro" pitchFamily="34" charset="-120"/>
              </a:rPr>
              <a:t>The </a:t>
            </a:r>
            <a:r>
              <a:rPr lang="en-US" sz="2000" b="1" dirty="0">
                <a:solidFill>
                  <a:srgbClr val="3D4657"/>
                </a:solidFill>
                <a:latin typeface="Be Vietnam Pro" pitchFamily="34" charset="0"/>
                <a:ea typeface="Be Vietnam Pro" pitchFamily="34" charset="-122"/>
                <a:cs typeface="Be Vietnam Pro" pitchFamily="34" charset="-120"/>
              </a:rPr>
              <a:t>server</a:t>
            </a:r>
            <a:r>
              <a:rPr lang="en-US" sz="2000" dirty="0">
                <a:solidFill>
                  <a:srgbClr val="3D4657"/>
                </a:solidFill>
                <a:latin typeface="Be Vietnam Pro" pitchFamily="34" charset="0"/>
                <a:ea typeface="Be Vietnam Pro" pitchFamily="34" charset="-122"/>
                <a:cs typeface="Be Vietnam Pro" pitchFamily="34" charset="-120"/>
              </a:rPr>
              <a:t> checks every request. A non-member gets “not found”.</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65900" y="2298700"/>
          <a:ext cx="4813300" cy="2783086"/>
        </p:xfrm>
        <a:graphic>
          <a:graphicData uri="http://schemas.openxmlformats.org/drawingml/2006/table">
            <a:tbl>
              <a:tblPr/>
              <a:tblGrid>
                <a:gridCol w="2502916"/>
                <a:gridCol w="1155192"/>
                <a:gridCol w="1155192"/>
              </a:tblGrid>
              <a:tr h="812602">
                <a:tc>
                  <a:txBody>
                    <a:bodyPr/>
                    <a:lstStyle/>
                    <a:p>
                      <a:pPr indent="0" marL="0">
                        <a:lnSpc>
                          <a:spcPts val="2520"/>
                        </a:lnSpc>
                        <a:buNone/>
                      </a:pPr>
                      <a:r>
                        <a:rPr lang="en-US" sz="1800" b="1" dirty="0">
                          <a:solidFill>
                            <a:srgbClr val="14213D"/>
                          </a:solidFill>
                          <a:latin typeface="Be Vietnam Pro" pitchFamily="34" charset="0"/>
                          <a:ea typeface="Be Vietnam Pro" pitchFamily="34" charset="-122"/>
                          <a:cs typeface="Be Vietnam Pro" pitchFamily="34" charset="-120"/>
                        </a:rPr>
                        <a:t>Action</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520"/>
                        </a:lnSpc>
                        <a:buNone/>
                      </a:pPr>
                      <a:r>
                        <a:rPr lang="en-US" sz="1800" b="1" dirty="0">
                          <a:solidFill>
                            <a:srgbClr val="14213D"/>
                          </a:solidFill>
                          <a:latin typeface="Be Vietnam Pro" pitchFamily="34" charset="0"/>
                          <a:ea typeface="Be Vietnam Pro" pitchFamily="34" charset="-122"/>
                          <a:cs typeface="Be Vietnam Pro" pitchFamily="34" charset="-120"/>
                        </a:rPr>
                        <a:t>PM</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520"/>
                        </a:lnSpc>
                        <a:buNone/>
                      </a:pPr>
                      <a:r>
                        <a:rPr lang="en-US" sz="1800" b="1" dirty="0">
                          <a:solidFill>
                            <a:srgbClr val="14213D"/>
                          </a:solidFill>
                          <a:latin typeface="Be Vietnam Pro" pitchFamily="34" charset="0"/>
                          <a:ea typeface="Be Vietnam Pro" pitchFamily="34" charset="-122"/>
                          <a:cs typeface="Be Vietnam Pro" pitchFamily="34" charset="-120"/>
                        </a:rPr>
                        <a:t>Member</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492621">
                <a:tc>
                  <a:txBody>
                    <a:bodyPr/>
                    <a:lstStyle/>
                    <a:p>
                      <a:pPr indent="0" marL="0">
                        <a:lnSpc>
                          <a:spcPts val="2520"/>
                        </a:lnSpc>
                        <a:buNone/>
                      </a:pPr>
                      <a:r>
                        <a:rPr lang="en-US" sz="1800" dirty="0">
                          <a:solidFill>
                            <a:srgbClr val="14213D"/>
                          </a:solidFill>
                          <a:latin typeface="Be Vietnam Pro" pitchFamily="34" charset="0"/>
                          <a:ea typeface="Be Vietnam Pro" pitchFamily="34" charset="-122"/>
                          <a:cs typeface="Be Vietnam Pro" pitchFamily="34" charset="-120"/>
                        </a:rPr>
                        <a:t>Create, move tasks</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Be Vietnam Pro" pitchFamily="34" charset="0"/>
                          <a:ea typeface="Be Vietnam Pro" pitchFamily="34" charset="-122"/>
                          <a:cs typeface="Be Vietnam Pro" pitchFamily="34" charset="-120"/>
                        </a:rPr>
                        <a:t>Yes</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Be Vietnam Pro" pitchFamily="34" charset="0"/>
                          <a:ea typeface="Be Vietnam Pro" pitchFamily="34" charset="-122"/>
                          <a:cs typeface="Be Vietnam Pro" pitchFamily="34" charset="-120"/>
                        </a:rPr>
                        <a:t>Yes</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92621">
                <a:tc>
                  <a:txBody>
                    <a:bodyPr/>
                    <a:lstStyle/>
                    <a:p>
                      <a:pPr indent="0" marL="0">
                        <a:lnSpc>
                          <a:spcPts val="2520"/>
                        </a:lnSpc>
                        <a:buNone/>
                      </a:pPr>
                      <a:r>
                        <a:rPr lang="en-US" sz="1800" dirty="0">
                          <a:solidFill>
                            <a:srgbClr val="14213D"/>
                          </a:solidFill>
                          <a:latin typeface="Be Vietnam Pro" pitchFamily="34" charset="0"/>
                          <a:ea typeface="Be Vietnam Pro" pitchFamily="34" charset="-122"/>
                          <a:cs typeface="Be Vietnam Pro" pitchFamily="34" charset="-120"/>
                        </a:rPr>
                        <a:t>Comment, use AI</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Be Vietnam Pro" pitchFamily="34" charset="0"/>
                          <a:ea typeface="Be Vietnam Pro" pitchFamily="34" charset="-122"/>
                          <a:cs typeface="Be Vietnam Pro" pitchFamily="34" charset="-120"/>
                        </a:rPr>
                        <a:t>Yes</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Be Vietnam Pro" pitchFamily="34" charset="0"/>
                          <a:ea typeface="Be Vietnam Pro" pitchFamily="34" charset="-122"/>
                          <a:cs typeface="Be Vietnam Pro" pitchFamily="34" charset="-120"/>
                        </a:rPr>
                        <a:t>Yes</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92621">
                <a:tc>
                  <a:txBody>
                    <a:bodyPr/>
                    <a:lstStyle/>
                    <a:p>
                      <a:pPr indent="0" marL="0">
                        <a:lnSpc>
                          <a:spcPts val="2520"/>
                        </a:lnSpc>
                        <a:buNone/>
                      </a:pPr>
                      <a:r>
                        <a:rPr lang="en-US" sz="1800" dirty="0">
                          <a:solidFill>
                            <a:srgbClr val="14213D"/>
                          </a:solidFill>
                          <a:latin typeface="Be Vietnam Pro" pitchFamily="34" charset="0"/>
                          <a:ea typeface="Be Vietnam Pro" pitchFamily="34" charset="-122"/>
                          <a:cs typeface="Be Vietnam Pro" pitchFamily="34" charset="-120"/>
                        </a:rPr>
                        <a:t>Invite, change roles</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Be Vietnam Pro" pitchFamily="34" charset="0"/>
                          <a:ea typeface="Be Vietnam Pro" pitchFamily="34" charset="-122"/>
                          <a:cs typeface="Be Vietnam Pro" pitchFamily="34" charset="-120"/>
                        </a:rPr>
                        <a:t>Yes</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Be Vietnam Pro" pitchFamily="34" charset="0"/>
                          <a:ea typeface="Be Vietnam Pro" pitchFamily="34" charset="-122"/>
                          <a:cs typeface="Be Vietnam Pro" pitchFamily="34" charset="-120"/>
                        </a:rPr>
                        <a:t>No</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92621">
                <a:tc>
                  <a:txBody>
                    <a:bodyPr/>
                    <a:lstStyle/>
                    <a:p>
                      <a:pPr indent="0" marL="0">
                        <a:lnSpc>
                          <a:spcPts val="2520"/>
                        </a:lnSpc>
                        <a:buNone/>
                      </a:pPr>
                      <a:r>
                        <a:rPr lang="en-US" sz="1800" dirty="0">
                          <a:solidFill>
                            <a:srgbClr val="14213D"/>
                          </a:solidFill>
                          <a:latin typeface="Be Vietnam Pro" pitchFamily="34" charset="0"/>
                          <a:ea typeface="Be Vietnam Pro" pitchFamily="34" charset="-122"/>
                          <a:cs typeface="Be Vietnam Pro" pitchFamily="34" charset="-120"/>
                        </a:rPr>
                        <a:t>Run sprints</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Be Vietnam Pro" pitchFamily="34" charset="0"/>
                          <a:ea typeface="Be Vietnam Pro" pitchFamily="34" charset="-122"/>
                          <a:cs typeface="Be Vietnam Pro" pitchFamily="34" charset="-120"/>
                        </a:rPr>
                        <a:t>Yes</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Be Vietnam Pro" pitchFamily="34" charset="0"/>
                          <a:ea typeface="Be Vietnam Pro" pitchFamily="34" charset="-122"/>
                          <a:cs typeface="Be Vietnam Pro" pitchFamily="34" charset="-120"/>
                        </a:rPr>
                        <a:t>No</a:t>
                      </a:r>
                      <a:endParaRPr lang="en-US" sz="1800" dirty="0">
                        <a:latin typeface="Be Vietnam Pro" charset="0"/>
                        <a:ea typeface="Be Vietnam Pro" charset="0"/>
                        <a:cs typeface="Be Vietnam Pro"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7" name="Text 4"/>
          <p:cNvSpPr/>
          <p:nvPr/>
        </p:nvSpPr>
        <p:spPr>
          <a:xfrm>
            <a:off x="812800" y="6202759"/>
            <a:ext cx="753832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4 / 14 · The same person can be PM in one project and Member in another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4213D"/>
                </a:solidFill>
                <a:latin typeface="Be Vietnam Pro" pitchFamily="34" charset="0"/>
                <a:ea typeface="Be Vietnam Pro" pitchFamily="34" charset="-122"/>
                <a:cs typeface="Be Vietnam Pro" pitchFamily="34" charset="-120"/>
              </a:rPr>
              <a:t>The board: see every task at a glance</a:t>
            </a:r>
            <a:endParaRPr lang="en-US" sz="4000" dirty="0"/>
          </a:p>
        </p:txBody>
      </p:sp>
      <p:sp>
        <p:nvSpPr>
          <p:cNvPr id="3" name="Shape 1"/>
          <p:cNvSpPr/>
          <p:nvPr/>
        </p:nvSpPr>
        <p:spPr>
          <a:xfrm>
            <a:off x="812800" y="1676400"/>
            <a:ext cx="6350000" cy="3797300"/>
          </a:xfrm>
          <a:prstGeom prst="roundRect">
            <a:avLst>
              <a:gd name="adj" fmla="val 2676"/>
            </a:avLst>
          </a:prstGeom>
          <a:solidFill>
            <a:srgbClr val="FFFFFF"/>
          </a:solidFill>
          <a:ln/>
        </p:spPr>
      </p:sp>
      <p:pic>
        <p:nvPicPr>
          <p:cNvPr id="4" name="Image 0" descr="Kanban board with four columns: To Do, In Progress, Blocked, Done">    </p:cNvPr>
          <p:cNvPicPr>
            <a:picLocks noChangeAspect="1"/>
          </p:cNvPicPr>
          <p:nvPr/>
        </p:nvPicPr>
        <p:blipFill>
          <a:blip r:embed="rId1"/>
          <a:srcRect l="-93" r="-93" t="0" b="0"/>
          <a:stretch/>
        </p:blipFill>
        <p:spPr>
          <a:xfrm>
            <a:off x="825500" y="1689100"/>
            <a:ext cx="6324600" cy="3771900"/>
          </a:xfrm>
          <a:prstGeom prst="roundRect">
            <a:avLst>
              <a:gd name="adj" fmla="val 2357"/>
            </a:avLst>
          </a:prstGeom>
        </p:spPr>
      </p:pic>
      <p:sp>
        <p:nvSpPr>
          <p:cNvPr id="5" name="Shape 2"/>
          <p:cNvSpPr/>
          <p:nvPr/>
        </p:nvSpPr>
        <p:spPr>
          <a:xfrm>
            <a:off x="819150" y="1682750"/>
            <a:ext cx="6337300" cy="3784600"/>
          </a:xfrm>
          <a:prstGeom prst="roundRect">
            <a:avLst>
              <a:gd name="adj" fmla="val 2517"/>
            </a:avLst>
          </a:prstGeom>
          <a:noFill/>
          <a:ln w="12700">
            <a:solidFill>
              <a:srgbClr val="E4DED3"/>
            </a:solidFill>
            <a:prstDash val="solid"/>
          </a:ln>
        </p:spPr>
      </p:sp>
      <p:sp>
        <p:nvSpPr>
          <p:cNvPr id="6" name="Text 3"/>
          <p:cNvSpPr/>
          <p:nvPr/>
        </p:nvSpPr>
        <p:spPr>
          <a:xfrm>
            <a:off x="7518400" y="2025650"/>
            <a:ext cx="3976624" cy="10160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4213D"/>
                </a:solidFill>
                <a:latin typeface="Be Vietnam Pro" pitchFamily="34" charset="0"/>
                <a:ea typeface="Be Vietnam Pro" pitchFamily="34" charset="-122"/>
                <a:cs typeface="Be Vietnam Pro" pitchFamily="34" charset="-120"/>
              </a:rPr>
              <a:t>4 columns</a:t>
            </a:r>
            <a:endParaRPr lang="en-US" sz="2000" dirty="0"/>
          </a:p>
          <a:p>
            <a:pPr algn="l" indent="0" marL="0">
              <a:lnSpc>
                <a:spcPts val="2600"/>
              </a:lnSpc>
              <a:buNone/>
            </a:pPr>
            <a:r>
              <a:rPr lang="en-US" sz="2000" dirty="0">
                <a:solidFill>
                  <a:srgbClr val="3D4657"/>
                </a:solidFill>
                <a:latin typeface="Be Vietnam Pro" pitchFamily="34" charset="0"/>
                <a:ea typeface="Be Vietnam Pro" pitchFamily="34" charset="-122"/>
                <a:cs typeface="Be Vietnam Pro" pitchFamily="34" charset="-120"/>
              </a:rPr>
              <a:t>To Do → In Progress → Blocked → Done</a:t>
            </a:r>
            <a:endParaRPr lang="en-US" sz="2000" dirty="0"/>
          </a:p>
        </p:txBody>
      </p:sp>
      <p:sp>
        <p:nvSpPr>
          <p:cNvPr id="7" name="Text 4"/>
          <p:cNvSpPr/>
          <p:nvPr/>
        </p:nvSpPr>
        <p:spPr>
          <a:xfrm>
            <a:off x="7518400" y="3244850"/>
            <a:ext cx="3976624"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4213D"/>
                </a:solidFill>
                <a:latin typeface="Be Vietnam Pro" pitchFamily="34" charset="0"/>
                <a:ea typeface="Be Vietnam Pro" pitchFamily="34" charset="-122"/>
                <a:cs typeface="Be Vietnam Pro" pitchFamily="34" charset="-120"/>
              </a:rPr>
              <a:t>Deadline first</a:t>
            </a:r>
            <a:endParaRPr lang="en-US" sz="2000" dirty="0"/>
          </a:p>
          <a:p>
            <a:pPr algn="l" indent="0" marL="0">
              <a:lnSpc>
                <a:spcPts val="2600"/>
              </a:lnSpc>
              <a:buNone/>
            </a:pPr>
            <a:r>
              <a:rPr lang="en-US" sz="2000" dirty="0">
                <a:solidFill>
                  <a:srgbClr val="3D4657"/>
                </a:solidFill>
                <a:latin typeface="Be Vietnam Pro" pitchFamily="34" charset="0"/>
                <a:ea typeface="Be Vietnam Pro" pitchFamily="34" charset="-122"/>
                <a:cs typeface="Be Vietnam Pro" pitchFamily="34" charset="-120"/>
              </a:rPr>
              <a:t>late work rises to the top</a:t>
            </a:r>
            <a:endParaRPr lang="en-US" sz="2000" dirty="0"/>
          </a:p>
        </p:txBody>
      </p:sp>
      <p:sp>
        <p:nvSpPr>
          <p:cNvPr id="8" name="Text 5"/>
          <p:cNvSpPr/>
          <p:nvPr/>
        </p:nvSpPr>
        <p:spPr>
          <a:xfrm>
            <a:off x="7518400" y="4133850"/>
            <a:ext cx="3976624" cy="10160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4213D"/>
                </a:solidFill>
                <a:latin typeface="Be Vietnam Pro" pitchFamily="34" charset="0"/>
                <a:ea typeface="Be Vietnam Pro" pitchFamily="34" charset="-122"/>
                <a:cs typeface="Be Vietnam Pro" pitchFamily="34" charset="-120"/>
              </a:rPr>
              <a:t>Keys, no mouse</a:t>
            </a:r>
            <a:endParaRPr lang="en-US" sz="2000" dirty="0"/>
          </a:p>
          <a:p>
            <a:pPr algn="l" indent="0" marL="0">
              <a:lnSpc>
                <a:spcPts val="2600"/>
              </a:lnSpc>
              <a:buNone/>
            </a:pPr>
            <a:r>
              <a:rPr lang="en-US" sz="2000" dirty="0">
                <a:solidFill>
                  <a:srgbClr val="3D4657"/>
                </a:solidFill>
                <a:latin typeface="Be Vietnam Pro" pitchFamily="34" charset="0"/>
                <a:ea typeface="Be Vietnam Pro" pitchFamily="34" charset="-122"/>
                <a:cs typeface="Be Vietnam Pro" pitchFamily="34" charset="-120"/>
              </a:rPr>
              <a:t>h j k l move · Space changes status</a:t>
            </a:r>
            <a:endParaRPr lang="en-US" sz="2000" dirty="0"/>
          </a:p>
        </p:txBody>
      </p:sp>
      <p:sp>
        <p:nvSpPr>
          <p:cNvPr id="9" name="Text 6"/>
          <p:cNvSpPr/>
          <p:nvPr/>
        </p:nvSpPr>
        <p:spPr>
          <a:xfrm>
            <a:off x="812800" y="6202759"/>
            <a:ext cx="484786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5 / 14 · A flame marks tasks on the critical path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4213D"/>
                </a:solidFill>
                <a:latin typeface="Be Vietnam Pro" pitchFamily="34" charset="0"/>
                <a:ea typeface="Be Vietnam Pro" pitchFamily="34" charset="-122"/>
                <a:cs typeface="Be Vietnam Pro" pitchFamily="34" charset="-120"/>
              </a:rPr>
              <a:t>Inside a task: the team talks in one place</a:t>
            </a:r>
            <a:endParaRPr lang="en-US" sz="4000" dirty="0"/>
          </a:p>
        </p:txBody>
      </p:sp>
      <p:sp>
        <p:nvSpPr>
          <p:cNvPr id="3" name="Text 1"/>
          <p:cNvSpPr/>
          <p:nvPr/>
        </p:nvSpPr>
        <p:spPr>
          <a:xfrm>
            <a:off x="812800" y="2146300"/>
            <a:ext cx="4630674"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4213D"/>
                </a:solidFill>
                <a:latin typeface="Be Vietnam Pro" pitchFamily="34" charset="0"/>
                <a:ea typeface="Be Vietnam Pro" pitchFamily="34" charset="-122"/>
                <a:cs typeface="Be Vietnam Pro" pitchFamily="34" charset="-120"/>
              </a:rPr>
              <a:t>Several people</a:t>
            </a:r>
            <a:r>
              <a:rPr lang="en-US" sz="2000" dirty="0">
                <a:solidFill>
                  <a:srgbClr val="14213D"/>
                </a:solidFill>
                <a:latin typeface="Be Vietnam Pro" pitchFamily="34" charset="0"/>
                <a:ea typeface="Be Vietnam Pro" pitchFamily="34" charset="-122"/>
                <a:cs typeface="Be Vietnam Pro" pitchFamily="34" charset="-120"/>
              </a:rPr>
              <a:t> can share one task</a:t>
            </a:r>
            <a:endParaRPr lang="en-US" sz="2000" dirty="0"/>
          </a:p>
        </p:txBody>
      </p:sp>
      <p:sp>
        <p:nvSpPr>
          <p:cNvPr id="4" name="Text 2"/>
          <p:cNvSpPr/>
          <p:nvPr/>
        </p:nvSpPr>
        <p:spPr>
          <a:xfrm>
            <a:off x="812800" y="2705100"/>
            <a:ext cx="4630674"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4213D"/>
                </a:solidFill>
                <a:latin typeface="Be Vietnam Pro" pitchFamily="34" charset="0"/>
                <a:ea typeface="Be Vietnam Pro" pitchFamily="34" charset="-122"/>
                <a:cs typeface="Be Vietnam Pro" pitchFamily="34" charset="-120"/>
              </a:rPr>
              <a:t>@mention</a:t>
            </a:r>
            <a:r>
              <a:rPr lang="en-US" sz="2000" dirty="0">
                <a:solidFill>
                  <a:srgbClr val="14213D"/>
                </a:solidFill>
                <a:latin typeface="Be Vietnam Pro" pitchFamily="34" charset="0"/>
                <a:ea typeface="Be Vietnam Pro" pitchFamily="34" charset="-122"/>
                <a:cs typeface="Be Vietnam Pro" pitchFamily="34" charset="-120"/>
              </a:rPr>
              <a:t> a teammate → they get a notification</a:t>
            </a:r>
            <a:endParaRPr lang="en-US" sz="2000" dirty="0"/>
          </a:p>
        </p:txBody>
      </p:sp>
      <p:sp>
        <p:nvSpPr>
          <p:cNvPr id="5" name="Text 3"/>
          <p:cNvSpPr/>
          <p:nvPr/>
        </p:nvSpPr>
        <p:spPr>
          <a:xfrm>
            <a:off x="812800" y="3594100"/>
            <a:ext cx="4630674"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4213D"/>
                </a:solidFill>
                <a:latin typeface="Be Vietnam Pro" pitchFamily="34" charset="0"/>
                <a:ea typeface="Be Vietnam Pro" pitchFamily="34" charset="-122"/>
                <a:cs typeface="Be Vietnam Pro" pitchFamily="34" charset="-120"/>
              </a:rPr>
              <a:t>Proof of done</a:t>
            </a:r>
            <a:r>
              <a:rPr lang="en-US" sz="2000" dirty="0">
                <a:solidFill>
                  <a:srgbClr val="14213D"/>
                </a:solidFill>
                <a:latin typeface="Be Vietnam Pro" pitchFamily="34" charset="0"/>
                <a:ea typeface="Be Vietnam Pro" pitchFamily="34" charset="-122"/>
                <a:cs typeface="Be Vietnam Pro" pitchFamily="34" charset="-120"/>
              </a:rPr>
              <a:t>: attach a screenshot when finished</a:t>
            </a:r>
            <a:endParaRPr lang="en-US" sz="2000" dirty="0"/>
          </a:p>
        </p:txBody>
      </p:sp>
      <p:sp>
        <p:nvSpPr>
          <p:cNvPr id="6" name="Text 4"/>
          <p:cNvSpPr/>
          <p:nvPr/>
        </p:nvSpPr>
        <p:spPr>
          <a:xfrm>
            <a:off x="812800" y="4483100"/>
            <a:ext cx="4630674"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4213D"/>
                </a:solidFill>
                <a:latin typeface="Be Vietnam Pro" pitchFamily="34" charset="0"/>
                <a:ea typeface="Be Vietnam Pro" pitchFamily="34" charset="-122"/>
                <a:cs typeface="Be Vietnam Pro" pitchFamily="34" charset="-120"/>
              </a:rPr>
              <a:t>History</a:t>
            </a:r>
            <a:r>
              <a:rPr lang="en-US" sz="2000" dirty="0">
                <a:solidFill>
                  <a:srgbClr val="14213D"/>
                </a:solidFill>
                <a:latin typeface="Be Vietnam Pro" pitchFamily="34" charset="0"/>
                <a:ea typeface="Be Vietnam Pro" pitchFamily="34" charset="-122"/>
                <a:cs typeface="Be Vietnam Pro" pitchFamily="34" charset="-120"/>
              </a:rPr>
              <a:t>: who changed what, and when</a:t>
            </a:r>
            <a:endParaRPr lang="en-US" sz="2000" dirty="0"/>
          </a:p>
        </p:txBody>
      </p:sp>
      <p:sp>
        <p:nvSpPr>
          <p:cNvPr id="7" name="Shape 5"/>
          <p:cNvSpPr/>
          <p:nvPr/>
        </p:nvSpPr>
        <p:spPr>
          <a:xfrm>
            <a:off x="5664200" y="1676400"/>
            <a:ext cx="5715000" cy="3937000"/>
          </a:xfrm>
          <a:prstGeom prst="roundRect">
            <a:avLst>
              <a:gd name="adj" fmla="val 2581"/>
            </a:avLst>
          </a:prstGeom>
          <a:solidFill>
            <a:srgbClr val="FFFFFF"/>
          </a:solidFill>
          <a:ln/>
        </p:spPr>
      </p:sp>
      <p:pic>
        <p:nvPicPr>
          <p:cNvPr id="8" name="Image 0" descr="Task detail window with discussion, replies and change history">    </p:cNvPr>
          <p:cNvPicPr>
            <a:picLocks noChangeAspect="1"/>
          </p:cNvPicPr>
          <p:nvPr/>
        </p:nvPicPr>
        <p:blipFill>
          <a:blip r:embed="rId1"/>
          <a:stretch>
            <a:fillRect/>
          </a:stretch>
        </p:blipFill>
        <p:spPr>
          <a:xfrm>
            <a:off x="5676900" y="1945132"/>
            <a:ext cx="5689600" cy="3399536"/>
          </a:xfrm>
          <a:prstGeom prst="rect">
            <a:avLst/>
          </a:prstGeom>
        </p:spPr>
      </p:pic>
      <p:sp>
        <p:nvSpPr>
          <p:cNvPr id="9" name="Shape 6"/>
          <p:cNvSpPr/>
          <p:nvPr/>
        </p:nvSpPr>
        <p:spPr>
          <a:xfrm>
            <a:off x="5670550" y="1682750"/>
            <a:ext cx="5702300" cy="3924300"/>
          </a:xfrm>
          <a:prstGeom prst="roundRect">
            <a:avLst>
              <a:gd name="adj" fmla="val 2427"/>
            </a:avLst>
          </a:prstGeom>
          <a:noFill/>
          <a:ln w="12700">
            <a:solidFill>
              <a:srgbClr val="E4DED3"/>
            </a:solidFill>
            <a:prstDash val="solid"/>
          </a:ln>
        </p:spPr>
      </p:sp>
      <p:sp>
        <p:nvSpPr>
          <p:cNvPr id="10" name="Text 7"/>
          <p:cNvSpPr/>
          <p:nvPr/>
        </p:nvSpPr>
        <p:spPr>
          <a:xfrm>
            <a:off x="812800" y="6202759"/>
            <a:ext cx="58424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6 / 14</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4335"/>
          </a:xfrm>
          <a:prstGeom prst="rect">
            <a:avLst/>
          </a:prstGeom>
          <a:noFill/>
          <a:ln/>
        </p:spPr>
        <p:txBody>
          <a:bodyPr wrap="square" lIns="0" tIns="0" rIns="0" bIns="0" rtlCol="0" anchor="t">
            <a:normAutofit/>
          </a:bodyPr>
          <a:lstStyle/>
          <a:p>
            <a:pPr algn="l" indent="0" marL="0">
              <a:lnSpc>
                <a:spcPts val="4166"/>
              </a:lnSpc>
              <a:buNone/>
            </a:pPr>
            <a:r>
              <a:rPr lang="en-US" sz="3788" b="1" i="0" dirty="0">
                <a:solidFill>
                  <a:srgbClr val="14213D"/>
                </a:solidFill>
                <a:latin typeface="Be Vietnam Pro" pitchFamily="34" charset="0"/>
                <a:ea typeface="Be Vietnam Pro" pitchFamily="34" charset="-122"/>
                <a:cs typeface="Be Vietnam Pro" pitchFamily="34" charset="-120"/>
              </a:rPr>
              <a:t>Scrum: work in short sprints</a:t>
            </a:r>
            <a:endParaRPr lang="en-US" sz="3788" dirty="0"/>
          </a:p>
        </p:txBody>
      </p:sp>
      <p:sp>
        <p:nvSpPr>
          <p:cNvPr id="3" name="Shape 1"/>
          <p:cNvSpPr/>
          <p:nvPr/>
        </p:nvSpPr>
        <p:spPr>
          <a:xfrm>
            <a:off x="812800" y="1658243"/>
            <a:ext cx="2667000" cy="1462881"/>
          </a:xfrm>
          <a:prstGeom prst="roundRect">
            <a:avLst>
              <a:gd name="adj" fmla="val 10418"/>
            </a:avLst>
          </a:prstGeom>
          <a:solidFill>
            <a:srgbClr val="E7ECF7"/>
          </a:solidFill>
          <a:ln/>
        </p:spPr>
      </p:sp>
      <p:sp>
        <p:nvSpPr>
          <p:cNvPr id="4" name="Text 2"/>
          <p:cNvSpPr/>
          <p:nvPr/>
        </p:nvSpPr>
        <p:spPr>
          <a:xfrm>
            <a:off x="1092200" y="1886843"/>
            <a:ext cx="2171446"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1D4ED8"/>
                </a:solidFill>
                <a:latin typeface="Be Vietnam Pro" pitchFamily="34" charset="0"/>
                <a:ea typeface="Be Vietnam Pro" pitchFamily="34" charset="-122"/>
                <a:cs typeface="Be Vietnam Pro" pitchFamily="34" charset="-120"/>
              </a:rPr>
              <a:t>Planned</a:t>
            </a:r>
            <a:endParaRPr lang="en-US" sz="2300" dirty="0"/>
          </a:p>
        </p:txBody>
      </p:sp>
      <p:sp>
        <p:nvSpPr>
          <p:cNvPr id="5" name="Text 3"/>
          <p:cNvSpPr/>
          <p:nvPr/>
        </p:nvSpPr>
        <p:spPr>
          <a:xfrm>
            <a:off x="1092200" y="2288084"/>
            <a:ext cx="2171446"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D4657"/>
                </a:solidFill>
                <a:latin typeface="Be Vietnam Pro" pitchFamily="34" charset="0"/>
                <a:ea typeface="Be Vietnam Pro" pitchFamily="34" charset="-122"/>
                <a:cs typeface="Be Vietnam Pro" pitchFamily="34" charset="-120"/>
              </a:rPr>
              <a:t>PM picks tasks from the backlog</a:t>
            </a:r>
            <a:endParaRPr lang="en-US" sz="1700" dirty="0"/>
          </a:p>
        </p:txBody>
      </p:sp>
      <p:pic>
        <p:nvPicPr>
          <p:cNvPr id="6" name="Image 0" descr="arrow-right">    </p:cNvPr>
          <p:cNvPicPr>
            <a:picLocks noChangeAspect="1"/>
          </p:cNvPicPr>
          <p:nvPr/>
        </p:nvPicPr>
        <p:blipFill>
          <a:blip r:embed="rId1"/>
          <a:srcRect l="0" r="0" t="0" b="0"/>
          <a:stretch/>
        </p:blipFill>
        <p:spPr>
          <a:xfrm>
            <a:off x="3632200" y="2211884"/>
            <a:ext cx="698500" cy="355600"/>
          </a:xfrm>
          <a:prstGeom prst="rect">
            <a:avLst/>
          </a:prstGeom>
        </p:spPr>
      </p:pic>
      <p:sp>
        <p:nvSpPr>
          <p:cNvPr id="7" name="Shape 4"/>
          <p:cNvSpPr/>
          <p:nvPr/>
        </p:nvSpPr>
        <p:spPr>
          <a:xfrm>
            <a:off x="4483100" y="1658243"/>
            <a:ext cx="2667000" cy="1462881"/>
          </a:xfrm>
          <a:prstGeom prst="roundRect">
            <a:avLst>
              <a:gd name="adj" fmla="val 10418"/>
            </a:avLst>
          </a:prstGeom>
          <a:solidFill>
            <a:srgbClr val="FCE9D6"/>
          </a:solidFill>
          <a:ln/>
        </p:spPr>
      </p:sp>
      <p:sp>
        <p:nvSpPr>
          <p:cNvPr id="8" name="Text 5"/>
          <p:cNvSpPr/>
          <p:nvPr/>
        </p:nvSpPr>
        <p:spPr>
          <a:xfrm>
            <a:off x="4762500" y="1886843"/>
            <a:ext cx="2171446"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C2410C"/>
                </a:solidFill>
                <a:latin typeface="Be Vietnam Pro" pitchFamily="34" charset="0"/>
                <a:ea typeface="Be Vietnam Pro" pitchFamily="34" charset="-122"/>
                <a:cs typeface="Be Vietnam Pro" pitchFamily="34" charset="-120"/>
              </a:rPr>
              <a:t>Active</a:t>
            </a:r>
            <a:endParaRPr lang="en-US" sz="2300" dirty="0"/>
          </a:p>
        </p:txBody>
      </p:sp>
      <p:sp>
        <p:nvSpPr>
          <p:cNvPr id="9" name="Text 6"/>
          <p:cNvSpPr/>
          <p:nvPr/>
        </p:nvSpPr>
        <p:spPr>
          <a:xfrm>
            <a:off x="4762500" y="2288084"/>
            <a:ext cx="2171446"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D4657"/>
                </a:solidFill>
                <a:latin typeface="Be Vietnam Pro" pitchFamily="34" charset="0"/>
                <a:ea typeface="Be Vietnam Pro" pitchFamily="34" charset="-122"/>
                <a:cs typeface="Be Vietnam Pro" pitchFamily="34" charset="-120"/>
              </a:rPr>
              <a:t>Team works; points are the promise</a:t>
            </a:r>
            <a:endParaRPr lang="en-US" sz="1700" dirty="0"/>
          </a:p>
        </p:txBody>
      </p:sp>
      <p:pic>
        <p:nvPicPr>
          <p:cNvPr id="10" name="Image 1" descr="arrow-right">    </p:cNvPr>
          <p:cNvPicPr>
            <a:picLocks noChangeAspect="1"/>
          </p:cNvPicPr>
          <p:nvPr/>
        </p:nvPicPr>
        <p:blipFill>
          <a:blip r:embed="rId2"/>
          <a:srcRect l="0" r="0" t="0" b="0"/>
          <a:stretch/>
        </p:blipFill>
        <p:spPr>
          <a:xfrm>
            <a:off x="7302500" y="2211884"/>
            <a:ext cx="698500" cy="355600"/>
          </a:xfrm>
          <a:prstGeom prst="rect">
            <a:avLst/>
          </a:prstGeom>
        </p:spPr>
      </p:pic>
      <p:sp>
        <p:nvSpPr>
          <p:cNvPr id="11" name="Shape 7"/>
          <p:cNvSpPr/>
          <p:nvPr/>
        </p:nvSpPr>
        <p:spPr>
          <a:xfrm>
            <a:off x="8153400" y="1658243"/>
            <a:ext cx="2667000" cy="1462881"/>
          </a:xfrm>
          <a:prstGeom prst="roundRect">
            <a:avLst>
              <a:gd name="adj" fmla="val 10418"/>
            </a:avLst>
          </a:prstGeom>
          <a:solidFill>
            <a:srgbClr val="DCEFE3"/>
          </a:solidFill>
          <a:ln/>
        </p:spPr>
      </p:sp>
      <p:sp>
        <p:nvSpPr>
          <p:cNvPr id="12" name="Text 8"/>
          <p:cNvSpPr/>
          <p:nvPr/>
        </p:nvSpPr>
        <p:spPr>
          <a:xfrm>
            <a:off x="8432800" y="1886843"/>
            <a:ext cx="2171446"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15803D"/>
                </a:solidFill>
                <a:latin typeface="Be Vietnam Pro" pitchFamily="34" charset="0"/>
                <a:ea typeface="Be Vietnam Pro" pitchFamily="34" charset="-122"/>
                <a:cs typeface="Be Vietnam Pro" pitchFamily="34" charset="-120"/>
              </a:rPr>
              <a:t>Completed</a:t>
            </a:r>
            <a:endParaRPr lang="en-US" sz="2300" dirty="0"/>
          </a:p>
        </p:txBody>
      </p:sp>
      <p:sp>
        <p:nvSpPr>
          <p:cNvPr id="13" name="Text 9"/>
          <p:cNvSpPr/>
          <p:nvPr/>
        </p:nvSpPr>
        <p:spPr>
          <a:xfrm>
            <a:off x="8432800" y="2288084"/>
            <a:ext cx="2171446"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D4657"/>
                </a:solidFill>
                <a:latin typeface="Be Vietnam Pro" pitchFamily="34" charset="0"/>
                <a:ea typeface="Be Vietnam Pro" pitchFamily="34" charset="-122"/>
                <a:cs typeface="Be Vietnam Pro" pitchFamily="34" charset="-120"/>
              </a:rPr>
              <a:t>Unfinished work moves on</a:t>
            </a:r>
            <a:endParaRPr lang="en-US" sz="1700" dirty="0"/>
          </a:p>
        </p:txBody>
      </p:sp>
      <p:sp>
        <p:nvSpPr>
          <p:cNvPr id="14" name="Shape 10"/>
          <p:cNvSpPr/>
          <p:nvPr/>
        </p:nvSpPr>
        <p:spPr>
          <a:xfrm>
            <a:off x="812800" y="3369766"/>
            <a:ext cx="4826000" cy="2540000"/>
          </a:xfrm>
          <a:prstGeom prst="roundRect">
            <a:avLst>
              <a:gd name="adj" fmla="val 4000"/>
            </a:avLst>
          </a:prstGeom>
          <a:solidFill>
            <a:srgbClr val="FFFFFF"/>
          </a:solidFill>
          <a:ln/>
        </p:spPr>
      </p:sp>
      <p:pic>
        <p:nvPicPr>
          <p:cNvPr id="15" name="Image 2" descr="Scrum panel listing completed, active and planned sprints">    </p:cNvPr>
          <p:cNvPicPr>
            <a:picLocks noChangeAspect="1"/>
          </p:cNvPicPr>
          <p:nvPr/>
        </p:nvPicPr>
        <p:blipFill>
          <a:blip r:embed="rId3"/>
          <a:stretch>
            <a:fillRect/>
          </a:stretch>
        </p:blipFill>
        <p:spPr>
          <a:xfrm>
            <a:off x="1121532" y="3382466"/>
            <a:ext cx="4208536" cy="2514600"/>
          </a:xfrm>
          <a:prstGeom prst="rect">
            <a:avLst/>
          </a:prstGeom>
        </p:spPr>
      </p:pic>
      <p:sp>
        <p:nvSpPr>
          <p:cNvPr id="16" name="Shape 11"/>
          <p:cNvSpPr/>
          <p:nvPr/>
        </p:nvSpPr>
        <p:spPr>
          <a:xfrm>
            <a:off x="819150" y="3376116"/>
            <a:ext cx="4813300" cy="2527300"/>
          </a:xfrm>
          <a:prstGeom prst="roundRect">
            <a:avLst>
              <a:gd name="adj" fmla="val 3769"/>
            </a:avLst>
          </a:prstGeom>
          <a:noFill/>
          <a:ln w="12700">
            <a:solidFill>
              <a:srgbClr val="E4DED3"/>
            </a:solidFill>
            <a:prstDash val="solid"/>
          </a:ln>
        </p:spPr>
      </p:sp>
      <p:sp>
        <p:nvSpPr>
          <p:cNvPr id="17" name="Text 12"/>
          <p:cNvSpPr/>
          <p:nvPr/>
        </p:nvSpPr>
        <p:spPr>
          <a:xfrm>
            <a:off x="5892800" y="4296866"/>
            <a:ext cx="5650992"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3D4657"/>
                </a:solidFill>
                <a:latin typeface="Be Vietnam Pro" pitchFamily="34" charset="0"/>
                <a:ea typeface="Be Vietnam Pro" pitchFamily="34" charset="-122"/>
                <a:cs typeface="Be Vietnam Pro" pitchFamily="34" charset="-120"/>
              </a:rPr>
              <a:t>Only one sprint runs at a time. Only the </a:t>
            </a:r>
            <a:r>
              <a:rPr lang="en-US" sz="2000" b="1" dirty="0">
                <a:solidFill>
                  <a:srgbClr val="14213D"/>
                </a:solidFill>
                <a:latin typeface="Be Vietnam Pro" pitchFamily="34" charset="0"/>
                <a:ea typeface="Be Vietnam Pro" pitchFamily="34" charset="-122"/>
                <a:cs typeface="Be Vietnam Pro" pitchFamily="34" charset="-120"/>
              </a:rPr>
              <a:t>PM</a:t>
            </a:r>
            <a:r>
              <a:rPr lang="en-US" sz="2000" dirty="0">
                <a:solidFill>
                  <a:srgbClr val="3D4657"/>
                </a:solidFill>
                <a:latin typeface="Be Vietnam Pro" pitchFamily="34" charset="0"/>
                <a:ea typeface="Be Vietnam Pro" pitchFamily="34" charset="-122"/>
                <a:cs typeface="Be Vietnam Pro" pitchFamily="34" charset="-120"/>
              </a:rPr>
              <a:t> can start or finish it.</a:t>
            </a:r>
            <a:endParaRPr lang="en-US" sz="2000" dirty="0"/>
          </a:p>
        </p:txBody>
      </p:sp>
      <p:sp>
        <p:nvSpPr>
          <p:cNvPr id="18" name="Text 13"/>
          <p:cNvSpPr/>
          <p:nvPr/>
        </p:nvSpPr>
        <p:spPr>
          <a:xfrm>
            <a:off x="812800" y="6202759"/>
            <a:ext cx="365688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7 / 14 · Suggested by our supervisor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4213D"/>
                </a:solidFill>
                <a:latin typeface="Be Vietnam Pro" pitchFamily="34" charset="0"/>
                <a:ea typeface="Be Vietnam Pro" pitchFamily="34" charset="-122"/>
                <a:cs typeface="Be Vietnam Pro" pitchFamily="34" charset="-120"/>
              </a:rPr>
              <a:t>Sprint charts show if we are on track</a:t>
            </a:r>
            <a:endParaRPr lang="en-US" sz="4000" dirty="0"/>
          </a:p>
        </p:txBody>
      </p:sp>
      <p:sp>
        <p:nvSpPr>
          <p:cNvPr id="3" name="Shape 1"/>
          <p:cNvSpPr/>
          <p:nvPr/>
        </p:nvSpPr>
        <p:spPr>
          <a:xfrm>
            <a:off x="812800" y="1651000"/>
            <a:ext cx="3352800" cy="2032000"/>
          </a:xfrm>
          <a:prstGeom prst="roundRect">
            <a:avLst>
              <a:gd name="adj" fmla="val 5000"/>
            </a:avLst>
          </a:prstGeom>
          <a:solidFill>
            <a:srgbClr val="FFFFFF"/>
          </a:solidFill>
          <a:ln/>
        </p:spPr>
      </p:sp>
      <p:pic>
        <p:nvPicPr>
          <p:cNvPr id="4" name="Image 0" descr="Burndown chart: remaining points against the ideal line">    </p:cNvPr>
          <p:cNvPicPr>
            <a:picLocks noChangeAspect="1"/>
          </p:cNvPicPr>
          <p:nvPr/>
        </p:nvPicPr>
        <p:blipFill>
          <a:blip r:embed="rId1"/>
          <a:srcRect l="0" r="0" t="-465" b="-465"/>
          <a:stretch/>
        </p:blipFill>
        <p:spPr>
          <a:xfrm>
            <a:off x="825500" y="1663700"/>
            <a:ext cx="3327400" cy="2006600"/>
          </a:xfrm>
          <a:prstGeom prst="roundRect">
            <a:avLst>
              <a:gd name="adj" fmla="val 4430"/>
            </a:avLst>
          </a:prstGeom>
        </p:spPr>
      </p:pic>
      <p:sp>
        <p:nvSpPr>
          <p:cNvPr id="5" name="Shape 2"/>
          <p:cNvSpPr/>
          <p:nvPr/>
        </p:nvSpPr>
        <p:spPr>
          <a:xfrm>
            <a:off x="819150" y="1657350"/>
            <a:ext cx="3340100" cy="2019300"/>
          </a:xfrm>
          <a:prstGeom prst="roundRect">
            <a:avLst>
              <a:gd name="adj" fmla="val 4717"/>
            </a:avLst>
          </a:prstGeom>
          <a:noFill/>
          <a:ln w="12700">
            <a:solidFill>
              <a:srgbClr val="E4DED3"/>
            </a:solidFill>
            <a:prstDash val="solid"/>
          </a:ln>
        </p:spPr>
      </p:sp>
      <p:sp>
        <p:nvSpPr>
          <p:cNvPr id="6" name="Text 3"/>
          <p:cNvSpPr/>
          <p:nvPr/>
        </p:nvSpPr>
        <p:spPr>
          <a:xfrm>
            <a:off x="812800" y="3810000"/>
            <a:ext cx="347075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Burndown</a:t>
            </a:r>
            <a:endParaRPr lang="en-US" sz="2200" dirty="0"/>
          </a:p>
        </p:txBody>
      </p:sp>
      <p:sp>
        <p:nvSpPr>
          <p:cNvPr id="7" name="Text 4"/>
          <p:cNvSpPr/>
          <p:nvPr/>
        </p:nvSpPr>
        <p:spPr>
          <a:xfrm>
            <a:off x="812800" y="4272260"/>
            <a:ext cx="3470757"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3D4657"/>
                </a:solidFill>
                <a:latin typeface="Be Vietnam Pro" pitchFamily="34" charset="0"/>
                <a:ea typeface="Be Vietnam Pro" pitchFamily="34" charset="-122"/>
                <a:cs typeface="Be Vietnam Pro" pitchFamily="34" charset="-120"/>
              </a:rPr>
              <a:t>Work left each day vs. the ideal line</a:t>
            </a:r>
            <a:endParaRPr lang="en-US" sz="1800" dirty="0"/>
          </a:p>
        </p:txBody>
      </p:sp>
      <p:sp>
        <p:nvSpPr>
          <p:cNvPr id="8" name="Shape 5"/>
          <p:cNvSpPr/>
          <p:nvPr/>
        </p:nvSpPr>
        <p:spPr>
          <a:xfrm>
            <a:off x="4411067" y="1651000"/>
            <a:ext cx="3352800" cy="2032000"/>
          </a:xfrm>
          <a:prstGeom prst="roundRect">
            <a:avLst>
              <a:gd name="adj" fmla="val 5000"/>
            </a:avLst>
          </a:prstGeom>
          <a:solidFill>
            <a:srgbClr val="FFFFFF"/>
          </a:solidFill>
          <a:ln/>
        </p:spPr>
      </p:sp>
      <p:pic>
        <p:nvPicPr>
          <p:cNvPr id="9" name="Image 1" descr="Velocity bars: committed and completed points per sprint">    </p:cNvPr>
          <p:cNvPicPr>
            <a:picLocks noChangeAspect="1"/>
          </p:cNvPicPr>
          <p:nvPr/>
        </p:nvPicPr>
        <p:blipFill>
          <a:blip r:embed="rId2"/>
          <a:srcRect l="0" r="0" t="-465" b="-465"/>
          <a:stretch/>
        </p:blipFill>
        <p:spPr>
          <a:xfrm>
            <a:off x="4423767" y="1663700"/>
            <a:ext cx="3327400" cy="2006600"/>
          </a:xfrm>
          <a:prstGeom prst="roundRect">
            <a:avLst>
              <a:gd name="adj" fmla="val 4430"/>
            </a:avLst>
          </a:prstGeom>
        </p:spPr>
      </p:pic>
      <p:sp>
        <p:nvSpPr>
          <p:cNvPr id="10" name="Shape 6"/>
          <p:cNvSpPr/>
          <p:nvPr/>
        </p:nvSpPr>
        <p:spPr>
          <a:xfrm>
            <a:off x="4417417" y="1657350"/>
            <a:ext cx="3340100" cy="2019300"/>
          </a:xfrm>
          <a:prstGeom prst="roundRect">
            <a:avLst>
              <a:gd name="adj" fmla="val 4717"/>
            </a:avLst>
          </a:prstGeom>
          <a:noFill/>
          <a:ln w="12700">
            <a:solidFill>
              <a:srgbClr val="E4DED3"/>
            </a:solidFill>
            <a:prstDash val="solid"/>
          </a:ln>
        </p:spPr>
      </p:sp>
      <p:sp>
        <p:nvSpPr>
          <p:cNvPr id="11" name="Text 7"/>
          <p:cNvSpPr/>
          <p:nvPr/>
        </p:nvSpPr>
        <p:spPr>
          <a:xfrm>
            <a:off x="4411067" y="3810000"/>
            <a:ext cx="347085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Velocity</a:t>
            </a:r>
            <a:endParaRPr lang="en-US" sz="2200" dirty="0"/>
          </a:p>
        </p:txBody>
      </p:sp>
      <p:sp>
        <p:nvSpPr>
          <p:cNvPr id="12" name="Text 8"/>
          <p:cNvSpPr/>
          <p:nvPr/>
        </p:nvSpPr>
        <p:spPr>
          <a:xfrm>
            <a:off x="4411067" y="4272260"/>
            <a:ext cx="3470859"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3D4657"/>
                </a:solidFill>
                <a:latin typeface="Be Vietnam Pro" pitchFamily="34" charset="0"/>
                <a:ea typeface="Be Vietnam Pro" pitchFamily="34" charset="-122"/>
                <a:cs typeface="Be Vietnam Pro" pitchFamily="34" charset="-120"/>
              </a:rPr>
              <a:t>Points promised vs. points done</a:t>
            </a:r>
            <a:endParaRPr lang="en-US" sz="1800" dirty="0"/>
          </a:p>
        </p:txBody>
      </p:sp>
      <p:sp>
        <p:nvSpPr>
          <p:cNvPr id="13" name="Shape 9"/>
          <p:cNvSpPr/>
          <p:nvPr/>
        </p:nvSpPr>
        <p:spPr>
          <a:xfrm>
            <a:off x="8009434" y="1651000"/>
            <a:ext cx="3352800" cy="2032000"/>
          </a:xfrm>
          <a:prstGeom prst="roundRect">
            <a:avLst>
              <a:gd name="adj" fmla="val 5000"/>
            </a:avLst>
          </a:prstGeom>
          <a:solidFill>
            <a:srgbClr val="FFFFFF"/>
          </a:solidFill>
          <a:ln/>
        </p:spPr>
      </p:sp>
      <p:pic>
        <p:nvPicPr>
          <p:cNvPr id="14" name="Image 2" descr="AI retrospective: went well, to improve, action items">    </p:cNvPr>
          <p:cNvPicPr>
            <a:picLocks noChangeAspect="1"/>
          </p:cNvPicPr>
          <p:nvPr/>
        </p:nvPicPr>
        <p:blipFill>
          <a:blip r:embed="rId3"/>
          <a:srcRect l="0" r="0" t="-465" b="-465"/>
          <a:stretch/>
        </p:blipFill>
        <p:spPr>
          <a:xfrm>
            <a:off x="8022134" y="1663700"/>
            <a:ext cx="3327400" cy="2006600"/>
          </a:xfrm>
          <a:prstGeom prst="roundRect">
            <a:avLst>
              <a:gd name="adj" fmla="val 4430"/>
            </a:avLst>
          </a:prstGeom>
        </p:spPr>
      </p:pic>
      <p:sp>
        <p:nvSpPr>
          <p:cNvPr id="15" name="Shape 10"/>
          <p:cNvSpPr/>
          <p:nvPr/>
        </p:nvSpPr>
        <p:spPr>
          <a:xfrm>
            <a:off x="8015784" y="1657350"/>
            <a:ext cx="3340100" cy="2019300"/>
          </a:xfrm>
          <a:prstGeom prst="roundRect">
            <a:avLst>
              <a:gd name="adj" fmla="val 4717"/>
            </a:avLst>
          </a:prstGeom>
          <a:noFill/>
          <a:ln w="12700">
            <a:solidFill>
              <a:srgbClr val="E4DED3"/>
            </a:solidFill>
            <a:prstDash val="solid"/>
          </a:ln>
        </p:spPr>
      </p:sp>
      <p:sp>
        <p:nvSpPr>
          <p:cNvPr id="16" name="Text 11"/>
          <p:cNvSpPr/>
          <p:nvPr/>
        </p:nvSpPr>
        <p:spPr>
          <a:xfrm>
            <a:off x="8009434" y="3810000"/>
            <a:ext cx="347085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AI retrospective</a:t>
            </a:r>
            <a:endParaRPr lang="en-US" sz="2200" dirty="0"/>
          </a:p>
        </p:txBody>
      </p:sp>
      <p:sp>
        <p:nvSpPr>
          <p:cNvPr id="17" name="Text 12"/>
          <p:cNvSpPr/>
          <p:nvPr/>
        </p:nvSpPr>
        <p:spPr>
          <a:xfrm>
            <a:off x="8009434" y="4272260"/>
            <a:ext cx="3470859"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3D4657"/>
                </a:solidFill>
                <a:latin typeface="Be Vietnam Pro" pitchFamily="34" charset="0"/>
                <a:ea typeface="Be Vietnam Pro" pitchFamily="34" charset="-122"/>
                <a:cs typeface="Be Vietnam Pro" pitchFamily="34" charset="-120"/>
              </a:rPr>
              <a:t>What went well, what to fix, next actions</a:t>
            </a:r>
            <a:endParaRPr lang="en-US" sz="1800" dirty="0"/>
          </a:p>
        </p:txBody>
      </p:sp>
      <p:sp>
        <p:nvSpPr>
          <p:cNvPr id="18" name="Text 13"/>
          <p:cNvSpPr/>
          <p:nvPr/>
        </p:nvSpPr>
        <p:spPr>
          <a:xfrm>
            <a:off x="812800" y="6202759"/>
            <a:ext cx="57447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8 / 14</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7F6F2"/>
                </a:solidFill>
                <a:latin typeface="Be Vietnam Pro" pitchFamily="34" charset="0"/>
                <a:ea typeface="Be Vietnam Pro" pitchFamily="34" charset="-122"/>
                <a:cs typeface="Be Vietnam Pro" pitchFamily="34" charset="-120"/>
              </a:rPr>
              <a:t>AI does the boring management work</a:t>
            </a:r>
            <a:endParaRPr lang="en-US" sz="4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89100"/>
          <a:ext cx="5626100" cy="3791347"/>
        </p:xfrm>
        <a:graphic>
          <a:graphicData uri="http://schemas.openxmlformats.org/drawingml/2006/table">
            <a:tbl>
              <a:tblPr/>
              <a:tblGrid>
                <a:gridCol w="2475484"/>
                <a:gridCol w="3150616"/>
              </a:tblGrid>
              <a:tr h="519311">
                <a:tc>
                  <a:txBody>
                    <a:bodyPr/>
                    <a:lstStyle/>
                    <a:p>
                      <a:pPr indent="0" marL="0">
                        <a:lnSpc>
                          <a:spcPts val="2660"/>
                        </a:lnSpc>
                        <a:buNone/>
                      </a:pPr>
                      <a:r>
                        <a:rPr lang="en-US" sz="1900" b="1" dirty="0">
                          <a:solidFill>
                            <a:srgbClr val="F7F6F2"/>
                          </a:solidFill>
                          <a:latin typeface="Be Vietnam Pro" pitchFamily="34" charset="0"/>
                          <a:ea typeface="Be Vietnam Pro" pitchFamily="34" charset="-122"/>
                          <a:cs typeface="Be Vietnam Pro" pitchFamily="34" charset="-120"/>
                        </a:rPr>
                        <a:t>You give</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indent="0" marL="0">
                        <a:lnSpc>
                          <a:spcPts val="2660"/>
                        </a:lnSpc>
                        <a:buNone/>
                      </a:pPr>
                      <a:r>
                        <a:rPr lang="en-US" sz="1900" b="1" dirty="0">
                          <a:solidFill>
                            <a:srgbClr val="F7F6F2"/>
                          </a:solidFill>
                          <a:latin typeface="Be Vietnam Pro" pitchFamily="34" charset="0"/>
                          <a:ea typeface="Be Vietnam Pro" pitchFamily="34" charset="-122"/>
                          <a:cs typeface="Be Vietnam Pro" pitchFamily="34" charset="-120"/>
                        </a:rPr>
                        <a:t>AI returns</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r>
              <a:tr h="857052">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The board</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Weekly progress summary</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857052">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Meeting notes</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Tasks, owners, decisions</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519311">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A new task</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Best person to do it</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519311">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A big goal</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Sub-tasks + order</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519311">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A finished sprint</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Retrospective</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bl>
          </a:graphicData>
        </a:graphic>
      </p:graphicFrame>
      <p:sp>
        <p:nvSpPr>
          <p:cNvPr id="4" name="Shape 1"/>
          <p:cNvSpPr/>
          <p:nvPr/>
        </p:nvSpPr>
        <p:spPr>
          <a:xfrm>
            <a:off x="6807200" y="1927423"/>
            <a:ext cx="4572000" cy="3302000"/>
          </a:xfrm>
          <a:prstGeom prst="roundRect">
            <a:avLst>
              <a:gd name="adj" fmla="val 3077"/>
            </a:avLst>
          </a:prstGeom>
          <a:solidFill>
            <a:srgbClr val="F7F6F2"/>
          </a:solidFill>
          <a:ln/>
        </p:spPr>
      </p:sp>
      <p:pic>
        <p:nvPicPr>
          <p:cNvPr id="5" name="Image 0" descr="Smart assignment: team workload and a recommended assignee with reasons">    </p:cNvPr>
          <p:cNvPicPr>
            <a:picLocks noChangeAspect="1"/>
          </p:cNvPicPr>
          <p:nvPr/>
        </p:nvPicPr>
        <p:blipFill>
          <a:blip r:embed="rId1"/>
          <a:stretch>
            <a:fillRect/>
          </a:stretch>
        </p:blipFill>
        <p:spPr>
          <a:xfrm>
            <a:off x="6807200" y="2212538"/>
            <a:ext cx="4572000" cy="2731770"/>
          </a:xfrm>
          <a:prstGeom prst="rect">
            <a:avLst/>
          </a:prstGeom>
        </p:spPr>
      </p:pic>
      <p:sp>
        <p:nvSpPr>
          <p:cNvPr id="6" name="Text 2"/>
          <p:cNvSpPr/>
          <p:nvPr/>
        </p:nvSpPr>
        <p:spPr>
          <a:xfrm>
            <a:off x="812800" y="62027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CF"/>
                </a:solidFill>
                <a:latin typeface="Be Vietnam Pro" pitchFamily="34" charset="0"/>
                <a:ea typeface="Be Vietnam Pro" pitchFamily="34" charset="-122"/>
                <a:cs typeface="Be Vietnam Pro" pitchFamily="34" charset="-120"/>
              </a:rPr>
              <a:t>9 / 14 · Groq cloud model · if AI is down, a rule-based answer is used, so it never breaks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4213D"/>
                </a:solidFill>
                <a:latin typeface="Be Vietnam Pro" pitchFamily="34" charset="0"/>
                <a:ea typeface="Be Vietnam Pro" pitchFamily="34" charset="-122"/>
                <a:cs typeface="Be Vietnam Pro" pitchFamily="34" charset="-120"/>
              </a:rPr>
              <a:t>No internet? Your work is still there</a:t>
            </a:r>
            <a:endParaRPr lang="en-US" sz="4000" dirty="0"/>
          </a:p>
        </p:txBody>
      </p:sp>
      <p:sp>
        <p:nvSpPr>
          <p:cNvPr id="3" name="Text 1"/>
          <p:cNvSpPr/>
          <p:nvPr/>
        </p:nvSpPr>
        <p:spPr>
          <a:xfrm>
            <a:off x="812800" y="1727200"/>
            <a:ext cx="10464800" cy="40253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3D4657"/>
                </a:solidFill>
                <a:latin typeface="Be Vietnam Pro" pitchFamily="34" charset="0"/>
                <a:ea typeface="Be Vietnam Pro" pitchFamily="34" charset="-122"/>
                <a:cs typeface="Be Vietnam Pro" pitchFamily="34" charset="-120"/>
              </a:rPr>
              <a:t>Every change is saved </a:t>
            </a:r>
            <a:r>
              <a:rPr lang="en-US" sz="2200" b="1" dirty="0">
                <a:solidFill>
                  <a:srgbClr val="14213D"/>
                </a:solidFill>
                <a:latin typeface="Be Vietnam Pro" pitchFamily="34" charset="0"/>
                <a:ea typeface="Be Vietnam Pro" pitchFamily="34" charset="-122"/>
                <a:cs typeface="Be Vietnam Pro" pitchFamily="34" charset="-120"/>
              </a:rPr>
              <a:t>in the browser first</a:t>
            </a:r>
            <a:r>
              <a:rPr lang="en-US" sz="2200" dirty="0">
                <a:solidFill>
                  <a:srgbClr val="3D4657"/>
                </a:solidFill>
                <a:latin typeface="Be Vietnam Pro" pitchFamily="34" charset="0"/>
                <a:ea typeface="Be Vietnam Pro" pitchFamily="34" charset="-122"/>
                <a:cs typeface="Be Vietnam Pro" pitchFamily="34" charset="-120"/>
              </a:rPr>
              <a:t>, then sent to the server.</a:t>
            </a:r>
            <a:endParaRPr lang="en-US" sz="2200" dirty="0"/>
          </a:p>
        </p:txBody>
      </p:sp>
      <p:sp>
        <p:nvSpPr>
          <p:cNvPr id="4" name="Shape 2"/>
          <p:cNvSpPr/>
          <p:nvPr/>
        </p:nvSpPr>
        <p:spPr>
          <a:xfrm>
            <a:off x="812800" y="2459930"/>
            <a:ext cx="5156200" cy="1767780"/>
          </a:xfrm>
          <a:prstGeom prst="roundRect">
            <a:avLst>
              <a:gd name="adj" fmla="val 8621"/>
            </a:avLst>
          </a:prstGeom>
          <a:solidFill>
            <a:srgbClr val="DCEFE3"/>
          </a:solidFill>
          <a:ln/>
        </p:spPr>
      </p:sp>
      <p:sp>
        <p:nvSpPr>
          <p:cNvPr id="5" name="Text 3"/>
          <p:cNvSpPr/>
          <p:nvPr/>
        </p:nvSpPr>
        <p:spPr>
          <a:xfrm>
            <a:off x="1117600" y="2764730"/>
            <a:ext cx="4682998" cy="42158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15803D"/>
                </a:solidFill>
                <a:latin typeface="Be Vietnam Pro" pitchFamily="34" charset="0"/>
                <a:ea typeface="Be Vietnam Pro" pitchFamily="34" charset="-122"/>
                <a:cs typeface="Be Vietnam Pro" pitchFamily="34" charset="-120"/>
              </a:rPr>
              <a:t>Personal project</a:t>
            </a:r>
            <a:endParaRPr lang="en-US" sz="2600" dirty="0"/>
          </a:p>
        </p:txBody>
      </p:sp>
      <p:sp>
        <p:nvSpPr>
          <p:cNvPr id="6" name="Text 4"/>
          <p:cNvSpPr/>
          <p:nvPr/>
        </p:nvSpPr>
        <p:spPr>
          <a:xfrm>
            <a:off x="1117600" y="3262511"/>
            <a:ext cx="468299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213D"/>
                </a:solidFill>
                <a:latin typeface="Be Vietnam Pro" pitchFamily="34" charset="0"/>
                <a:ea typeface="Be Vietnam Pro" pitchFamily="34" charset="-122"/>
                <a:cs typeface="Be Vietnam Pro" pitchFamily="34" charset="-120"/>
              </a:rPr>
              <a:t>Keep editing offline. Syncs when back online.</a:t>
            </a:r>
            <a:endParaRPr lang="en-US" sz="2000" dirty="0"/>
          </a:p>
        </p:txBody>
      </p:sp>
      <p:sp>
        <p:nvSpPr>
          <p:cNvPr id="7" name="Shape 5"/>
          <p:cNvSpPr/>
          <p:nvPr/>
        </p:nvSpPr>
        <p:spPr>
          <a:xfrm>
            <a:off x="6223000" y="2459930"/>
            <a:ext cx="5156200" cy="1767780"/>
          </a:xfrm>
          <a:prstGeom prst="roundRect">
            <a:avLst>
              <a:gd name="adj" fmla="val 8621"/>
            </a:avLst>
          </a:prstGeom>
          <a:solidFill>
            <a:srgbClr val="FCE9D6"/>
          </a:solidFill>
          <a:ln/>
        </p:spPr>
      </p:sp>
      <p:sp>
        <p:nvSpPr>
          <p:cNvPr id="8" name="Text 6"/>
          <p:cNvSpPr/>
          <p:nvPr/>
        </p:nvSpPr>
        <p:spPr>
          <a:xfrm>
            <a:off x="6527800" y="2764730"/>
            <a:ext cx="4682998" cy="42158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C2410C"/>
                </a:solidFill>
                <a:latin typeface="Be Vietnam Pro" pitchFamily="34" charset="0"/>
                <a:ea typeface="Be Vietnam Pro" pitchFamily="34" charset="-122"/>
                <a:cs typeface="Be Vietnam Pro" pitchFamily="34" charset="-120"/>
              </a:rPr>
              <a:t>Team project</a:t>
            </a:r>
            <a:endParaRPr lang="en-US" sz="2600" dirty="0"/>
          </a:p>
        </p:txBody>
      </p:sp>
      <p:sp>
        <p:nvSpPr>
          <p:cNvPr id="9" name="Text 7"/>
          <p:cNvSpPr/>
          <p:nvPr/>
        </p:nvSpPr>
        <p:spPr>
          <a:xfrm>
            <a:off x="6527800" y="3262511"/>
            <a:ext cx="468299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213D"/>
                </a:solidFill>
                <a:latin typeface="Be Vietnam Pro" pitchFamily="34" charset="0"/>
                <a:ea typeface="Be Vietnam Pro" pitchFamily="34" charset="-122"/>
                <a:cs typeface="Be Vietnam Pro" pitchFamily="34" charset="-120"/>
              </a:rPr>
              <a:t>Read-only offline, so two people never overwrite each other.</a:t>
            </a:r>
            <a:endParaRPr lang="en-US" sz="2000" dirty="0"/>
          </a:p>
        </p:txBody>
      </p:sp>
      <p:sp>
        <p:nvSpPr>
          <p:cNvPr id="10" name="Text 8"/>
          <p:cNvSpPr/>
          <p:nvPr/>
        </p:nvSpPr>
        <p:spPr>
          <a:xfrm>
            <a:off x="812800" y="6202759"/>
            <a:ext cx="285761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10 / 14 · “Local-first” design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4213D"/>
                </a:solidFill>
                <a:latin typeface="Be Vietnam Pro" pitchFamily="34" charset="0"/>
                <a:ea typeface="Be Vietnam Pro" pitchFamily="34" charset="-122"/>
                <a:cs typeface="Be Vietnam Pro" pitchFamily="34" charset="-120"/>
              </a:rPr>
              <a:t>How it is built</a:t>
            </a:r>
            <a:endParaRPr lang="en-US" sz="4000" dirty="0"/>
          </a:p>
        </p:txBody>
      </p:sp>
      <p:sp>
        <p:nvSpPr>
          <p:cNvPr id="3" name="Shape 1"/>
          <p:cNvSpPr/>
          <p:nvPr/>
        </p:nvSpPr>
        <p:spPr>
          <a:xfrm>
            <a:off x="812800" y="2155825"/>
            <a:ext cx="2286000" cy="1761232"/>
          </a:xfrm>
          <a:prstGeom prst="roundRect">
            <a:avLst>
              <a:gd name="adj" fmla="val 8653"/>
            </a:avLst>
          </a:prstGeom>
          <a:solidFill>
            <a:srgbClr val="E7ECF7"/>
          </a:solidFill>
          <a:ln/>
        </p:spPr>
      </p:sp>
      <p:sp>
        <p:nvSpPr>
          <p:cNvPr id="4" name="Text 2"/>
          <p:cNvSpPr/>
          <p:nvPr/>
        </p:nvSpPr>
        <p:spPr>
          <a:xfrm>
            <a:off x="1066800" y="2409825"/>
            <a:ext cx="183134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4ED8"/>
                </a:solidFill>
                <a:latin typeface="Be Vietnam Pro" pitchFamily="34" charset="0"/>
                <a:ea typeface="Be Vietnam Pro" pitchFamily="34" charset="-122"/>
                <a:cs typeface="Be Vietnam Pro" pitchFamily="34" charset="-120"/>
              </a:rPr>
              <a:t>Browser</a:t>
            </a:r>
            <a:endParaRPr lang="en-US" sz="2200" dirty="0"/>
          </a:p>
        </p:txBody>
      </p:sp>
      <p:sp>
        <p:nvSpPr>
          <p:cNvPr id="5" name="Text 3"/>
          <p:cNvSpPr/>
          <p:nvPr/>
        </p:nvSpPr>
        <p:spPr>
          <a:xfrm>
            <a:off x="1066800" y="2821285"/>
            <a:ext cx="1831340" cy="867172"/>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3D4657"/>
                </a:solidFill>
                <a:latin typeface="Be Vietnam Pro" pitchFamily="34" charset="0"/>
                <a:ea typeface="Be Vietnam Pro" pitchFamily="34" charset="-122"/>
                <a:cs typeface="Be Vietnam Pro" pitchFamily="34" charset="-120"/>
              </a:rPr>
              <a:t>Vue 3 app + local copy (IndexedDB)</a:t>
            </a:r>
            <a:endParaRPr lang="en-US" sz="1700" dirty="0"/>
          </a:p>
        </p:txBody>
      </p:sp>
      <p:pic>
        <p:nvPicPr>
          <p:cNvPr id="6" name="Image 0" descr="arrow-right">    </p:cNvPr>
          <p:cNvPicPr>
            <a:picLocks noChangeAspect="1"/>
          </p:cNvPicPr>
          <p:nvPr/>
        </p:nvPicPr>
        <p:blipFill>
          <a:blip r:embed="rId1"/>
          <a:srcRect l="0" r="0" t="0" b="0"/>
          <a:stretch/>
        </p:blipFill>
        <p:spPr>
          <a:xfrm>
            <a:off x="3225800" y="2884091"/>
            <a:ext cx="609600" cy="304800"/>
          </a:xfrm>
          <a:prstGeom prst="rect">
            <a:avLst/>
          </a:prstGeom>
        </p:spPr>
      </p:pic>
      <p:sp>
        <p:nvSpPr>
          <p:cNvPr id="7" name="Shape 4"/>
          <p:cNvSpPr/>
          <p:nvPr/>
        </p:nvSpPr>
        <p:spPr>
          <a:xfrm>
            <a:off x="3968750" y="2289770"/>
            <a:ext cx="2273300" cy="1493341"/>
          </a:xfrm>
          <a:prstGeom prst="roundRect">
            <a:avLst>
              <a:gd name="adj" fmla="val 9780"/>
            </a:avLst>
          </a:prstGeom>
          <a:solidFill>
            <a:srgbClr val="FFFDF9"/>
          </a:solidFill>
          <a:ln w="12700">
            <a:solidFill>
              <a:srgbClr val="E4DED3"/>
            </a:solidFill>
            <a:prstDash val="solid"/>
          </a:ln>
        </p:spPr>
      </p:sp>
      <p:sp>
        <p:nvSpPr>
          <p:cNvPr id="8" name="Text 5"/>
          <p:cNvSpPr/>
          <p:nvPr/>
        </p:nvSpPr>
        <p:spPr>
          <a:xfrm>
            <a:off x="4229100" y="2550120"/>
            <a:ext cx="180517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Server</a:t>
            </a:r>
            <a:endParaRPr lang="en-US" sz="2200" dirty="0"/>
          </a:p>
        </p:txBody>
      </p:sp>
      <p:sp>
        <p:nvSpPr>
          <p:cNvPr id="9" name="Text 6"/>
          <p:cNvSpPr/>
          <p:nvPr/>
        </p:nvSpPr>
        <p:spPr>
          <a:xfrm>
            <a:off x="4229100" y="2961580"/>
            <a:ext cx="1805178"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3D4657"/>
                </a:solidFill>
                <a:latin typeface="Be Vietnam Pro" pitchFamily="34" charset="0"/>
                <a:ea typeface="Be Vietnam Pro" pitchFamily="34" charset="-122"/>
                <a:cs typeface="Be Vietnam Pro" pitchFamily="34" charset="-120"/>
              </a:rPr>
              <a:t>Python FastAPI, 51 API endpoints</a:t>
            </a:r>
            <a:endParaRPr lang="en-US" sz="1700" dirty="0"/>
          </a:p>
        </p:txBody>
      </p:sp>
      <p:pic>
        <p:nvPicPr>
          <p:cNvPr id="10" name="Image 1" descr="arrow-right">    </p:cNvPr>
          <p:cNvPicPr>
            <a:picLocks noChangeAspect="1"/>
          </p:cNvPicPr>
          <p:nvPr/>
        </p:nvPicPr>
        <p:blipFill>
          <a:blip r:embed="rId2"/>
          <a:srcRect l="0" r="0" t="0" b="0"/>
          <a:stretch/>
        </p:blipFill>
        <p:spPr>
          <a:xfrm>
            <a:off x="6375400" y="2884091"/>
            <a:ext cx="609600" cy="304800"/>
          </a:xfrm>
          <a:prstGeom prst="rect">
            <a:avLst/>
          </a:prstGeom>
        </p:spPr>
      </p:pic>
      <p:sp>
        <p:nvSpPr>
          <p:cNvPr id="11" name="Shape 7"/>
          <p:cNvSpPr/>
          <p:nvPr/>
        </p:nvSpPr>
        <p:spPr>
          <a:xfrm>
            <a:off x="7112000" y="1727200"/>
            <a:ext cx="3302000" cy="1396901"/>
          </a:xfrm>
          <a:prstGeom prst="roundRect">
            <a:avLst>
              <a:gd name="adj" fmla="val 10910"/>
            </a:avLst>
          </a:prstGeom>
          <a:solidFill>
            <a:srgbClr val="DCEFE3"/>
          </a:solidFill>
          <a:ln/>
        </p:spPr>
      </p:sp>
      <p:sp>
        <p:nvSpPr>
          <p:cNvPr id="12" name="Text 8"/>
          <p:cNvSpPr/>
          <p:nvPr/>
        </p:nvSpPr>
        <p:spPr>
          <a:xfrm>
            <a:off x="7366000" y="1930400"/>
            <a:ext cx="287782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803D"/>
                </a:solidFill>
                <a:latin typeface="Be Vietnam Pro" pitchFamily="34" charset="0"/>
                <a:ea typeface="Be Vietnam Pro" pitchFamily="34" charset="-122"/>
                <a:cs typeface="Be Vietnam Pro" pitchFamily="34" charset="-120"/>
              </a:rPr>
              <a:t>MySQL</a:t>
            </a:r>
            <a:endParaRPr lang="en-US" sz="2200" dirty="0"/>
          </a:p>
        </p:txBody>
      </p:sp>
      <p:sp>
        <p:nvSpPr>
          <p:cNvPr id="13" name="Text 9"/>
          <p:cNvSpPr/>
          <p:nvPr/>
        </p:nvSpPr>
        <p:spPr>
          <a:xfrm>
            <a:off x="7366000" y="2316460"/>
            <a:ext cx="287782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D4657"/>
                </a:solidFill>
                <a:latin typeface="Be Vietnam Pro" pitchFamily="34" charset="0"/>
                <a:ea typeface="Be Vietnam Pro" pitchFamily="34" charset="-122"/>
                <a:cs typeface="Be Vietnam Pro" pitchFamily="34" charset="-120"/>
              </a:rPr>
              <a:t>10 tables, versioned migrations</a:t>
            </a:r>
            <a:endParaRPr lang="en-US" sz="1700" dirty="0"/>
          </a:p>
        </p:txBody>
      </p:sp>
      <p:sp>
        <p:nvSpPr>
          <p:cNvPr id="14" name="Shape 10"/>
          <p:cNvSpPr/>
          <p:nvPr/>
        </p:nvSpPr>
        <p:spPr>
          <a:xfrm>
            <a:off x="7112000" y="3251101"/>
            <a:ext cx="3302000" cy="1094680"/>
          </a:xfrm>
          <a:prstGeom prst="roundRect">
            <a:avLst>
              <a:gd name="adj" fmla="val 13922"/>
            </a:avLst>
          </a:prstGeom>
          <a:solidFill>
            <a:srgbClr val="FCE9D6"/>
          </a:solidFill>
          <a:ln/>
        </p:spPr>
      </p:sp>
      <p:sp>
        <p:nvSpPr>
          <p:cNvPr id="15" name="Text 11"/>
          <p:cNvSpPr/>
          <p:nvPr/>
        </p:nvSpPr>
        <p:spPr>
          <a:xfrm>
            <a:off x="7366000" y="3454301"/>
            <a:ext cx="287782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2410C"/>
                </a:solidFill>
                <a:latin typeface="Be Vietnam Pro" pitchFamily="34" charset="0"/>
                <a:ea typeface="Be Vietnam Pro" pitchFamily="34" charset="-122"/>
                <a:cs typeface="Be Vietnam Pro" pitchFamily="34" charset="-120"/>
              </a:rPr>
              <a:t>AI (Groq)</a:t>
            </a:r>
            <a:endParaRPr lang="en-US" sz="2200" dirty="0"/>
          </a:p>
        </p:txBody>
      </p:sp>
      <p:sp>
        <p:nvSpPr>
          <p:cNvPr id="16" name="Text 12"/>
          <p:cNvSpPr/>
          <p:nvPr/>
        </p:nvSpPr>
        <p:spPr>
          <a:xfrm>
            <a:off x="7366000" y="3840361"/>
            <a:ext cx="287782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D4657"/>
                </a:solidFill>
                <a:latin typeface="Be Vietnam Pro" pitchFamily="34" charset="0"/>
                <a:ea typeface="Be Vietnam Pro" pitchFamily="34" charset="-122"/>
                <a:cs typeface="Be Vietnam Pro" pitchFamily="34" charset="-120"/>
              </a:rPr>
              <a:t>gpt-oss-120b model</a:t>
            </a:r>
            <a:endParaRPr lang="en-US" sz="1700" dirty="0"/>
          </a:p>
        </p:txBody>
      </p:sp>
      <p:sp>
        <p:nvSpPr>
          <p:cNvPr id="17" name="Text 13"/>
          <p:cNvSpPr/>
          <p:nvPr/>
        </p:nvSpPr>
        <p:spPr>
          <a:xfrm>
            <a:off x="812800" y="4701381"/>
            <a:ext cx="104648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3D4657"/>
                </a:solidFill>
                <a:latin typeface="Be Vietnam Pro" pitchFamily="34" charset="0"/>
                <a:ea typeface="Be Vietnam Pro" pitchFamily="34" charset="-122"/>
                <a:cs typeface="Be Vietnam Pro" pitchFamily="34" charset="-120"/>
              </a:rPr>
              <a:t>Runs in </a:t>
            </a:r>
            <a:r>
              <a:rPr lang="en-US" sz="2000" b="1" dirty="0">
                <a:solidFill>
                  <a:srgbClr val="14213D"/>
                </a:solidFill>
                <a:latin typeface="Be Vietnam Pro" pitchFamily="34" charset="0"/>
                <a:ea typeface="Be Vietnam Pro" pitchFamily="34" charset="-122"/>
                <a:cs typeface="Be Vietnam Pro" pitchFamily="34" charset="-120"/>
              </a:rPr>
              <a:t>Docker</a:t>
            </a:r>
            <a:r>
              <a:rPr lang="en-US" sz="2000" dirty="0">
                <a:solidFill>
                  <a:srgbClr val="3D4657"/>
                </a:solidFill>
                <a:latin typeface="Be Vietnam Pro" pitchFamily="34" charset="0"/>
                <a:ea typeface="Be Vietnam Pro" pitchFamily="34" charset="-122"/>
                <a:cs typeface="Be Vietnam Pro" pitchFamily="34" charset="-120"/>
              </a:rPr>
              <a:t>; published through a </a:t>
            </a:r>
            <a:r>
              <a:rPr lang="en-US" sz="2000" b="1" dirty="0">
                <a:solidFill>
                  <a:srgbClr val="14213D"/>
                </a:solidFill>
                <a:latin typeface="Be Vietnam Pro" pitchFamily="34" charset="0"/>
                <a:ea typeface="Be Vietnam Pro" pitchFamily="34" charset="-122"/>
                <a:cs typeface="Be Vietnam Pro" pitchFamily="34" charset="-120"/>
              </a:rPr>
              <a:t>Cloudflare Tunnel</a:t>
            </a:r>
            <a:r>
              <a:rPr lang="en-US" sz="2000" dirty="0">
                <a:solidFill>
                  <a:srgbClr val="3D4657"/>
                </a:solidFill>
                <a:latin typeface="Be Vietnam Pro" pitchFamily="34" charset="0"/>
                <a:ea typeface="Be Vietnam Pro" pitchFamily="34" charset="-122"/>
                <a:cs typeface="Be Vietnam Pro" pitchFamily="34" charset="-120"/>
              </a:rPr>
              <a:t> — no open ports, HTTPS included.</a:t>
            </a:r>
            <a:endParaRPr lang="en-US" sz="2000" dirty="0"/>
          </a:p>
        </p:txBody>
      </p:sp>
      <p:sp>
        <p:nvSpPr>
          <p:cNvPr id="18" name="Text 14"/>
          <p:cNvSpPr/>
          <p:nvPr/>
        </p:nvSpPr>
        <p:spPr>
          <a:xfrm>
            <a:off x="812800" y="6202759"/>
            <a:ext cx="60340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11 / 14</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7F6F2"/>
                </a:solidFill>
                <a:latin typeface="Be Vietnam Pro" pitchFamily="34" charset="0"/>
                <a:ea typeface="Be Vietnam Pro" pitchFamily="34" charset="-122"/>
                <a:cs typeface="Be Vietnam Pro" pitchFamily="34" charset="-120"/>
              </a:rPr>
              <a:t>Tested, not just “it works on my machine”</a:t>
            </a:r>
            <a:endParaRPr lang="en-US" sz="4000" dirty="0"/>
          </a:p>
        </p:txBody>
      </p:sp>
      <p:sp>
        <p:nvSpPr>
          <p:cNvPr id="3" name="Text 1"/>
          <p:cNvSpPr/>
          <p:nvPr/>
        </p:nvSpPr>
        <p:spPr>
          <a:xfrm>
            <a:off x="812800" y="2336800"/>
            <a:ext cx="25638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A541"/>
                </a:solidFill>
                <a:latin typeface="Be Vietnam Pro" pitchFamily="34" charset="0"/>
                <a:ea typeface="Be Vietnam Pro" pitchFamily="34" charset="-122"/>
                <a:cs typeface="Be Vietnam Pro" pitchFamily="34" charset="-120"/>
              </a:rPr>
              <a:t>177</a:t>
            </a:r>
            <a:endParaRPr lang="en-US" sz="6000" dirty="0"/>
          </a:p>
        </p:txBody>
      </p:sp>
      <p:sp>
        <p:nvSpPr>
          <p:cNvPr id="4" name="Text 2"/>
          <p:cNvSpPr/>
          <p:nvPr/>
        </p:nvSpPr>
        <p:spPr>
          <a:xfrm>
            <a:off x="812800" y="3175000"/>
            <a:ext cx="2563876"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C9D3E6"/>
                </a:solidFill>
                <a:latin typeface="Be Vietnam Pro" pitchFamily="34" charset="0"/>
                <a:ea typeface="Be Vietnam Pro" pitchFamily="34" charset="-122"/>
                <a:cs typeface="Be Vietnam Pro" pitchFamily="34" charset="-120"/>
              </a:rPr>
              <a:t>server tests, all pass</a:t>
            </a:r>
            <a:endParaRPr lang="en-US" sz="1800" dirty="0"/>
          </a:p>
        </p:txBody>
      </p:sp>
      <p:sp>
        <p:nvSpPr>
          <p:cNvPr id="5" name="Text 3"/>
          <p:cNvSpPr/>
          <p:nvPr/>
        </p:nvSpPr>
        <p:spPr>
          <a:xfrm>
            <a:off x="3505200" y="2336800"/>
            <a:ext cx="25638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A541"/>
                </a:solidFill>
                <a:latin typeface="Be Vietnam Pro" pitchFamily="34" charset="0"/>
                <a:ea typeface="Be Vietnam Pro" pitchFamily="34" charset="-122"/>
                <a:cs typeface="Be Vietnam Pro" pitchFamily="34" charset="-120"/>
              </a:rPr>
              <a:t>442</a:t>
            </a:r>
            <a:endParaRPr lang="en-US" sz="6000" dirty="0"/>
          </a:p>
        </p:txBody>
      </p:sp>
      <p:sp>
        <p:nvSpPr>
          <p:cNvPr id="6" name="Text 4"/>
          <p:cNvSpPr/>
          <p:nvPr/>
        </p:nvSpPr>
        <p:spPr>
          <a:xfrm>
            <a:off x="3505200" y="3175000"/>
            <a:ext cx="2563876"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C9D3E6"/>
                </a:solidFill>
                <a:latin typeface="Be Vietnam Pro" pitchFamily="34" charset="0"/>
                <a:ea typeface="Be Vietnam Pro" pitchFamily="34" charset="-122"/>
                <a:cs typeface="Be Vietnam Pro" pitchFamily="34" charset="-120"/>
              </a:rPr>
              <a:t>interface tests, all pass</a:t>
            </a:r>
            <a:endParaRPr lang="en-US" sz="1800" dirty="0"/>
          </a:p>
        </p:txBody>
      </p:sp>
      <p:sp>
        <p:nvSpPr>
          <p:cNvPr id="7" name="Text 5"/>
          <p:cNvSpPr/>
          <p:nvPr/>
        </p:nvSpPr>
        <p:spPr>
          <a:xfrm>
            <a:off x="6197600" y="2336800"/>
            <a:ext cx="25638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A541"/>
                </a:solidFill>
                <a:latin typeface="Be Vietnam Pro" pitchFamily="34" charset="0"/>
                <a:ea typeface="Be Vietnam Pro" pitchFamily="34" charset="-122"/>
                <a:cs typeface="Be Vietnam Pro" pitchFamily="34" charset="-120"/>
              </a:rPr>
              <a:t>32</a:t>
            </a:r>
            <a:endParaRPr lang="en-US" sz="6000" dirty="0"/>
          </a:p>
        </p:txBody>
      </p:sp>
      <p:sp>
        <p:nvSpPr>
          <p:cNvPr id="8" name="Text 6"/>
          <p:cNvSpPr/>
          <p:nvPr/>
        </p:nvSpPr>
        <p:spPr>
          <a:xfrm>
            <a:off x="6197600" y="3175000"/>
            <a:ext cx="2563876"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C9D3E6"/>
                </a:solidFill>
                <a:latin typeface="Be Vietnam Pro" pitchFamily="34" charset="0"/>
                <a:ea typeface="Be Vietnam Pro" pitchFamily="34" charset="-122"/>
                <a:cs typeface="Be Vietnam Pro" pitchFamily="34" charset="-120"/>
              </a:rPr>
              <a:t>end-to-end checks on the live site</a:t>
            </a:r>
            <a:endParaRPr lang="en-US" sz="1800" dirty="0"/>
          </a:p>
        </p:txBody>
      </p:sp>
      <p:sp>
        <p:nvSpPr>
          <p:cNvPr id="9" name="Text 7"/>
          <p:cNvSpPr/>
          <p:nvPr/>
        </p:nvSpPr>
        <p:spPr>
          <a:xfrm>
            <a:off x="8890000" y="2336800"/>
            <a:ext cx="25638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A541"/>
                </a:solidFill>
                <a:latin typeface="Be Vietnam Pro" pitchFamily="34" charset="0"/>
                <a:ea typeface="Be Vietnam Pro" pitchFamily="34" charset="-122"/>
                <a:cs typeface="Be Vietnam Pro" pitchFamily="34" charset="-120"/>
              </a:rPr>
              <a:t>53</a:t>
            </a:r>
            <a:endParaRPr lang="en-US" sz="6000" dirty="0"/>
          </a:p>
        </p:txBody>
      </p:sp>
      <p:sp>
        <p:nvSpPr>
          <p:cNvPr id="10" name="Text 8"/>
          <p:cNvSpPr/>
          <p:nvPr/>
        </p:nvSpPr>
        <p:spPr>
          <a:xfrm>
            <a:off x="8890000" y="3175000"/>
            <a:ext cx="2563876"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C9D3E6"/>
                </a:solidFill>
                <a:latin typeface="Be Vietnam Pro" pitchFamily="34" charset="0"/>
                <a:ea typeface="Be Vietnam Pro" pitchFamily="34" charset="-122"/>
                <a:cs typeface="Be Vietnam Pro" pitchFamily="34" charset="-120"/>
              </a:rPr>
              <a:t>issues found and recorded</a:t>
            </a:r>
            <a:endParaRPr lang="en-US" sz="1800" dirty="0"/>
          </a:p>
        </p:txBody>
      </p:sp>
      <p:sp>
        <p:nvSpPr>
          <p:cNvPr id="11" name="Text 9"/>
          <p:cNvSpPr/>
          <p:nvPr/>
        </p:nvSpPr>
        <p:spPr>
          <a:xfrm>
            <a:off x="812800" y="4175720"/>
            <a:ext cx="104648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F7F6F2"/>
                </a:solidFill>
                <a:latin typeface="Be Vietnam Pro" pitchFamily="34" charset="0"/>
                <a:ea typeface="Be Vietnam Pro" pitchFamily="34" charset="-122"/>
                <a:cs typeface="Be Vietnam Pro" pitchFamily="34" charset="-120"/>
              </a:rPr>
              <a:t>Example: the “AI” task splitter </a:t>
            </a:r>
            <a:r>
              <a:rPr lang="en-US" sz="2000" b="1" dirty="0">
                <a:solidFill>
                  <a:srgbClr val="F2A541"/>
                </a:solidFill>
                <a:latin typeface="Be Vietnam Pro" pitchFamily="34" charset="0"/>
                <a:ea typeface="Be Vietnam Pro" pitchFamily="34" charset="-122"/>
                <a:cs typeface="Be Vietnam Pro" pitchFamily="34" charset="-120"/>
              </a:rPr>
              <a:t>never called the AI</a:t>
            </a:r>
            <a:r>
              <a:rPr lang="en-US" sz="2000" dirty="0">
                <a:solidFill>
                  <a:srgbClr val="F7F6F2"/>
                </a:solidFill>
                <a:latin typeface="Be Vietnam Pro" pitchFamily="34" charset="0"/>
                <a:ea typeface="Be Vietnam Pro" pitchFamily="34" charset="-122"/>
                <a:cs typeface="Be Vietnam Pro" pitchFamily="34" charset="-120"/>
              </a:rPr>
              <a:t> — only a real-model test found it.</a:t>
            </a:r>
            <a:endParaRPr lang="en-US" sz="2000" dirty="0"/>
          </a:p>
        </p:txBody>
      </p:sp>
      <p:sp>
        <p:nvSpPr>
          <p:cNvPr id="12" name="Text 10"/>
          <p:cNvSpPr/>
          <p:nvPr/>
        </p:nvSpPr>
        <p:spPr>
          <a:xfrm>
            <a:off x="812800" y="6202759"/>
            <a:ext cx="65316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CF"/>
                </a:solidFill>
                <a:latin typeface="Be Vietnam Pro" pitchFamily="34" charset="0"/>
                <a:ea typeface="Be Vietnam Pro" pitchFamily="34" charset="-122"/>
                <a:cs typeface="Be Vietnam Pro" pitchFamily="34" charset="-120"/>
              </a:rPr>
              <a:t>12 / 14 · Tests run automatically on every push (GitHub Actions)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4213D"/>
                </a:solidFill>
                <a:latin typeface="Be Vietnam Pro" pitchFamily="34" charset="0"/>
                <a:ea typeface="Be Vietnam Pro" pitchFamily="34" charset="-122"/>
                <a:cs typeface="Be Vietnam Pro" pitchFamily="34" charset="-120"/>
              </a:rPr>
              <a:t>Results: live and ready to use</a:t>
            </a:r>
            <a:endParaRPr lang="en-US" sz="4000" dirty="0"/>
          </a:p>
        </p:txBody>
      </p:sp>
      <p:sp>
        <p:nvSpPr>
          <p:cNvPr id="3" name="Text 1"/>
          <p:cNvSpPr/>
          <p:nvPr/>
        </p:nvSpPr>
        <p:spPr>
          <a:xfrm>
            <a:off x="812800" y="1849140"/>
            <a:ext cx="4892294"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Be Vietnam Pro" pitchFamily="34" charset="0"/>
                <a:ea typeface="Be Vietnam Pro" pitchFamily="34" charset="-122"/>
                <a:cs typeface="Be Vietnam Pro" pitchFamily="34" charset="-120"/>
              </a:rPr>
              <a:t>koshi.huynhca.com</a:t>
            </a:r>
            <a:endParaRPr lang="en-US" sz="2800" dirty="0"/>
          </a:p>
        </p:txBody>
      </p:sp>
      <p:pic>
        <p:nvPicPr>
          <p:cNvPr id="4" name="Image 0" descr="Check">    </p:cNvPr>
          <p:cNvPicPr>
            <a:picLocks noChangeAspect="1"/>
          </p:cNvPicPr>
          <p:nvPr/>
        </p:nvPicPr>
        <p:blipFill>
          <a:blip r:embed="rId1"/>
          <a:srcRect l="0" r="0" t="0" b="0"/>
          <a:stretch/>
        </p:blipFill>
        <p:spPr>
          <a:xfrm>
            <a:off x="812800" y="2562820"/>
            <a:ext cx="304800" cy="304800"/>
          </a:xfrm>
          <a:prstGeom prst="rect">
            <a:avLst/>
          </a:prstGeom>
        </p:spPr>
      </p:pic>
      <p:sp>
        <p:nvSpPr>
          <p:cNvPr id="5" name="Text 2"/>
          <p:cNvSpPr/>
          <p:nvPr/>
        </p:nvSpPr>
        <p:spPr>
          <a:xfrm>
            <a:off x="1244600" y="2550120"/>
            <a:ext cx="46736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213D"/>
                </a:solidFill>
                <a:latin typeface="Be Vietnam Pro" pitchFamily="34" charset="0"/>
                <a:ea typeface="Be Vietnam Pro" pitchFamily="34" charset="-122"/>
                <a:cs typeface="Be Vietnam Pro" pitchFamily="34" charset="-120"/>
              </a:rPr>
              <a:t>Roles per project, Kanban, Scrum</a:t>
            </a:r>
            <a:endParaRPr lang="en-US" sz="2000" dirty="0"/>
          </a:p>
        </p:txBody>
      </p:sp>
      <p:pic>
        <p:nvPicPr>
          <p:cNvPr id="6" name="Image 1" descr="Check">    </p:cNvPr>
          <p:cNvPicPr>
            <a:picLocks noChangeAspect="1"/>
          </p:cNvPicPr>
          <p:nvPr/>
        </p:nvPicPr>
        <p:blipFill>
          <a:blip r:embed="rId2"/>
          <a:srcRect l="0" r="0" t="0" b="0"/>
          <a:stretch/>
        </p:blipFill>
        <p:spPr>
          <a:xfrm>
            <a:off x="812800" y="3096220"/>
            <a:ext cx="304800" cy="304800"/>
          </a:xfrm>
          <a:prstGeom prst="rect">
            <a:avLst/>
          </a:prstGeom>
        </p:spPr>
      </p:pic>
      <p:sp>
        <p:nvSpPr>
          <p:cNvPr id="7" name="Text 3"/>
          <p:cNvSpPr/>
          <p:nvPr/>
        </p:nvSpPr>
        <p:spPr>
          <a:xfrm>
            <a:off x="1244600" y="3083520"/>
            <a:ext cx="374880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213D"/>
                </a:solidFill>
                <a:latin typeface="Be Vietnam Pro" pitchFamily="34" charset="0"/>
                <a:ea typeface="Be Vietnam Pro" pitchFamily="34" charset="-122"/>
                <a:cs typeface="Be Vietnam Pro" pitchFamily="34" charset="-120"/>
              </a:rPr>
              <a:t>5 AI features, never crash</a:t>
            </a:r>
            <a:endParaRPr lang="en-US" sz="2000" dirty="0"/>
          </a:p>
        </p:txBody>
      </p:sp>
      <p:pic>
        <p:nvPicPr>
          <p:cNvPr id="8" name="Image 2" descr="Check">    </p:cNvPr>
          <p:cNvPicPr>
            <a:picLocks noChangeAspect="1"/>
          </p:cNvPicPr>
          <p:nvPr/>
        </p:nvPicPr>
        <p:blipFill>
          <a:blip r:embed="rId3"/>
          <a:srcRect l="0" r="0" t="0" b="0"/>
          <a:stretch/>
        </p:blipFill>
        <p:spPr>
          <a:xfrm>
            <a:off x="812800" y="3629620"/>
            <a:ext cx="304800" cy="304800"/>
          </a:xfrm>
          <a:prstGeom prst="rect">
            <a:avLst/>
          </a:prstGeom>
        </p:spPr>
      </p:pic>
      <p:sp>
        <p:nvSpPr>
          <p:cNvPr id="9" name="Text 4"/>
          <p:cNvSpPr/>
          <p:nvPr/>
        </p:nvSpPr>
        <p:spPr>
          <a:xfrm>
            <a:off x="1244600" y="3616920"/>
            <a:ext cx="3181231"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213D"/>
                </a:solidFill>
                <a:latin typeface="Be Vietnam Pro" pitchFamily="34" charset="0"/>
                <a:ea typeface="Be Vietnam Pro" pitchFamily="34" charset="-122"/>
                <a:cs typeface="Be Vietnam Pro" pitchFamily="34" charset="-120"/>
              </a:rPr>
              <a:t>English &amp; Vietnamese</a:t>
            </a:r>
            <a:endParaRPr lang="en-US" sz="2000" dirty="0"/>
          </a:p>
        </p:txBody>
      </p:sp>
      <p:sp>
        <p:nvSpPr>
          <p:cNvPr id="10" name="Text 5"/>
          <p:cNvSpPr/>
          <p:nvPr/>
        </p:nvSpPr>
        <p:spPr>
          <a:xfrm>
            <a:off x="812800" y="4150320"/>
            <a:ext cx="4892294"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4213D"/>
                </a:solidFill>
                <a:latin typeface="Be Vietnam Pro" pitchFamily="34" charset="0"/>
                <a:ea typeface="Be Vietnam Pro" pitchFamily="34" charset="-122"/>
                <a:cs typeface="Be Vietnam Pro" pitchFamily="34" charset="-120"/>
              </a:rPr>
              <a:t>Next:</a:t>
            </a:r>
            <a:r>
              <a:rPr lang="en-US" sz="1800" dirty="0">
                <a:solidFill>
                  <a:srgbClr val="3D4657"/>
                </a:solidFill>
                <a:latin typeface="Be Vietnam Pro" pitchFamily="34" charset="0"/>
                <a:ea typeface="Be Vietnam Pro" pitchFamily="34" charset="-122"/>
                <a:cs typeface="Be Vietnam Pro" pitchFamily="34" charset="-120"/>
              </a:rPr>
              <a:t> offline editing for teams, mobile app, Git integration</a:t>
            </a:r>
            <a:endParaRPr lang="en-US" sz="1800" dirty="0"/>
          </a:p>
        </p:txBody>
      </p:sp>
      <p:sp>
        <p:nvSpPr>
          <p:cNvPr id="11" name="Shape 6"/>
          <p:cNvSpPr/>
          <p:nvPr/>
        </p:nvSpPr>
        <p:spPr>
          <a:xfrm>
            <a:off x="5918200" y="1676400"/>
            <a:ext cx="5461000" cy="3263900"/>
          </a:xfrm>
          <a:prstGeom prst="roundRect">
            <a:avLst>
              <a:gd name="adj" fmla="val 3113"/>
            </a:avLst>
          </a:prstGeom>
          <a:solidFill>
            <a:srgbClr val="FFFFFF"/>
          </a:solidFill>
          <a:ln/>
        </p:spPr>
      </p:sp>
      <p:pic>
        <p:nvPicPr>
          <p:cNvPr id="12" name="Image 3" descr="Landing page of the live website">    </p:cNvPr>
          <p:cNvPicPr>
            <a:picLocks noChangeAspect="1"/>
          </p:cNvPicPr>
          <p:nvPr/>
        </p:nvPicPr>
        <p:blipFill>
          <a:blip r:embed="rId4"/>
          <a:srcRect l="-143" r="-143" t="0" b="0"/>
          <a:stretch/>
        </p:blipFill>
        <p:spPr>
          <a:xfrm>
            <a:off x="5930900" y="1689100"/>
            <a:ext cx="5435600" cy="3238500"/>
          </a:xfrm>
          <a:prstGeom prst="roundRect">
            <a:avLst>
              <a:gd name="adj" fmla="val 2745"/>
            </a:avLst>
          </a:prstGeom>
        </p:spPr>
      </p:pic>
      <p:sp>
        <p:nvSpPr>
          <p:cNvPr id="13" name="Shape 7"/>
          <p:cNvSpPr/>
          <p:nvPr/>
        </p:nvSpPr>
        <p:spPr>
          <a:xfrm>
            <a:off x="5924550" y="1682750"/>
            <a:ext cx="5448300" cy="3251200"/>
          </a:xfrm>
          <a:prstGeom prst="roundRect">
            <a:avLst>
              <a:gd name="adj" fmla="val 2930"/>
            </a:avLst>
          </a:prstGeom>
          <a:noFill/>
          <a:ln w="12700">
            <a:solidFill>
              <a:srgbClr val="E4DED3"/>
            </a:solidFill>
            <a:prstDash val="solid"/>
          </a:ln>
        </p:spPr>
      </p:sp>
      <p:sp>
        <p:nvSpPr>
          <p:cNvPr id="14" name="Text 8"/>
          <p:cNvSpPr/>
          <p:nvPr/>
        </p:nvSpPr>
        <p:spPr>
          <a:xfrm>
            <a:off x="812800" y="6202759"/>
            <a:ext cx="459926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13 / 14 · Demo accounts available on request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07B24"/>
        </a:solidFill>
      </p:bgPr>
    </p:bg>
    <p:spTree>
      <p:nvGrpSpPr>
        <p:cNvPr id="1" name=""/>
        <p:cNvGrpSpPr/>
        <p:nvPr/>
      </p:nvGrpSpPr>
      <p:grpSpPr>
        <a:xfrm>
          <a:off x="0" y="0"/>
          <a:ext cx="0" cy="0"/>
          <a:chOff x="0" y="0"/>
          <a:chExt cx="0" cy="0"/>
        </a:xfrm>
      </p:grpSpPr>
      <p:sp>
        <p:nvSpPr>
          <p:cNvPr id="2" name="Text 0"/>
          <p:cNvSpPr/>
          <p:nvPr>
            <p:ph type="title"/>
          </p:nvPr>
        </p:nvSpPr>
        <p:spPr>
          <a:xfrm>
            <a:off x="812800" y="2197398"/>
            <a:ext cx="10883392" cy="1025525"/>
          </a:xfrm>
          <a:prstGeom prst="rect">
            <a:avLst/>
          </a:prstGeom>
          <a:noFill/>
          <a:ln/>
        </p:spPr>
        <p:txBody>
          <a:bodyPr wrap="square" lIns="0" tIns="0" rIns="0" bIns="0" rtlCol="0" anchor="t">
            <a:normAutofit/>
          </a:bodyPr>
          <a:lstStyle/>
          <a:p>
            <a:pPr algn="l" indent="0" marL="0">
              <a:lnSpc>
                <a:spcPts val="7875"/>
              </a:lnSpc>
              <a:buNone/>
            </a:pPr>
            <a:r>
              <a:rPr lang="en-US" sz="7500" b="1" i="0" dirty="0">
                <a:solidFill>
                  <a:srgbClr val="14213D"/>
                </a:solidFill>
                <a:latin typeface="Be Vietnam Pro" pitchFamily="34" charset="0"/>
                <a:ea typeface="Be Vietnam Pro" pitchFamily="34" charset="-122"/>
                <a:cs typeface="Be Vietnam Pro" pitchFamily="34" charset="-120"/>
              </a:rPr>
              <a:t>Thank you!</a:t>
            </a:r>
            <a:endParaRPr lang="en-US" sz="7500" dirty="0"/>
          </a:p>
        </p:txBody>
      </p:sp>
      <p:sp>
        <p:nvSpPr>
          <p:cNvPr id="3" name="Text 1"/>
          <p:cNvSpPr/>
          <p:nvPr/>
        </p:nvSpPr>
        <p:spPr>
          <a:xfrm>
            <a:off x="812800" y="3502323"/>
            <a:ext cx="1088339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4213D"/>
                </a:solidFill>
                <a:latin typeface="Be Vietnam Pro" pitchFamily="34" charset="0"/>
                <a:ea typeface="Be Vietnam Pro" pitchFamily="34" charset="-122"/>
                <a:cs typeface="Be Vietnam Pro" pitchFamily="34" charset="-120"/>
              </a:rPr>
              <a:t>Questions &amp; live demo</a:t>
            </a:r>
            <a:endParaRPr lang="en-US" sz="2800" dirty="0"/>
          </a:p>
        </p:txBody>
      </p:sp>
      <p:sp>
        <p:nvSpPr>
          <p:cNvPr id="4" name="Text 2"/>
          <p:cNvSpPr/>
          <p:nvPr/>
        </p:nvSpPr>
        <p:spPr>
          <a:xfrm>
            <a:off x="812800" y="4304903"/>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4213D"/>
                </a:solidFill>
                <a:latin typeface="Be Vietnam Pro" pitchFamily="34" charset="0"/>
                <a:ea typeface="Be Vietnam Pro" pitchFamily="34" charset="-122"/>
                <a:cs typeface="Be Vietnam Pro" pitchFamily="34" charset="-120"/>
              </a:rPr>
              <a:t>Phạm Văn Huynh · Đàm Đức Đôn · Phạm Minh Tú — Computer Engineering K23A</a:t>
            </a:r>
            <a:endParaRPr lang="en-US" sz="2000" dirty="0"/>
          </a:p>
        </p:txBody>
      </p:sp>
    </p:spTree>
  </p:cSld>
  <p:clrMapOvr>
    <a:masterClrMapping/>
  </p:clrMapOvr>
</p:sld>
</file>

<file path=ppt/theme/theme1.xml><?xml version="1.0" encoding="utf-8"?>
<a:theme xmlns:a="http://schemas.openxmlformats.org/drawingml/2006/main" name="A Team Project Management System with Integrated AI">
  <a:themeElements>
    <a:clrScheme name="A Team Project Management System with Integrated AI">
      <a:dk1>
        <a:srgbClr val="14213D"/>
      </a:dk1>
      <a:lt1>
        <a:srgbClr val="F7F6F2"/>
      </a:lt1>
      <a:dk2>
        <a:srgbClr val="4D566A"/>
      </a:dk2>
      <a:lt2>
        <a:srgbClr val="E0E1E0"/>
      </a:lt2>
      <a:accent1>
        <a:srgbClr val="F2A541"/>
      </a:accent1>
      <a:accent2>
        <a:srgbClr val="C2410C"/>
      </a:accent2>
      <a:accent3>
        <a:srgbClr val="9FB0CF"/>
      </a:accent3>
      <a:accent4>
        <a:srgbClr val="15803D"/>
      </a:accent4>
      <a:accent5>
        <a:srgbClr val="1D4ED8"/>
      </a:accent5>
      <a:accent6>
        <a:srgbClr val="E07B24"/>
      </a:accent6>
      <a:hlink>
        <a:srgbClr val="0563C1"/>
      </a:hlink>
      <a:folHlink>
        <a:srgbClr val="954F72"/>
      </a:folHlink>
    </a:clrScheme>
    <a:fontScheme name="A Team Project Management System with Integrated AI">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Team Project Management System with Integrated AI</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2026-10-25T05:46:10Z</dcterms:created>
  <dcterms:modified xsi:type="dcterms:W3CDTF">2026-10-25T05:46:10Z</dcterms:modified>
</cp:coreProperties>
</file>