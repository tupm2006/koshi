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Be Vietnam Pro" pitchFamily="3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cô và các bạn. Nhóm em gồm Huynh, Đôn và Tú. Đề tài của nhóm là một hệ thống quản lý dự án dành cho các nhóm nhỏ như chính nhóm em, có sẵn Kanban, Scrum và trợ lý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Chính nhóm em đã gặp vấn đề này. Giao việc qua tin nhắn và bảng tính, việc bị trôi, không biết ai đang bị kẹt. Jira và Trello có giúp, nhưng nặng, luôn cần mạng, và báo cáo Scrum hay AI thì phải trả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bất kỳ nhóm sinh viên nào giữa kỳ: ai đang làm gì, có trễ không, ai đang kẹt? Thường không ai biết. Đó là vấn đề thật mà nhóm muốn giải quyết.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đã xem các nhóm đang dùng gì. Tin nhắn và bảng tính miễn phí nhưng lộn xộn. Công cụ lớn thì bài bản nhưng nặng, luôn cần mạng, và phần hữu ích như báo cáo Scrum hay AI thường phải trả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Còn một vấn đề thứ hai, mới hơn. Nhiều sinh viên giờ để Agent AI viết code. Không có luật, agent có thể làm lộ khoá, đè lên việc của bạn cùng nhóm, hoặc báo xong khi chưa test gì. Nhóm muốn xây dựng bằng AI một cách an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khác biệt của dự án. Một, AI không bao giờ hỏng: mô hình lỗi thì người dùng vẫn nhận câu trả lời dựng từ dữ liệu thật. Hai, Scrum có retrospective do AI viết. Ba, làm việc offline với luật an toàn rõ ràng. Và bốn, phần nhóm tự hào nhất: chính phần mềm được xây bởi dây chuyền Agent AI có rào chắn bắt buộc.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màn hình chính. Bốn cột, mỗi thẻ là một task. Thẻ hiện người làm, độ ưu tiên và hạn chót, và được sắp theo hạn chót nên việc trễ không bao giờ bị chìm. Mọi thứ làm bằng bàn phím: h j k l để di chuyển, Space để đổi trạng thái, n để tạo task mới. Biểu tượng ngọn lửa nghĩa là task nằm trên đường găng.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 hướng dẫn gợi ý hỗ trợ Scrum, nên nhóm đã làm. Công việc chia thành các sprint khoảng hai tuần. Sprint được lên kế hoạch trước: PM kéo việc từ backlog vào. Khi bắt đầu, hệ thống ghi nhớ số điểm nhóm đã cam kết. Khi kết thúc, việc chưa xong chuyển sang sprint sau hoặc trả về backlog, không xoá gì cả.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biểu đồ cho nhóm biết sprint đang thế nào. Burndown: lượng việc còn lại mỗi ngày so với đường thẳng lý tưởng. Velocity: nhóm hứa bao nhiêu điểm và làm được bao nhiêu, để lần sau hứa cho thực tế. Cuối sprint, AI viết retrospective từ chính số liệu thật: điều làm tốt, điều cần cải thiện và việc cụ thể cần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năm chức năng AI. Đưa bảng công việc, AI viết báo cáo tuần. Dán ghi chép họp, AI tách ra việc cần làm, người làm và quyết định. Mô tả một task mới, AI gợi ý ai nên làm dựa trên kỹ năng và khối lượng hiện tại. Đưa một mục tiêu lớn, AI chia thành các task con có thứ tự. Và retrospective cuối sprint. Nhóm dùng mô hình trên Groq. Nếu dịch vụ AI lỗi, hệ thống trả câu trả lời dựng từ dữ liệu dự án, nên chức năng không bao giờ hỏng. AI luôn trả lời theo ngôn ngữ đang chọn trên giao diện.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không chỉ dùng AI bên trong sản phẩm, mà còn dùng Agent AI để xây dựng nó, và làm cho quy trình đó an toàn. Công việc đi qua sáu trạm, mỗi trạm là một agent chuyên trách: phân tích yêu cầu, thiết kế, viết test trước, viết code, rà soát độc lập và kiểm tra phát hành. Về context engineering: agent phải đọc tám tài liệu D1 đến D8 trước khi sửa code. Các quy tắc được thực thi bằng hook chạy trước mọi lệnh sửa file và lệnh shell. Có việc luôn bị cấm như ghi khoá bí mật hay force-push. Việc rủi ro như sửa code đăng nhập hay push thì phải có người duyệt. Và agent không được báo xong khi code thay đổi mà thiếu test hoặc tài liệu. Bản thân rào chắn có 57 test, và đã hai lần chặn chính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cuối là vận hành. Toàn bộ hệ thống được đóng gói thành image Docker, chạy bằng một lệnh, và cấu trúc cơ sở dữ liệu tự nâng cấp bằng migration. Khi chạy, health check kiểm tra cả cơ sở dữ liệu và tự khởi động lại server nếu lỗi, file log được giới hạn để không đầy ổ đĩa. Về giám sát, server công bố số liệu: số lượt gọi, số lỗi, thời gian phản hồi, và bao nhiêu câu trả lời AI đến từ mô hình thật hay từ phương án dự phòng. Trang số liệu được bảo vệ bằng token. Mỗi yêu cầu có một mã ID, nên khi người dùng báo lỗi, nhóm tìm được đúng yêu cầu đó trong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Hệ thống đang chạy thật tại koshi chấm huynhca chấm com và nhóm đã dùng. 684 test tự động đều đạt: 185 cho server, 442 cho giao diện, 57 cho rào chắn, CI chạy mỗi lần push. Một script chạy 32 bước kiểm tra trên web thật, kể cả AI, không lỗi nào. Và rào chắn hoạt động thật: đã hai lần chặn chính Agent AI. Khi vận hành có health check, metrics và mã ID để theo dõi. Bây giờ nhóm xin demo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xin cảm ơn thầy cô và các bạn đã lắng nghe. Nhóm sẵn sàng trả lời câu hỏi và demo trực tiếp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30820"/>
          </a:xfrm>
          <a:prstGeom prst="rect">
            <a:avLst/>
          </a:prstGeom>
          <a:noFill/>
          <a:ln/>
        </p:spPr>
        <p:txBody>
          <a:bodyPr wrap="square" lIns="0" tIns="0" rIns="0" bIns="0" rtlCol="0" anchor="t"/>
          <a:lstStyle>
            <a:lvl1pPr algn="l" indent="0" marL="0">
              <a:lnSpc>
                <a:spcPct val="115000"/>
              </a:lnSpc>
              <a:buNone/>
              <a:defRPr lang="en-US" sz="38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648420"/>
            <a:ext cx="10566400" cy="439678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30820"/>
          </a:xfrm>
          <a:prstGeom prst="rect">
            <a:avLst/>
          </a:prstGeom>
          <a:noFill/>
          <a:ln/>
        </p:spPr>
        <p:txBody>
          <a:bodyPr wrap="square" lIns="0" tIns="0" rIns="0" bIns="0" rtlCol="0" anchor="t"/>
          <a:lstStyle>
            <a:lvl1pPr algn="l" indent="0" marL="0">
              <a:lnSpc>
                <a:spcPct val="115000"/>
              </a:lnSpc>
              <a:buNone/>
              <a:defRPr lang="en-US" sz="38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648420"/>
            <a:ext cx="10566400" cy="439678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jpe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spc="100" kern="0" dirty="0">
                <a:solidFill>
                  <a:srgbClr val="F2A541"/>
                </a:solidFill>
                <a:latin typeface="Be Vietnam Pro" pitchFamily="34" charset="0"/>
                <a:ea typeface="Be Vietnam Pro" pitchFamily="34" charset="-122"/>
                <a:cs typeface="Be Vietnam Pro" pitchFamily="34" charset="-120"/>
              </a:rPr>
              <a:t>BÀI TẬP LỚN · KỸ THUẬT MÁY TÍNH K23A</a:t>
            </a:r>
            <a:endParaRPr lang="en-US" sz="1800" dirty="0"/>
          </a:p>
        </p:txBody>
      </p:sp>
      <p:sp>
        <p:nvSpPr>
          <p:cNvPr id="3" name="Text 1"/>
          <p:cNvSpPr/>
          <p:nvPr>
            <p:ph type="title"/>
          </p:nvPr>
        </p:nvSpPr>
        <p:spPr>
          <a:xfrm>
            <a:off x="812800" y="1386780"/>
            <a:ext cx="10137775" cy="1478161"/>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F7F6F2"/>
                </a:solidFill>
                <a:latin typeface="Be Vietnam Pro" pitchFamily="34" charset="0"/>
                <a:ea typeface="Be Vietnam Pro" pitchFamily="34" charset="-122"/>
                <a:cs typeface="Be Vietnam Pro" pitchFamily="34" charset="-120"/>
              </a:rPr>
              <a:t>Hệ thống quản lý dự án nhóm có tích hợp AI</a:t>
            </a:r>
            <a:endParaRPr lang="en-US" sz="5200" dirty="0"/>
          </a:p>
        </p:txBody>
      </p:sp>
      <p:sp>
        <p:nvSpPr>
          <p:cNvPr id="4" name="Text 2"/>
          <p:cNvSpPr/>
          <p:nvPr/>
        </p:nvSpPr>
        <p:spPr>
          <a:xfrm>
            <a:off x="812800" y="3093541"/>
            <a:ext cx="110490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D3E6"/>
                </a:solidFill>
                <a:latin typeface="Be Vietnam Pro" pitchFamily="34" charset="0"/>
                <a:ea typeface="Be Vietnam Pro" pitchFamily="34" charset="-122"/>
                <a:cs typeface="Be Vietnam Pro" pitchFamily="34" charset="-120"/>
              </a:rPr>
              <a:t>Kanban + Scrum + trợ lý AI, dùng bằng bàn phím và cả khi mất mạng</a:t>
            </a:r>
            <a:endParaRPr lang="en-US" sz="2200" dirty="0"/>
          </a:p>
        </p:txBody>
      </p:sp>
      <p:sp>
        <p:nvSpPr>
          <p:cNvPr id="5" name="Text 3"/>
          <p:cNvSpPr/>
          <p:nvPr/>
        </p:nvSpPr>
        <p:spPr>
          <a:xfrm>
            <a:off x="812800" y="5293420"/>
            <a:ext cx="723352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7F6F2"/>
                </a:solidFill>
                <a:latin typeface="Be Vietnam Pro" pitchFamily="34" charset="0"/>
                <a:ea typeface="Be Vietnam Pro" pitchFamily="34" charset="-122"/>
                <a:cs typeface="Be Vietnam Pro" pitchFamily="34" charset="-120"/>
              </a:rPr>
              <a:t>Phạm Văn Huynh · Đàm Đức Đôn · Phạm Minh Tú</a:t>
            </a:r>
            <a:endParaRPr lang="en-US" sz="2000" dirty="0"/>
          </a:p>
        </p:txBody>
      </p:sp>
      <p:sp>
        <p:nvSpPr>
          <p:cNvPr id="6" name="Text 4"/>
          <p:cNvSpPr/>
          <p:nvPr/>
        </p:nvSpPr>
        <p:spPr>
          <a:xfrm>
            <a:off x="812800" y="5725220"/>
            <a:ext cx="6208774"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E6"/>
                </a:solidFill>
                <a:latin typeface="Be Vietnam Pro" pitchFamily="34" charset="0"/>
                <a:ea typeface="Be Vietnam Pro" pitchFamily="34" charset="-122"/>
                <a:cs typeface="Be Vietnam Pro" pitchFamily="34" charset="-120"/>
              </a:rPr>
              <a:t>Giảng viên hướng dẫn: Hà Thị Thanh</a:t>
            </a:r>
            <a:endParaRPr lang="en-US" sz="1800" dirty="0"/>
          </a:p>
        </p:txBody>
      </p:sp>
      <p:sp>
        <p:nvSpPr>
          <p:cNvPr id="7" name="Text 5"/>
          <p:cNvSpPr/>
          <p:nvPr/>
        </p:nvSpPr>
        <p:spPr>
          <a:xfrm>
            <a:off x="9812457" y="5725220"/>
            <a:ext cx="1566743" cy="34538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C9D3E6"/>
                </a:solidFill>
                <a:latin typeface="Be Vietnam Pro" pitchFamily="34" charset="0"/>
                <a:ea typeface="Be Vietnam Pro" pitchFamily="34" charset="-122"/>
                <a:cs typeface="Be Vietnam Pro" pitchFamily="34" charset="-120"/>
              </a:rPr>
              <a:t>ICTU ·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562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14213D"/>
                </a:solidFill>
                <a:latin typeface="Be Vietnam Pro" pitchFamily="34" charset="0"/>
                <a:ea typeface="Be Vietnam Pro" pitchFamily="34" charset="-122"/>
                <a:cs typeface="Be Vietnam Pro" pitchFamily="34" charset="-120"/>
              </a:rPr>
              <a:t>Vấn đề: nhóm sinh viên quản lý việc rất khó</a:t>
            </a:r>
            <a:endParaRPr lang="en-US" sz="3800" dirty="0"/>
          </a:p>
        </p:txBody>
      </p:sp>
      <p:sp>
        <p:nvSpPr>
          <p:cNvPr id="3" name="Shape 1"/>
          <p:cNvSpPr/>
          <p:nvPr/>
        </p:nvSpPr>
        <p:spPr>
          <a:xfrm>
            <a:off x="819150" y="1756370"/>
            <a:ext cx="3340100" cy="2727226"/>
          </a:xfrm>
          <a:prstGeom prst="roundRect">
            <a:avLst>
              <a:gd name="adj" fmla="val 5355"/>
            </a:avLst>
          </a:prstGeom>
          <a:solidFill>
            <a:srgbClr val="FFFDF9"/>
          </a:solidFill>
          <a:ln w="12700">
            <a:solidFill>
              <a:srgbClr val="E4DED3"/>
            </a:solidFill>
            <a:prstDash val="solid"/>
          </a:ln>
        </p:spPr>
      </p:sp>
      <p:pic>
        <p:nvPicPr>
          <p:cNvPr id="4" name="Image 0" descr="Chat">    </p:cNvPr>
          <p:cNvPicPr>
            <a:picLocks noChangeAspect="1"/>
          </p:cNvPicPr>
          <p:nvPr/>
        </p:nvPicPr>
        <p:blipFill>
          <a:blip r:embed="rId1"/>
          <a:srcRect l="0" r="0" t="0" b="0"/>
          <a:stretch/>
        </p:blipFill>
        <p:spPr>
          <a:xfrm>
            <a:off x="1130300" y="2067520"/>
            <a:ext cx="508000" cy="508000"/>
          </a:xfrm>
          <a:prstGeom prst="rect">
            <a:avLst/>
          </a:prstGeom>
        </p:spPr>
      </p:pic>
      <p:sp>
        <p:nvSpPr>
          <p:cNvPr id="5" name="Text 2"/>
          <p:cNvSpPr/>
          <p:nvPr/>
        </p:nvSpPr>
        <p:spPr>
          <a:xfrm>
            <a:off x="1130300" y="2702520"/>
            <a:ext cx="2799334"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4213D"/>
                </a:solidFill>
                <a:latin typeface="Be Vietnam Pro" pitchFamily="34" charset="0"/>
                <a:ea typeface="Be Vietnam Pro" pitchFamily="34" charset="-122"/>
                <a:cs typeface="Be Vietnam Pro" pitchFamily="34" charset="-120"/>
              </a:rPr>
              <a:t>Zalo &amp; Excel</a:t>
            </a:r>
            <a:endParaRPr lang="en-US" sz="2400" dirty="0"/>
          </a:p>
        </p:txBody>
      </p:sp>
      <p:sp>
        <p:nvSpPr>
          <p:cNvPr id="6" name="Text 3"/>
          <p:cNvSpPr/>
          <p:nvPr/>
        </p:nvSpPr>
        <p:spPr>
          <a:xfrm>
            <a:off x="1130300" y="3195241"/>
            <a:ext cx="2799334" cy="1002605"/>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3D4657"/>
                </a:solidFill>
                <a:latin typeface="Be Vietnam Pro" pitchFamily="34" charset="0"/>
                <a:ea typeface="Be Vietnam Pro" pitchFamily="34" charset="-122"/>
                <a:cs typeface="Be Vietnam Pro" pitchFamily="34" charset="-120"/>
              </a:rPr>
              <a:t>Việc trôi mất trong tin nhắn. Không rõ trạng thái, hạn chót, ai làm.</a:t>
            </a:r>
            <a:endParaRPr lang="en-US" sz="1900" dirty="0"/>
          </a:p>
        </p:txBody>
      </p:sp>
      <p:sp>
        <p:nvSpPr>
          <p:cNvPr id="7" name="Shape 4"/>
          <p:cNvSpPr/>
          <p:nvPr/>
        </p:nvSpPr>
        <p:spPr>
          <a:xfrm>
            <a:off x="4425950" y="1756370"/>
            <a:ext cx="3340100" cy="2727226"/>
          </a:xfrm>
          <a:prstGeom prst="roundRect">
            <a:avLst>
              <a:gd name="adj" fmla="val 5355"/>
            </a:avLst>
          </a:prstGeom>
          <a:solidFill>
            <a:srgbClr val="FFFDF9"/>
          </a:solidFill>
          <a:ln w="12700">
            <a:solidFill>
              <a:srgbClr val="E4DED3"/>
            </a:solidFill>
            <a:prstDash val="solid"/>
          </a:ln>
        </p:spPr>
      </p:sp>
      <p:pic>
        <p:nvPicPr>
          <p:cNvPr id="8" name="Image 1" descr="Lock">    </p:cNvPr>
          <p:cNvPicPr>
            <a:picLocks noChangeAspect="1"/>
          </p:cNvPicPr>
          <p:nvPr/>
        </p:nvPicPr>
        <p:blipFill>
          <a:blip r:embed="rId2"/>
          <a:srcRect l="0" r="0" t="0" b="0"/>
          <a:stretch/>
        </p:blipFill>
        <p:spPr>
          <a:xfrm>
            <a:off x="4737100" y="2067520"/>
            <a:ext cx="508000" cy="508000"/>
          </a:xfrm>
          <a:prstGeom prst="rect">
            <a:avLst/>
          </a:prstGeom>
        </p:spPr>
      </p:pic>
      <p:sp>
        <p:nvSpPr>
          <p:cNvPr id="9" name="Text 5"/>
          <p:cNvSpPr/>
          <p:nvPr/>
        </p:nvSpPr>
        <p:spPr>
          <a:xfrm>
            <a:off x="4737100" y="2702520"/>
            <a:ext cx="2799334"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4213D"/>
                </a:solidFill>
                <a:latin typeface="Be Vietnam Pro" pitchFamily="34" charset="0"/>
                <a:ea typeface="Be Vietnam Pro" pitchFamily="34" charset="-122"/>
                <a:cs typeface="Be Vietnam Pro" pitchFamily="34" charset="-120"/>
              </a:rPr>
              <a:t>Công cụ lớn</a:t>
            </a:r>
            <a:endParaRPr lang="en-US" sz="2400" dirty="0"/>
          </a:p>
        </p:txBody>
      </p:sp>
      <p:sp>
        <p:nvSpPr>
          <p:cNvPr id="10" name="Text 6"/>
          <p:cNvSpPr/>
          <p:nvPr/>
        </p:nvSpPr>
        <p:spPr>
          <a:xfrm>
            <a:off x="4737100" y="3195241"/>
            <a:ext cx="2799334" cy="1002605"/>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3D4657"/>
                </a:solidFill>
                <a:latin typeface="Be Vietnam Pro" pitchFamily="34" charset="0"/>
                <a:ea typeface="Be Vietnam Pro" pitchFamily="34" charset="-122"/>
                <a:cs typeface="Be Vietnam Pro" pitchFamily="34" charset="-120"/>
              </a:rPr>
              <a:t>Jira nặng, luôn cần mạng. Báo cáo Scrum và AI phải trả phí.</a:t>
            </a:r>
            <a:endParaRPr lang="en-US" sz="1900" dirty="0"/>
          </a:p>
        </p:txBody>
      </p:sp>
      <p:sp>
        <p:nvSpPr>
          <p:cNvPr id="11" name="Shape 7"/>
          <p:cNvSpPr/>
          <p:nvPr/>
        </p:nvSpPr>
        <p:spPr>
          <a:xfrm>
            <a:off x="8032750" y="1756370"/>
            <a:ext cx="3340100" cy="2727226"/>
          </a:xfrm>
          <a:prstGeom prst="roundRect">
            <a:avLst>
              <a:gd name="adj" fmla="val 5355"/>
            </a:avLst>
          </a:prstGeom>
          <a:solidFill>
            <a:srgbClr val="FFFDF9"/>
          </a:solidFill>
          <a:ln w="12700">
            <a:solidFill>
              <a:srgbClr val="E4DED3"/>
            </a:solidFill>
            <a:prstDash val="solid"/>
          </a:ln>
        </p:spPr>
      </p:sp>
      <p:pic>
        <p:nvPicPr>
          <p:cNvPr id="12" name="Image 2" descr="Clock">    </p:cNvPr>
          <p:cNvPicPr>
            <a:picLocks noChangeAspect="1"/>
          </p:cNvPicPr>
          <p:nvPr/>
        </p:nvPicPr>
        <p:blipFill>
          <a:blip r:embed="rId3"/>
          <a:srcRect l="0" r="0" t="0" b="0"/>
          <a:stretch/>
        </p:blipFill>
        <p:spPr>
          <a:xfrm>
            <a:off x="8343900" y="2067520"/>
            <a:ext cx="508000" cy="508000"/>
          </a:xfrm>
          <a:prstGeom prst="rect">
            <a:avLst/>
          </a:prstGeom>
        </p:spPr>
      </p:pic>
      <p:sp>
        <p:nvSpPr>
          <p:cNvPr id="13" name="Text 8"/>
          <p:cNvSpPr/>
          <p:nvPr/>
        </p:nvSpPr>
        <p:spPr>
          <a:xfrm>
            <a:off x="8343900" y="2702520"/>
            <a:ext cx="2799334"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4213D"/>
                </a:solidFill>
                <a:latin typeface="Be Vietnam Pro" pitchFamily="34" charset="0"/>
                <a:ea typeface="Be Vietnam Pro" pitchFamily="34" charset="-122"/>
                <a:cs typeface="Be Vietnam Pro" pitchFamily="34" charset="-120"/>
              </a:rPr>
              <a:t>Mất thời gian</a:t>
            </a:r>
            <a:endParaRPr lang="en-US" sz="2400" dirty="0"/>
          </a:p>
        </p:txBody>
      </p:sp>
      <p:sp>
        <p:nvSpPr>
          <p:cNvPr id="14" name="Text 9"/>
          <p:cNvSpPr/>
          <p:nvPr/>
        </p:nvSpPr>
        <p:spPr>
          <a:xfrm>
            <a:off x="8343900" y="3195241"/>
            <a:ext cx="2799334" cy="1002605"/>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3D4657"/>
                </a:solidFill>
                <a:latin typeface="Be Vietnam Pro" pitchFamily="34" charset="0"/>
                <a:ea typeface="Be Vietnam Pro" pitchFamily="34" charset="-122"/>
                <a:cs typeface="Be Vietnam Pro" pitchFamily="34" charset="-120"/>
              </a:rPr>
              <a:t>Viết báo cáo, biên bản họp, kế hoạch tốn nhiều công sức.</a:t>
            </a:r>
            <a:endParaRPr lang="en-US" sz="1900" dirty="0"/>
          </a:p>
        </p:txBody>
      </p:sp>
      <p:sp>
        <p:nvSpPr>
          <p:cNvPr id="15" name="Text 10"/>
          <p:cNvSpPr/>
          <p:nvPr/>
        </p:nvSpPr>
        <p:spPr>
          <a:xfrm>
            <a:off x="812800" y="6202759"/>
            <a:ext cx="57804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2 / 14</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14213D"/>
                </a:solidFill>
                <a:latin typeface="Be Vietnam Pro" pitchFamily="34" charset="0"/>
                <a:ea typeface="Be Vietnam Pro" pitchFamily="34" charset="-122"/>
                <a:cs typeface="Be Vietnam Pro" pitchFamily="34" charset="-120"/>
              </a:rPr>
              <a:t>Ba câu hỏi không ai trong nhóm trả lời được</a:t>
            </a:r>
            <a:endParaRPr lang="en-US" sz="3800" dirty="0"/>
          </a:p>
        </p:txBody>
      </p:sp>
      <p:sp>
        <p:nvSpPr>
          <p:cNvPr id="3" name="Shape 1"/>
          <p:cNvSpPr/>
          <p:nvPr/>
        </p:nvSpPr>
        <p:spPr>
          <a:xfrm>
            <a:off x="819150" y="2287191"/>
            <a:ext cx="3340100" cy="2408932"/>
          </a:xfrm>
          <a:prstGeom prst="roundRect">
            <a:avLst>
              <a:gd name="adj" fmla="val 6063"/>
            </a:avLst>
          </a:prstGeom>
          <a:solidFill>
            <a:srgbClr val="FFFDF9"/>
          </a:solidFill>
          <a:ln w="12700">
            <a:solidFill>
              <a:srgbClr val="E4DED3"/>
            </a:solidFill>
            <a:prstDash val="solid"/>
          </a:ln>
        </p:spPr>
      </p:sp>
      <p:pic>
        <p:nvPicPr>
          <p:cNvPr id="4" name="Image 0" descr="Search">    </p:cNvPr>
          <p:cNvPicPr>
            <a:picLocks noChangeAspect="1"/>
          </p:cNvPicPr>
          <p:nvPr/>
        </p:nvPicPr>
        <p:blipFill>
          <a:blip r:embed="rId1"/>
          <a:srcRect l="0" r="0" t="0" b="0"/>
          <a:stretch/>
        </p:blipFill>
        <p:spPr>
          <a:xfrm>
            <a:off x="1104900" y="2572941"/>
            <a:ext cx="457200" cy="457200"/>
          </a:xfrm>
          <a:prstGeom prst="rect">
            <a:avLst/>
          </a:prstGeom>
        </p:spPr>
      </p:pic>
      <p:sp>
        <p:nvSpPr>
          <p:cNvPr id="5" name="Text 2"/>
          <p:cNvSpPr/>
          <p:nvPr/>
        </p:nvSpPr>
        <p:spPr>
          <a:xfrm>
            <a:off x="1104900" y="3131741"/>
            <a:ext cx="285165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Ai đang làm gì?</a:t>
            </a:r>
            <a:endParaRPr lang="en-US" sz="2200" dirty="0"/>
          </a:p>
        </p:txBody>
      </p:sp>
      <p:sp>
        <p:nvSpPr>
          <p:cNvPr id="6" name="Text 3"/>
          <p:cNvSpPr/>
          <p:nvPr/>
        </p:nvSpPr>
        <p:spPr>
          <a:xfrm>
            <a:off x="1104900" y="3568601"/>
            <a:ext cx="2851658"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3D4657"/>
                </a:solidFill>
                <a:latin typeface="Be Vietnam Pro" pitchFamily="34" charset="0"/>
                <a:ea typeface="Be Vietnam Pro" pitchFamily="34" charset="-122"/>
                <a:cs typeface="Be Vietnam Pro" pitchFamily="34" charset="-120"/>
              </a:rPr>
              <a:t>Việc nằm rải rác trong tin nhắn và file.</a:t>
            </a:r>
            <a:endParaRPr lang="en-US" sz="1700" dirty="0"/>
          </a:p>
        </p:txBody>
      </p:sp>
      <p:sp>
        <p:nvSpPr>
          <p:cNvPr id="7" name="Shape 4"/>
          <p:cNvSpPr/>
          <p:nvPr/>
        </p:nvSpPr>
        <p:spPr>
          <a:xfrm>
            <a:off x="4425950" y="2287191"/>
            <a:ext cx="3340100" cy="2408932"/>
          </a:xfrm>
          <a:prstGeom prst="roundRect">
            <a:avLst>
              <a:gd name="adj" fmla="val 6063"/>
            </a:avLst>
          </a:prstGeom>
          <a:solidFill>
            <a:srgbClr val="FFFDF9"/>
          </a:solidFill>
          <a:ln w="12700">
            <a:solidFill>
              <a:srgbClr val="E4DED3"/>
            </a:solidFill>
            <a:prstDash val="solid"/>
          </a:ln>
        </p:spPr>
      </p:sp>
      <p:pic>
        <p:nvPicPr>
          <p:cNvPr id="8" name="Image 1" descr="Clock">    </p:cNvPr>
          <p:cNvPicPr>
            <a:picLocks noChangeAspect="1"/>
          </p:cNvPicPr>
          <p:nvPr/>
        </p:nvPicPr>
        <p:blipFill>
          <a:blip r:embed="rId2"/>
          <a:srcRect l="0" r="0" t="0" b="0"/>
          <a:stretch/>
        </p:blipFill>
        <p:spPr>
          <a:xfrm>
            <a:off x="4711700" y="2572941"/>
            <a:ext cx="457200" cy="457200"/>
          </a:xfrm>
          <a:prstGeom prst="rect">
            <a:avLst/>
          </a:prstGeom>
        </p:spPr>
      </p:pic>
      <p:sp>
        <p:nvSpPr>
          <p:cNvPr id="9" name="Text 5"/>
          <p:cNvSpPr/>
          <p:nvPr/>
        </p:nvSpPr>
        <p:spPr>
          <a:xfrm>
            <a:off x="4711700" y="3131741"/>
            <a:ext cx="285165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Có bị trễ không?</a:t>
            </a:r>
            <a:endParaRPr lang="en-US" sz="2200" dirty="0"/>
          </a:p>
        </p:txBody>
      </p:sp>
      <p:sp>
        <p:nvSpPr>
          <p:cNvPr id="10" name="Text 6"/>
          <p:cNvSpPr/>
          <p:nvPr/>
        </p:nvSpPr>
        <p:spPr>
          <a:xfrm>
            <a:off x="4711700" y="3568601"/>
            <a:ext cx="2851658" cy="867172"/>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3D4657"/>
                </a:solidFill>
                <a:latin typeface="Be Vietnam Pro" pitchFamily="34" charset="0"/>
                <a:ea typeface="Be Vietnam Pro" pitchFamily="34" charset="-122"/>
                <a:cs typeface="Be Vietnam Pro" pitchFamily="34" charset="-120"/>
              </a:rPr>
              <a:t>Hạn chót nằm trong đầu từng người, không ai thấy bị trượt.</a:t>
            </a:r>
            <a:endParaRPr lang="en-US" sz="1700" dirty="0"/>
          </a:p>
        </p:txBody>
      </p:sp>
      <p:sp>
        <p:nvSpPr>
          <p:cNvPr id="11" name="Shape 7"/>
          <p:cNvSpPr/>
          <p:nvPr/>
        </p:nvSpPr>
        <p:spPr>
          <a:xfrm>
            <a:off x="8032750" y="2287191"/>
            <a:ext cx="3340100" cy="2408932"/>
          </a:xfrm>
          <a:prstGeom prst="roundRect">
            <a:avLst>
              <a:gd name="adj" fmla="val 6063"/>
            </a:avLst>
          </a:prstGeom>
          <a:solidFill>
            <a:srgbClr val="FFFDF9"/>
          </a:solidFill>
          <a:ln w="12700">
            <a:solidFill>
              <a:srgbClr val="E4DED3"/>
            </a:solidFill>
            <a:prstDash val="solid"/>
          </a:ln>
        </p:spPr>
      </p:sp>
      <p:pic>
        <p:nvPicPr>
          <p:cNvPr id="12" name="Image 2" descr="Warning">    </p:cNvPr>
          <p:cNvPicPr>
            <a:picLocks noChangeAspect="1"/>
          </p:cNvPicPr>
          <p:nvPr/>
        </p:nvPicPr>
        <p:blipFill>
          <a:blip r:embed="rId3"/>
          <a:srcRect l="0" r="0" t="0" b="0"/>
          <a:stretch/>
        </p:blipFill>
        <p:spPr>
          <a:xfrm>
            <a:off x="8318500" y="2572941"/>
            <a:ext cx="457200" cy="457200"/>
          </a:xfrm>
          <a:prstGeom prst="rect">
            <a:avLst/>
          </a:prstGeom>
        </p:spPr>
      </p:pic>
      <p:sp>
        <p:nvSpPr>
          <p:cNvPr id="13" name="Text 8"/>
          <p:cNvSpPr/>
          <p:nvPr/>
        </p:nvSpPr>
        <p:spPr>
          <a:xfrm>
            <a:off x="8318500" y="3131741"/>
            <a:ext cx="285165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Ai đang bị kẹt?</a:t>
            </a:r>
            <a:endParaRPr lang="en-US" sz="2200" dirty="0"/>
          </a:p>
        </p:txBody>
      </p:sp>
      <p:sp>
        <p:nvSpPr>
          <p:cNvPr id="14" name="Text 9"/>
          <p:cNvSpPr/>
          <p:nvPr/>
        </p:nvSpPr>
        <p:spPr>
          <a:xfrm>
            <a:off x="8318500" y="3568601"/>
            <a:ext cx="2851658"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3D4657"/>
                </a:solidFill>
                <a:latin typeface="Be Vietnam Pro" pitchFamily="34" charset="0"/>
                <a:ea typeface="Be Vietnam Pro" pitchFamily="34" charset="-122"/>
                <a:cs typeface="Be Vietnam Pro" pitchFamily="34" charset="-120"/>
              </a:rPr>
              <a:t>Thành viên bị chặn im lặng đến sát hạn.</a:t>
            </a:r>
            <a:endParaRPr lang="en-US" sz="1700" dirty="0"/>
          </a:p>
        </p:txBody>
      </p:sp>
      <p:sp>
        <p:nvSpPr>
          <p:cNvPr id="15" name="Text 10"/>
          <p:cNvSpPr/>
          <p:nvPr/>
        </p:nvSpPr>
        <p:spPr>
          <a:xfrm>
            <a:off x="812800" y="6202759"/>
            <a:ext cx="57995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3 / 14</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14213D"/>
                </a:solidFill>
                <a:latin typeface="Be Vietnam Pro" pitchFamily="34" charset="0"/>
                <a:ea typeface="Be Vietnam Pro" pitchFamily="34" charset="-122"/>
                <a:cs typeface="Be Vietnam Pro" pitchFamily="34" charset="-120"/>
              </a:rPr>
              <a:t>Công cụ hiện có không hợp với nhóm sinh viên</a:t>
            </a:r>
            <a:endParaRPr lang="en-US" sz="3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242741"/>
          <a:ext cx="10553700" cy="2596555"/>
        </p:xfrm>
        <a:graphic>
          <a:graphicData uri="http://schemas.openxmlformats.org/drawingml/2006/table">
            <a:tbl>
              <a:tblPr/>
              <a:tblGrid>
                <a:gridCol w="4749165"/>
                <a:gridCol w="5804535"/>
              </a:tblGrid>
              <a:tr h="519311">
                <a:tc>
                  <a:txBody>
                    <a:bodyPr/>
                    <a:lstStyle/>
                    <a:p>
                      <a:pPr indent="0" marL="0">
                        <a:lnSpc>
                          <a:spcPts val="2660"/>
                        </a:lnSpc>
                        <a:buNone/>
                      </a:pPr>
                      <a:r>
                        <a:rPr lang="en-US" sz="1900" b="1" dirty="0">
                          <a:solidFill>
                            <a:srgbClr val="14213D"/>
                          </a:solidFill>
                          <a:latin typeface="Be Vietnam Pro" pitchFamily="34" charset="0"/>
                          <a:ea typeface="Be Vietnam Pro" pitchFamily="34" charset="-122"/>
                          <a:cs typeface="Be Vietnam Pro" pitchFamily="34" charset="-120"/>
                        </a:rPr>
                        <a:t>Nhóm sinh viên cần</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660"/>
                        </a:lnSpc>
                        <a:buNone/>
                      </a:pPr>
                      <a:r>
                        <a:rPr lang="en-US" sz="1900" b="1" dirty="0">
                          <a:solidFill>
                            <a:srgbClr val="14213D"/>
                          </a:solidFill>
                          <a:latin typeface="Be Vietnam Pro" pitchFamily="34" charset="0"/>
                          <a:ea typeface="Be Vietnam Pro" pitchFamily="34" charset="-122"/>
                          <a:cs typeface="Be Vietnam Pro" pitchFamily="34" charset="-120"/>
                        </a:rPr>
                        <a:t>Thường nhận được</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519311">
                <a:tc>
                  <a:txBody>
                    <a:bodyPr/>
                    <a:lstStyle/>
                    <a:p>
                      <a:pPr indent="0" marL="0">
                        <a:lnSpc>
                          <a:spcPts val="2660"/>
                        </a:lnSpc>
                        <a:buNone/>
                      </a:pPr>
                      <a:r>
                        <a:rPr lang="en-US" sz="1900" dirty="0">
                          <a:solidFill>
                            <a:srgbClr val="14213D"/>
                          </a:solidFill>
                          <a:latin typeface="Be Vietnam Pro" pitchFamily="34" charset="0"/>
                          <a:ea typeface="Be Vietnam Pro" pitchFamily="34" charset="-122"/>
                          <a:cs typeface="Be Vietnam Pro" pitchFamily="34" charset="-120"/>
                        </a:rPr>
                        <a:t>Biểu đồ Scrum miễn phí</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660"/>
                        </a:lnSpc>
                        <a:buNone/>
                      </a:pPr>
                      <a:r>
                        <a:rPr lang="en-US" sz="1900" dirty="0">
                          <a:solidFill>
                            <a:srgbClr val="C2410C"/>
                          </a:solidFill>
                          <a:latin typeface="Be Vietnam Pro" pitchFamily="34" charset="0"/>
                          <a:ea typeface="Be Vietnam Pro" pitchFamily="34" charset="-122"/>
                          <a:cs typeface="Be Vietnam Pro" pitchFamily="34" charset="-120"/>
                        </a:rPr>
                        <a:t>Burndown, velocity nằm trong gói trả phí</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19311">
                <a:tc>
                  <a:txBody>
                    <a:bodyPr/>
                    <a:lstStyle/>
                    <a:p>
                      <a:pPr indent="0" marL="0">
                        <a:lnSpc>
                          <a:spcPts val="2660"/>
                        </a:lnSpc>
                        <a:buNone/>
                      </a:pPr>
                      <a:r>
                        <a:rPr lang="en-US" sz="1900" dirty="0">
                          <a:solidFill>
                            <a:srgbClr val="14213D"/>
                          </a:solidFill>
                          <a:latin typeface="Be Vietnam Pro" pitchFamily="34" charset="0"/>
                          <a:ea typeface="Be Vietnam Pro" pitchFamily="34" charset="-122"/>
                          <a:cs typeface="Be Vietnam Pro" pitchFamily="34" charset="-120"/>
                        </a:rPr>
                        <a:t>Chạy được khi mạng yếu</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660"/>
                        </a:lnSpc>
                        <a:buNone/>
                      </a:pPr>
                      <a:r>
                        <a:rPr lang="en-US" sz="1900" dirty="0">
                          <a:solidFill>
                            <a:srgbClr val="C2410C"/>
                          </a:solidFill>
                          <a:latin typeface="Be Vietnam Pro" pitchFamily="34" charset="0"/>
                          <a:ea typeface="Be Vietnam Pro" pitchFamily="34" charset="-122"/>
                          <a:cs typeface="Be Vietnam Pro" pitchFamily="34" charset="-120"/>
                        </a:rPr>
                        <a:t>Ứng dụng web luôn cần mạng</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19311">
                <a:tc>
                  <a:txBody>
                    <a:bodyPr/>
                    <a:lstStyle/>
                    <a:p>
                      <a:pPr indent="0" marL="0">
                        <a:lnSpc>
                          <a:spcPts val="2660"/>
                        </a:lnSpc>
                        <a:buNone/>
                      </a:pPr>
                      <a:r>
                        <a:rPr lang="en-US" sz="1900" dirty="0">
                          <a:solidFill>
                            <a:srgbClr val="14213D"/>
                          </a:solidFill>
                          <a:latin typeface="Be Vietnam Pro" pitchFamily="34" charset="0"/>
                          <a:ea typeface="Be Vietnam Pro" pitchFamily="34" charset="-122"/>
                          <a:cs typeface="Be Vietnam Pro" pitchFamily="34" charset="-120"/>
                        </a:rPr>
                        <a:t>AI viết báo cáo hộ</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660"/>
                        </a:lnSpc>
                        <a:buNone/>
                      </a:pPr>
                      <a:r>
                        <a:rPr lang="en-US" sz="1900" dirty="0">
                          <a:solidFill>
                            <a:srgbClr val="C2410C"/>
                          </a:solidFill>
                          <a:latin typeface="Be Vietnam Pro" pitchFamily="34" charset="0"/>
                          <a:ea typeface="Be Vietnam Pro" pitchFamily="34" charset="-122"/>
                          <a:cs typeface="Be Vietnam Pro" pitchFamily="34" charset="-120"/>
                        </a:rPr>
                        <a:t>AI là gói trả thêm, chủ yếu tiếng Anh</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19311">
                <a:tc>
                  <a:txBody>
                    <a:bodyPr/>
                    <a:lstStyle/>
                    <a:p>
                      <a:pPr indent="0" marL="0">
                        <a:lnSpc>
                          <a:spcPts val="2660"/>
                        </a:lnSpc>
                        <a:buNone/>
                      </a:pPr>
                      <a:r>
                        <a:rPr lang="en-US" sz="1900" dirty="0">
                          <a:solidFill>
                            <a:srgbClr val="14213D"/>
                          </a:solidFill>
                          <a:latin typeface="Be Vietnam Pro" pitchFamily="34" charset="0"/>
                          <a:ea typeface="Be Vietnam Pro" pitchFamily="34" charset="-122"/>
                          <a:cs typeface="Be Vietnam Pro" pitchFamily="34" charset="-120"/>
                        </a:rPr>
                        <a:t>Giao diện tiếng Việt</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660"/>
                        </a:lnSpc>
                        <a:buNone/>
                      </a:pPr>
                      <a:r>
                        <a:rPr lang="en-US" sz="1900" dirty="0">
                          <a:solidFill>
                            <a:srgbClr val="C2410C"/>
                          </a:solidFill>
                          <a:latin typeface="Be Vietnam Pro" pitchFamily="34" charset="0"/>
                          <a:ea typeface="Be Vietnam Pro" pitchFamily="34" charset="-122"/>
                          <a:cs typeface="Be Vietnam Pro" pitchFamily="34" charset="-120"/>
                        </a:rPr>
                        <a:t>Thiếu hoặc không có</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4" name="Text 1"/>
          <p:cNvSpPr/>
          <p:nvPr/>
        </p:nvSpPr>
        <p:spPr>
          <a:xfrm>
            <a:off x="812800" y="6202759"/>
            <a:ext cx="59066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4 / 14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14213D"/>
                </a:solidFill>
                <a:latin typeface="Be Vietnam Pro" pitchFamily="34" charset="0"/>
                <a:ea typeface="Be Vietnam Pro" pitchFamily="34" charset="-122"/>
                <a:cs typeface="Be Vietnam Pro" pitchFamily="34" charset="-120"/>
              </a:rPr>
              <a:t>Và AI viết code mang đến rủi ro mới</a:t>
            </a:r>
            <a:endParaRPr lang="en-US" sz="3800" dirty="0"/>
          </a:p>
        </p:txBody>
      </p:sp>
      <p:sp>
        <p:nvSpPr>
          <p:cNvPr id="3" name="Shape 1"/>
          <p:cNvSpPr/>
          <p:nvPr/>
        </p:nvSpPr>
        <p:spPr>
          <a:xfrm>
            <a:off x="812800" y="1750020"/>
            <a:ext cx="3352800" cy="2558752"/>
          </a:xfrm>
          <a:prstGeom prst="roundRect">
            <a:avLst>
              <a:gd name="adj" fmla="val 5956"/>
            </a:avLst>
          </a:prstGeom>
          <a:solidFill>
            <a:srgbClr val="FCE9D6"/>
          </a:solidFill>
          <a:ln/>
        </p:spPr>
      </p:sp>
      <p:pic>
        <p:nvPicPr>
          <p:cNvPr id="4" name="Image 0" descr="Lock">    </p:cNvPr>
          <p:cNvPicPr>
            <a:picLocks noChangeAspect="1"/>
          </p:cNvPicPr>
          <p:nvPr/>
        </p:nvPicPr>
        <p:blipFill>
          <a:blip r:embed="rId1"/>
          <a:srcRect l="0" r="0" t="0" b="0"/>
          <a:stretch/>
        </p:blipFill>
        <p:spPr>
          <a:xfrm>
            <a:off x="1092200" y="2029420"/>
            <a:ext cx="457200" cy="457200"/>
          </a:xfrm>
          <a:prstGeom prst="rect">
            <a:avLst/>
          </a:prstGeom>
        </p:spPr>
      </p:pic>
      <p:sp>
        <p:nvSpPr>
          <p:cNvPr id="5" name="Text 2"/>
          <p:cNvSpPr/>
          <p:nvPr/>
        </p:nvSpPr>
        <p:spPr>
          <a:xfrm>
            <a:off x="1092200" y="2588220"/>
            <a:ext cx="287782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Lộ khoá bí mật</a:t>
            </a:r>
            <a:endParaRPr lang="en-US" sz="2200" dirty="0"/>
          </a:p>
        </p:txBody>
      </p:sp>
      <p:sp>
        <p:nvSpPr>
          <p:cNvPr id="6" name="Text 3"/>
          <p:cNvSpPr/>
          <p:nvPr/>
        </p:nvSpPr>
        <p:spPr>
          <a:xfrm>
            <a:off x="1092200" y="3025080"/>
            <a:ext cx="2877820"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3D4657"/>
                </a:solidFill>
                <a:latin typeface="Be Vietnam Pro" pitchFamily="34" charset="0"/>
                <a:ea typeface="Be Vietnam Pro" pitchFamily="34" charset="-122"/>
                <a:cs typeface="Be Vietnam Pro" pitchFamily="34" charset="-120"/>
              </a:rPr>
              <a:t>Agent có thể chép mật khẩu, API key vào code.</a:t>
            </a:r>
            <a:endParaRPr lang="en-US" sz="1700" dirty="0"/>
          </a:p>
        </p:txBody>
      </p:sp>
      <p:sp>
        <p:nvSpPr>
          <p:cNvPr id="7" name="Shape 4"/>
          <p:cNvSpPr/>
          <p:nvPr/>
        </p:nvSpPr>
        <p:spPr>
          <a:xfrm>
            <a:off x="4419600" y="1750020"/>
            <a:ext cx="3352800" cy="2558752"/>
          </a:xfrm>
          <a:prstGeom prst="roundRect">
            <a:avLst>
              <a:gd name="adj" fmla="val 5956"/>
            </a:avLst>
          </a:prstGeom>
          <a:solidFill>
            <a:srgbClr val="FCE9D6"/>
          </a:solidFill>
          <a:ln/>
        </p:spPr>
      </p:sp>
      <p:pic>
        <p:nvPicPr>
          <p:cNvPr id="8" name="Image 1" descr="Warning">    </p:cNvPr>
          <p:cNvPicPr>
            <a:picLocks noChangeAspect="1"/>
          </p:cNvPicPr>
          <p:nvPr/>
        </p:nvPicPr>
        <p:blipFill>
          <a:blip r:embed="rId2"/>
          <a:srcRect l="0" r="0" t="0" b="0"/>
          <a:stretch/>
        </p:blipFill>
        <p:spPr>
          <a:xfrm>
            <a:off x="4699000" y="2029420"/>
            <a:ext cx="457200" cy="457200"/>
          </a:xfrm>
          <a:prstGeom prst="rect">
            <a:avLst/>
          </a:prstGeom>
        </p:spPr>
      </p:pic>
      <p:sp>
        <p:nvSpPr>
          <p:cNvPr id="9" name="Text 5"/>
          <p:cNvSpPr/>
          <p:nvPr/>
        </p:nvSpPr>
        <p:spPr>
          <a:xfrm>
            <a:off x="4699000" y="2588220"/>
            <a:ext cx="287782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Phá việc chung</a:t>
            </a:r>
            <a:endParaRPr lang="en-US" sz="2200" dirty="0"/>
          </a:p>
        </p:txBody>
      </p:sp>
      <p:sp>
        <p:nvSpPr>
          <p:cNvPr id="10" name="Text 6"/>
          <p:cNvSpPr/>
          <p:nvPr/>
        </p:nvSpPr>
        <p:spPr>
          <a:xfrm>
            <a:off x="4699000" y="3025080"/>
            <a:ext cx="2877820" cy="867172"/>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3D4657"/>
                </a:solidFill>
                <a:latin typeface="Be Vietnam Pro" pitchFamily="34" charset="0"/>
                <a:ea typeface="Be Vietnam Pro" pitchFamily="34" charset="-122"/>
                <a:cs typeface="Be Vietnam Pro" pitchFamily="34" charset="-120"/>
              </a:rPr>
              <a:t>Có thể force-push đè việc bạn khác, sửa cấu trúc CSDL.</a:t>
            </a:r>
            <a:endParaRPr lang="en-US" sz="1700" dirty="0"/>
          </a:p>
        </p:txBody>
      </p:sp>
      <p:sp>
        <p:nvSpPr>
          <p:cNvPr id="11" name="Shape 7"/>
          <p:cNvSpPr/>
          <p:nvPr/>
        </p:nvSpPr>
        <p:spPr>
          <a:xfrm>
            <a:off x="8026400" y="1750020"/>
            <a:ext cx="3352800" cy="2558752"/>
          </a:xfrm>
          <a:prstGeom prst="roundRect">
            <a:avLst>
              <a:gd name="adj" fmla="val 5956"/>
            </a:avLst>
          </a:prstGeom>
          <a:solidFill>
            <a:srgbClr val="FCE9D6"/>
          </a:solidFill>
          <a:ln/>
        </p:spPr>
      </p:sp>
      <p:sp>
        <p:nvSpPr>
          <p:cNvPr id="12" name="Text 8"/>
          <p:cNvSpPr/>
          <p:nvPr/>
        </p:nvSpPr>
        <p:spPr>
          <a:xfrm>
            <a:off x="8305800" y="2029420"/>
            <a:ext cx="287782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07B24"/>
                </a:solidFill>
                <a:latin typeface="Arial" pitchFamily="34" charset="0"/>
                <a:ea typeface="Arial" pitchFamily="34" charset="-122"/>
                <a:cs typeface="Arial" pitchFamily="34" charset="-120"/>
              </a:rPr>
              <a:t>[icon: X]</a:t>
            </a:r>
            <a:endParaRPr lang="en-US" sz="1600" dirty="0"/>
          </a:p>
        </p:txBody>
      </p:sp>
      <p:sp>
        <p:nvSpPr>
          <p:cNvPr id="13" name="Text 9"/>
          <p:cNvSpPr/>
          <p:nvPr/>
        </p:nvSpPr>
        <p:spPr>
          <a:xfrm>
            <a:off x="8305800" y="2415480"/>
            <a:ext cx="2877820"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Báo “xong” quá sớm</a:t>
            </a:r>
            <a:endParaRPr lang="en-US" sz="2200" dirty="0"/>
          </a:p>
        </p:txBody>
      </p:sp>
      <p:sp>
        <p:nvSpPr>
          <p:cNvPr id="14" name="Text 10"/>
          <p:cNvSpPr/>
          <p:nvPr/>
        </p:nvSpPr>
        <p:spPr>
          <a:xfrm>
            <a:off x="8305800" y="3187601"/>
            <a:ext cx="2877820" cy="867172"/>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3D4657"/>
                </a:solidFill>
                <a:latin typeface="Be Vietnam Pro" pitchFamily="34" charset="0"/>
                <a:ea typeface="Be Vietnam Pro" pitchFamily="34" charset="-122"/>
                <a:cs typeface="Be Vietnam Pro" pitchFamily="34" charset="-120"/>
              </a:rPr>
              <a:t>Sửa code mà không có test, không cập nhật tài liệu.</a:t>
            </a:r>
            <a:endParaRPr lang="en-US" sz="1700" dirty="0"/>
          </a:p>
        </p:txBody>
      </p:sp>
      <p:sp>
        <p:nvSpPr>
          <p:cNvPr id="15" name="Text 11"/>
          <p:cNvSpPr/>
          <p:nvPr/>
        </p:nvSpPr>
        <p:spPr>
          <a:xfrm>
            <a:off x="812800" y="6202759"/>
            <a:ext cx="57995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5 / 14</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7F6F2"/>
                </a:solidFill>
                <a:latin typeface="Be Vietnam Pro" pitchFamily="34" charset="0"/>
                <a:ea typeface="Be Vietnam Pro" pitchFamily="34" charset="-122"/>
                <a:cs typeface="Be Vietnam Pro" pitchFamily="34" charset="-120"/>
              </a:rPr>
              <a:t>Điểm mới của dự án</a:t>
            </a:r>
            <a:endParaRPr lang="en-US" sz="3800" dirty="0"/>
          </a:p>
        </p:txBody>
      </p:sp>
      <p:sp>
        <p:nvSpPr>
          <p:cNvPr id="3" name="Shape 1"/>
          <p:cNvSpPr/>
          <p:nvPr/>
        </p:nvSpPr>
        <p:spPr>
          <a:xfrm>
            <a:off x="812800" y="1648420"/>
            <a:ext cx="5181600" cy="1696541"/>
          </a:xfrm>
          <a:prstGeom prst="roundRect">
            <a:avLst>
              <a:gd name="adj" fmla="val 8983"/>
            </a:avLst>
          </a:prstGeom>
          <a:solidFill>
            <a:srgbClr val="1E2F55"/>
          </a:solidFill>
          <a:ln/>
        </p:spPr>
      </p:sp>
      <p:pic>
        <p:nvPicPr>
          <p:cNvPr id="4" name="Image 0" descr="Lightbulb">    </p:cNvPr>
          <p:cNvPicPr>
            <a:picLocks noChangeAspect="1"/>
          </p:cNvPicPr>
          <p:nvPr/>
        </p:nvPicPr>
        <p:blipFill>
          <a:blip r:embed="rId1"/>
          <a:srcRect l="0" r="0" t="-284" b="-284"/>
          <a:stretch/>
        </p:blipFill>
        <p:spPr>
          <a:xfrm>
            <a:off x="1066800" y="1902420"/>
            <a:ext cx="227310" cy="508000"/>
          </a:xfrm>
          <a:prstGeom prst="rect">
            <a:avLst/>
          </a:prstGeom>
        </p:spPr>
      </p:pic>
      <p:sp>
        <p:nvSpPr>
          <p:cNvPr id="5" name="Text 2"/>
          <p:cNvSpPr/>
          <p:nvPr/>
        </p:nvSpPr>
        <p:spPr>
          <a:xfrm>
            <a:off x="1497310" y="1902420"/>
            <a:ext cx="4370383" cy="34538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F2A541"/>
                </a:solidFill>
                <a:latin typeface="Be Vietnam Pro" pitchFamily="34" charset="0"/>
                <a:ea typeface="Be Vietnam Pro" pitchFamily="34" charset="-122"/>
                <a:cs typeface="Be Vietnam Pro" pitchFamily="34" charset="-120"/>
              </a:rPr>
              <a:t>AI không bao giờ hỏng</a:t>
            </a:r>
            <a:endParaRPr lang="en-US" sz="2100" dirty="0"/>
          </a:p>
        </p:txBody>
      </p:sp>
      <p:sp>
        <p:nvSpPr>
          <p:cNvPr id="6" name="Text 3"/>
          <p:cNvSpPr/>
          <p:nvPr/>
        </p:nvSpPr>
        <p:spPr>
          <a:xfrm>
            <a:off x="1497310" y="2298601"/>
            <a:ext cx="4370383" cy="81776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6F2"/>
                </a:solidFill>
                <a:latin typeface="Be Vietnam Pro" pitchFamily="34" charset="0"/>
                <a:ea typeface="Be Vietnam Pro" pitchFamily="34" charset="-122"/>
                <a:cs typeface="Be Vietnam Pro" pitchFamily="34" charset="-120"/>
              </a:rPr>
              <a:t>5 chức năng AI; mô hình lỗi thì trả lời theo quy tắc từ dữ liệu thật. Trả lời theo ngôn ngữ giao diện.</a:t>
            </a:r>
            <a:endParaRPr lang="en-US" sz="1600" dirty="0"/>
          </a:p>
        </p:txBody>
      </p:sp>
      <p:sp>
        <p:nvSpPr>
          <p:cNvPr id="7" name="Shape 4"/>
          <p:cNvSpPr/>
          <p:nvPr/>
        </p:nvSpPr>
        <p:spPr>
          <a:xfrm>
            <a:off x="6197600" y="1648420"/>
            <a:ext cx="5181600" cy="1696541"/>
          </a:xfrm>
          <a:prstGeom prst="roundRect">
            <a:avLst>
              <a:gd name="adj" fmla="val 8983"/>
            </a:avLst>
          </a:prstGeom>
          <a:solidFill>
            <a:srgbClr val="1E2F55"/>
          </a:solidFill>
          <a:ln/>
        </p:spPr>
      </p:sp>
      <p:pic>
        <p:nvPicPr>
          <p:cNvPr id="8" name="Image 1" descr="Activity">    </p:cNvPr>
          <p:cNvPicPr>
            <a:picLocks noChangeAspect="1"/>
          </p:cNvPicPr>
          <p:nvPr/>
        </p:nvPicPr>
        <p:blipFill>
          <a:blip r:embed="rId2"/>
          <a:srcRect l="-414" r="-414" t="0" b="0"/>
          <a:stretch/>
        </p:blipFill>
        <p:spPr>
          <a:xfrm>
            <a:off x="6451600" y="1902420"/>
            <a:ext cx="326529" cy="508000"/>
          </a:xfrm>
          <a:prstGeom prst="rect">
            <a:avLst/>
          </a:prstGeom>
        </p:spPr>
      </p:pic>
      <p:sp>
        <p:nvSpPr>
          <p:cNvPr id="9" name="Text 5"/>
          <p:cNvSpPr/>
          <p:nvPr/>
        </p:nvSpPr>
        <p:spPr>
          <a:xfrm>
            <a:off x="6981329" y="1902420"/>
            <a:ext cx="4268187" cy="34538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F2A541"/>
                </a:solidFill>
                <a:latin typeface="Be Vietnam Pro" pitchFamily="34" charset="0"/>
                <a:ea typeface="Be Vietnam Pro" pitchFamily="34" charset="-122"/>
                <a:cs typeface="Be Vietnam Pro" pitchFamily="34" charset="-120"/>
              </a:rPr>
              <a:t>Scrum + AI retrospective</a:t>
            </a:r>
            <a:endParaRPr lang="en-US" sz="2100" dirty="0"/>
          </a:p>
        </p:txBody>
      </p:sp>
      <p:sp>
        <p:nvSpPr>
          <p:cNvPr id="10" name="Text 6"/>
          <p:cNvSpPr/>
          <p:nvPr/>
        </p:nvSpPr>
        <p:spPr>
          <a:xfrm>
            <a:off x="6981329" y="2298601"/>
            <a:ext cx="4268187"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6F2"/>
                </a:solidFill>
                <a:latin typeface="Be Vietnam Pro" pitchFamily="34" charset="0"/>
                <a:ea typeface="Be Vietnam Pro" pitchFamily="34" charset="-122"/>
                <a:cs typeface="Be Vietnam Pro" pitchFamily="34" charset="-120"/>
              </a:rPr>
              <a:t>Sprint, burndown, velocity và bản retro do AI viết từ số liệu sprint.</a:t>
            </a:r>
            <a:endParaRPr lang="en-US" sz="1600" dirty="0"/>
          </a:p>
        </p:txBody>
      </p:sp>
      <p:sp>
        <p:nvSpPr>
          <p:cNvPr id="11" name="Shape 7"/>
          <p:cNvSpPr/>
          <p:nvPr/>
        </p:nvSpPr>
        <p:spPr>
          <a:xfrm>
            <a:off x="812800" y="3548162"/>
            <a:ext cx="5181600" cy="2016522"/>
          </a:xfrm>
          <a:prstGeom prst="roundRect">
            <a:avLst>
              <a:gd name="adj" fmla="val 7558"/>
            </a:avLst>
          </a:prstGeom>
          <a:solidFill>
            <a:srgbClr val="1E2F55"/>
          </a:solidFill>
          <a:ln/>
        </p:spPr>
      </p:sp>
      <p:pic>
        <p:nvPicPr>
          <p:cNvPr id="12" name="Image 2" descr="Cloud">    </p:cNvPr>
          <p:cNvPicPr>
            <a:picLocks noChangeAspect="1"/>
          </p:cNvPicPr>
          <p:nvPr/>
        </p:nvPicPr>
        <p:blipFill>
          <a:blip r:embed="rId3"/>
          <a:srcRect l="-37" r="-37" t="0" b="0"/>
          <a:stretch/>
        </p:blipFill>
        <p:spPr>
          <a:xfrm>
            <a:off x="1066800" y="3802162"/>
            <a:ext cx="266898" cy="508000"/>
          </a:xfrm>
          <a:prstGeom prst="rect">
            <a:avLst/>
          </a:prstGeom>
        </p:spPr>
      </p:pic>
      <p:sp>
        <p:nvSpPr>
          <p:cNvPr id="13" name="Text 8"/>
          <p:cNvSpPr/>
          <p:nvPr/>
        </p:nvSpPr>
        <p:spPr>
          <a:xfrm>
            <a:off x="1536898" y="3802162"/>
            <a:ext cx="4329607" cy="34538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F2A541"/>
                </a:solidFill>
                <a:latin typeface="Be Vietnam Pro" pitchFamily="34" charset="0"/>
                <a:ea typeface="Be Vietnam Pro" pitchFamily="34" charset="-122"/>
                <a:cs typeface="Be Vietnam Pro" pitchFamily="34" charset="-120"/>
              </a:rPr>
              <a:t>Offline có luật an toàn</a:t>
            </a:r>
            <a:endParaRPr lang="en-US" sz="2100" dirty="0"/>
          </a:p>
        </p:txBody>
      </p:sp>
      <p:sp>
        <p:nvSpPr>
          <p:cNvPr id="14" name="Text 9"/>
          <p:cNvSpPr/>
          <p:nvPr/>
        </p:nvSpPr>
        <p:spPr>
          <a:xfrm>
            <a:off x="1536898" y="4198342"/>
            <a:ext cx="4329607"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6F2"/>
                </a:solidFill>
                <a:latin typeface="Be Vietnam Pro" pitchFamily="34" charset="0"/>
                <a:ea typeface="Be Vietnam Pro" pitchFamily="34" charset="-122"/>
                <a:cs typeface="Be Vietnam Pro" pitchFamily="34" charset="-120"/>
              </a:rPr>
              <a:t>Dự án cá nhân sửa được khi mất mạng; dự án nhóm chỉ xem để không ghi đè nhau.</a:t>
            </a:r>
            <a:endParaRPr lang="en-US" sz="1600" dirty="0"/>
          </a:p>
        </p:txBody>
      </p:sp>
      <p:sp>
        <p:nvSpPr>
          <p:cNvPr id="15" name="Shape 10"/>
          <p:cNvSpPr/>
          <p:nvPr/>
        </p:nvSpPr>
        <p:spPr>
          <a:xfrm>
            <a:off x="6197600" y="3548162"/>
            <a:ext cx="5181600" cy="2016522"/>
          </a:xfrm>
          <a:prstGeom prst="roundRect">
            <a:avLst>
              <a:gd name="adj" fmla="val 7558"/>
            </a:avLst>
          </a:prstGeom>
          <a:solidFill>
            <a:srgbClr val="1E2F55"/>
          </a:solidFill>
          <a:ln/>
        </p:spPr>
      </p:sp>
      <p:sp>
        <p:nvSpPr>
          <p:cNvPr id="16" name="Text 11"/>
          <p:cNvSpPr/>
          <p:nvPr/>
        </p:nvSpPr>
        <p:spPr>
          <a:xfrm>
            <a:off x="6451600" y="3802162"/>
            <a:ext cx="65087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A541"/>
                </a:solidFill>
                <a:latin typeface="Arial" pitchFamily="34" charset="0"/>
                <a:ea typeface="Arial" pitchFamily="34" charset="-122"/>
                <a:cs typeface="Arial" pitchFamily="34" charset="-120"/>
              </a:rPr>
              <a:t>[icon: Shield]</a:t>
            </a:r>
            <a:endParaRPr lang="en-US" sz="1600" dirty="0"/>
          </a:p>
        </p:txBody>
      </p:sp>
      <p:sp>
        <p:nvSpPr>
          <p:cNvPr id="17" name="Text 12"/>
          <p:cNvSpPr/>
          <p:nvPr/>
        </p:nvSpPr>
        <p:spPr>
          <a:xfrm>
            <a:off x="7254875" y="3802162"/>
            <a:ext cx="3986435" cy="665361"/>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F2A541"/>
                </a:solidFill>
                <a:latin typeface="Be Vietnam Pro" pitchFamily="34" charset="0"/>
                <a:ea typeface="Be Vietnam Pro" pitchFamily="34" charset="-122"/>
                <a:cs typeface="Be Vietnam Pro" pitchFamily="34" charset="-120"/>
              </a:rPr>
              <a:t>Dây chuyền Agent AI có rào chắn</a:t>
            </a:r>
            <a:endParaRPr lang="en-US" sz="2100" dirty="0"/>
          </a:p>
        </p:txBody>
      </p:sp>
      <p:sp>
        <p:nvSpPr>
          <p:cNvPr id="18" name="Text 13"/>
          <p:cNvSpPr/>
          <p:nvPr/>
        </p:nvSpPr>
        <p:spPr>
          <a:xfrm>
            <a:off x="7254875" y="4518323"/>
            <a:ext cx="3986435" cy="81776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6F2"/>
                </a:solidFill>
                <a:latin typeface="Be Vietnam Pro" pitchFamily="34" charset="0"/>
                <a:ea typeface="Be Vietnam Pro" pitchFamily="34" charset="-122"/>
                <a:cs typeface="Be Vietnam Pro" pitchFamily="34" charset="-120"/>
              </a:rPr>
              <a:t>Sáu trạm agent xây code; luật được thực thi bằng hook, không chỉ là lời dặn.</a:t>
            </a:r>
            <a:endParaRPr lang="en-US" sz="1600" dirty="0"/>
          </a:p>
        </p:txBody>
      </p:sp>
      <p:sp>
        <p:nvSpPr>
          <p:cNvPr id="19" name="Text 14"/>
          <p:cNvSpPr/>
          <p:nvPr/>
        </p:nvSpPr>
        <p:spPr>
          <a:xfrm>
            <a:off x="812800" y="6202759"/>
            <a:ext cx="58424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F"/>
                </a:solidFill>
                <a:latin typeface="Be Vietnam Pro" pitchFamily="34" charset="0"/>
                <a:ea typeface="Be Vietnam Pro" pitchFamily="34" charset="-122"/>
                <a:cs typeface="Be Vietnam Pro" pitchFamily="34" charset="-120"/>
              </a:rPr>
              <a:t>6 / 14</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14213D"/>
                </a:solidFill>
                <a:latin typeface="Be Vietnam Pro" pitchFamily="34" charset="0"/>
                <a:ea typeface="Be Vietnam Pro" pitchFamily="34" charset="-122"/>
                <a:cs typeface="Be Vietnam Pro" pitchFamily="34" charset="-120"/>
              </a:rPr>
              <a:t>Bảng công việc: nhìn là thấy hết</a:t>
            </a:r>
            <a:endParaRPr lang="en-US" sz="3800" dirty="0"/>
          </a:p>
        </p:txBody>
      </p:sp>
      <p:sp>
        <p:nvSpPr>
          <p:cNvPr id="3" name="Shape 1"/>
          <p:cNvSpPr/>
          <p:nvPr/>
        </p:nvSpPr>
        <p:spPr>
          <a:xfrm>
            <a:off x="812800" y="1648420"/>
            <a:ext cx="6350000" cy="3797300"/>
          </a:xfrm>
          <a:prstGeom prst="roundRect">
            <a:avLst>
              <a:gd name="adj" fmla="val 2676"/>
            </a:avLst>
          </a:prstGeom>
          <a:solidFill>
            <a:srgbClr val="FFFFFF"/>
          </a:solidFill>
          <a:ln/>
        </p:spPr>
      </p:sp>
      <p:pic>
        <p:nvPicPr>
          <p:cNvPr id="4" name="Image 0" descr="Bảng Kanban bốn cột: Cần làm, Đang làm, Bị chặn, Hoàn thành">    </p:cNvPr>
          <p:cNvPicPr>
            <a:picLocks noChangeAspect="1"/>
          </p:cNvPicPr>
          <p:nvPr/>
        </p:nvPicPr>
        <p:blipFill>
          <a:blip r:embed="rId1"/>
          <a:srcRect l="-93" r="-93" t="0" b="0"/>
          <a:stretch/>
        </p:blipFill>
        <p:spPr>
          <a:xfrm>
            <a:off x="825500" y="1661120"/>
            <a:ext cx="6324600" cy="3771900"/>
          </a:xfrm>
          <a:prstGeom prst="roundRect">
            <a:avLst>
              <a:gd name="adj" fmla="val 2357"/>
            </a:avLst>
          </a:prstGeom>
        </p:spPr>
      </p:pic>
      <p:sp>
        <p:nvSpPr>
          <p:cNvPr id="5" name="Shape 2"/>
          <p:cNvSpPr/>
          <p:nvPr/>
        </p:nvSpPr>
        <p:spPr>
          <a:xfrm>
            <a:off x="819150" y="1654770"/>
            <a:ext cx="6337300" cy="3784600"/>
          </a:xfrm>
          <a:prstGeom prst="roundRect">
            <a:avLst>
              <a:gd name="adj" fmla="val 2517"/>
            </a:avLst>
          </a:prstGeom>
          <a:noFill/>
          <a:ln w="12700">
            <a:solidFill>
              <a:srgbClr val="E4DED3"/>
            </a:solidFill>
            <a:prstDash val="solid"/>
          </a:ln>
        </p:spPr>
      </p:sp>
      <p:sp>
        <p:nvSpPr>
          <p:cNvPr id="6" name="Text 3"/>
          <p:cNvSpPr/>
          <p:nvPr/>
        </p:nvSpPr>
        <p:spPr>
          <a:xfrm>
            <a:off x="7518400" y="1997670"/>
            <a:ext cx="3976624" cy="10160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Be Vietnam Pro" pitchFamily="34" charset="0"/>
                <a:ea typeface="Be Vietnam Pro" pitchFamily="34" charset="-122"/>
                <a:cs typeface="Be Vietnam Pro" pitchFamily="34" charset="-120"/>
              </a:rPr>
              <a:t>4 cột</a:t>
            </a:r>
            <a:endParaRPr lang="en-US" sz="2000" dirty="0"/>
          </a:p>
          <a:p>
            <a:pPr algn="l" indent="0" marL="0">
              <a:lnSpc>
                <a:spcPts val="2600"/>
              </a:lnSpc>
              <a:buNone/>
            </a:pPr>
            <a:r>
              <a:rPr lang="en-US" sz="2000" dirty="0">
                <a:solidFill>
                  <a:srgbClr val="3D4657"/>
                </a:solidFill>
                <a:latin typeface="Be Vietnam Pro" pitchFamily="34" charset="0"/>
                <a:ea typeface="Be Vietnam Pro" pitchFamily="34" charset="-122"/>
                <a:cs typeface="Be Vietnam Pro" pitchFamily="34" charset="-120"/>
              </a:rPr>
              <a:t>Cần làm → Đang làm → Bị chặn → Hoàn thành</a:t>
            </a:r>
            <a:endParaRPr lang="en-US" sz="2000" dirty="0"/>
          </a:p>
        </p:txBody>
      </p:sp>
      <p:sp>
        <p:nvSpPr>
          <p:cNvPr id="7" name="Text 4"/>
          <p:cNvSpPr/>
          <p:nvPr/>
        </p:nvSpPr>
        <p:spPr>
          <a:xfrm>
            <a:off x="7518400" y="3216870"/>
            <a:ext cx="3976624"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Be Vietnam Pro" pitchFamily="34" charset="0"/>
                <a:ea typeface="Be Vietnam Pro" pitchFamily="34" charset="-122"/>
                <a:cs typeface="Be Vietnam Pro" pitchFamily="34" charset="-120"/>
              </a:rPr>
              <a:t>Hạn chót trước</a:t>
            </a:r>
            <a:endParaRPr lang="en-US" sz="2000" dirty="0"/>
          </a:p>
          <a:p>
            <a:pPr algn="l" indent="0" marL="0">
              <a:lnSpc>
                <a:spcPts val="2600"/>
              </a:lnSpc>
              <a:buNone/>
            </a:pPr>
            <a:r>
              <a:rPr lang="en-US" sz="2000" dirty="0">
                <a:solidFill>
                  <a:srgbClr val="3D4657"/>
                </a:solidFill>
                <a:latin typeface="Be Vietnam Pro" pitchFamily="34" charset="0"/>
                <a:ea typeface="Be Vietnam Pro" pitchFamily="34" charset="-122"/>
                <a:cs typeface="Be Vietnam Pro" pitchFamily="34" charset="-120"/>
              </a:rPr>
              <a:t>việc trễ luôn nổi lên đầu</a:t>
            </a:r>
            <a:endParaRPr lang="en-US" sz="2000" dirty="0"/>
          </a:p>
        </p:txBody>
      </p:sp>
      <p:sp>
        <p:nvSpPr>
          <p:cNvPr id="8" name="Text 5"/>
          <p:cNvSpPr/>
          <p:nvPr/>
        </p:nvSpPr>
        <p:spPr>
          <a:xfrm>
            <a:off x="7518400" y="4105870"/>
            <a:ext cx="3976624" cy="10160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4213D"/>
                </a:solidFill>
                <a:latin typeface="Be Vietnam Pro" pitchFamily="34" charset="0"/>
                <a:ea typeface="Be Vietnam Pro" pitchFamily="34" charset="-122"/>
                <a:cs typeface="Be Vietnam Pro" pitchFamily="34" charset="-120"/>
              </a:rPr>
              <a:t>Không cần chuột</a:t>
            </a:r>
            <a:endParaRPr lang="en-US" sz="2000" dirty="0"/>
          </a:p>
          <a:p>
            <a:pPr algn="l" indent="0" marL="0">
              <a:lnSpc>
                <a:spcPts val="2600"/>
              </a:lnSpc>
              <a:buNone/>
            </a:pPr>
            <a:r>
              <a:rPr lang="en-US" sz="2000" dirty="0">
                <a:solidFill>
                  <a:srgbClr val="3D4657"/>
                </a:solidFill>
                <a:latin typeface="Be Vietnam Pro" pitchFamily="34" charset="0"/>
                <a:ea typeface="Be Vietnam Pro" pitchFamily="34" charset="-122"/>
                <a:cs typeface="Be Vietnam Pro" pitchFamily="34" charset="-120"/>
              </a:rPr>
              <a:t>h j k l di chuyển · Space đổi trạng thái</a:t>
            </a:r>
            <a:endParaRPr lang="en-US" sz="2000" dirty="0"/>
          </a:p>
        </p:txBody>
      </p:sp>
      <p:sp>
        <p:nvSpPr>
          <p:cNvPr id="9" name="Text 6"/>
          <p:cNvSpPr/>
          <p:nvPr/>
        </p:nvSpPr>
        <p:spPr>
          <a:xfrm>
            <a:off x="812800" y="6202759"/>
            <a:ext cx="57371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7 / 14 · Biểu tượng ngọn lửa = task nằm trên đường găng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30920"/>
          </a:xfrm>
          <a:prstGeom prst="rect">
            <a:avLst/>
          </a:prstGeom>
          <a:noFill/>
          <a:ln/>
        </p:spPr>
        <p:txBody>
          <a:bodyPr wrap="square" lIns="0" tIns="0" rIns="0" bIns="0" rtlCol="0" anchor="t">
            <a:normAutofit/>
          </a:bodyPr>
          <a:lstStyle/>
          <a:p>
            <a:pPr algn="l" indent="0" marL="0">
              <a:lnSpc>
                <a:spcPts val="4023"/>
              </a:lnSpc>
              <a:buNone/>
            </a:pPr>
            <a:r>
              <a:rPr lang="en-US" sz="3657" b="1" i="0" dirty="0">
                <a:solidFill>
                  <a:srgbClr val="14213D"/>
                </a:solidFill>
                <a:latin typeface="Be Vietnam Pro" pitchFamily="34" charset="0"/>
                <a:ea typeface="Be Vietnam Pro" pitchFamily="34" charset="-122"/>
                <a:cs typeface="Be Vietnam Pro" pitchFamily="34" charset="-120"/>
              </a:rPr>
              <a:t>Scrum: làm việc theo từng sprint ngắn</a:t>
            </a:r>
            <a:endParaRPr lang="en-US" sz="3657" dirty="0"/>
          </a:p>
        </p:txBody>
      </p:sp>
      <p:sp>
        <p:nvSpPr>
          <p:cNvPr id="3" name="Shape 1"/>
          <p:cNvSpPr/>
          <p:nvPr/>
        </p:nvSpPr>
        <p:spPr>
          <a:xfrm>
            <a:off x="812800" y="1639193"/>
            <a:ext cx="2667000" cy="1462881"/>
          </a:xfrm>
          <a:prstGeom prst="roundRect">
            <a:avLst>
              <a:gd name="adj" fmla="val 10418"/>
            </a:avLst>
          </a:prstGeom>
          <a:solidFill>
            <a:srgbClr val="E7ECF7"/>
          </a:solidFill>
          <a:ln/>
        </p:spPr>
      </p:sp>
      <p:sp>
        <p:nvSpPr>
          <p:cNvPr id="4" name="Text 2"/>
          <p:cNvSpPr/>
          <p:nvPr/>
        </p:nvSpPr>
        <p:spPr>
          <a:xfrm>
            <a:off x="1092200" y="1867793"/>
            <a:ext cx="2171446"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1D4ED8"/>
                </a:solidFill>
                <a:latin typeface="Be Vietnam Pro" pitchFamily="34" charset="0"/>
                <a:ea typeface="Be Vietnam Pro" pitchFamily="34" charset="-122"/>
                <a:cs typeface="Be Vietnam Pro" pitchFamily="34" charset="-120"/>
              </a:rPr>
              <a:t>Lên kế hoạch</a:t>
            </a:r>
            <a:endParaRPr lang="en-US" sz="2300" dirty="0"/>
          </a:p>
        </p:txBody>
      </p:sp>
      <p:sp>
        <p:nvSpPr>
          <p:cNvPr id="5" name="Text 3"/>
          <p:cNvSpPr/>
          <p:nvPr/>
        </p:nvSpPr>
        <p:spPr>
          <a:xfrm>
            <a:off x="1092200" y="2269034"/>
            <a:ext cx="2171446"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D4657"/>
                </a:solidFill>
                <a:latin typeface="Be Vietnam Pro" pitchFamily="34" charset="0"/>
                <a:ea typeface="Be Vietnam Pro" pitchFamily="34" charset="-122"/>
                <a:cs typeface="Be Vietnam Pro" pitchFamily="34" charset="-120"/>
              </a:rPr>
              <a:t>PM chọn việc từ backlog</a:t>
            </a:r>
            <a:endParaRPr lang="en-US" sz="1700" dirty="0"/>
          </a:p>
        </p:txBody>
      </p:sp>
      <p:pic>
        <p:nvPicPr>
          <p:cNvPr id="6" name="Image 0" descr="arrow-right">    </p:cNvPr>
          <p:cNvPicPr>
            <a:picLocks noChangeAspect="1"/>
          </p:cNvPicPr>
          <p:nvPr/>
        </p:nvPicPr>
        <p:blipFill>
          <a:blip r:embed="rId1"/>
          <a:srcRect l="0" r="0" t="0" b="0"/>
          <a:stretch/>
        </p:blipFill>
        <p:spPr>
          <a:xfrm>
            <a:off x="3632200" y="2192734"/>
            <a:ext cx="698500" cy="355600"/>
          </a:xfrm>
          <a:prstGeom prst="rect">
            <a:avLst/>
          </a:prstGeom>
        </p:spPr>
      </p:pic>
      <p:sp>
        <p:nvSpPr>
          <p:cNvPr id="7" name="Shape 4"/>
          <p:cNvSpPr/>
          <p:nvPr/>
        </p:nvSpPr>
        <p:spPr>
          <a:xfrm>
            <a:off x="4483100" y="1639193"/>
            <a:ext cx="2667000" cy="1462881"/>
          </a:xfrm>
          <a:prstGeom prst="roundRect">
            <a:avLst>
              <a:gd name="adj" fmla="val 10418"/>
            </a:avLst>
          </a:prstGeom>
          <a:solidFill>
            <a:srgbClr val="FCE9D6"/>
          </a:solidFill>
          <a:ln/>
        </p:spPr>
      </p:sp>
      <p:sp>
        <p:nvSpPr>
          <p:cNvPr id="8" name="Text 5"/>
          <p:cNvSpPr/>
          <p:nvPr/>
        </p:nvSpPr>
        <p:spPr>
          <a:xfrm>
            <a:off x="4762500" y="1867793"/>
            <a:ext cx="2171446"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C2410C"/>
                </a:solidFill>
                <a:latin typeface="Be Vietnam Pro" pitchFamily="34" charset="0"/>
                <a:ea typeface="Be Vietnam Pro" pitchFamily="34" charset="-122"/>
                <a:cs typeface="Be Vietnam Pro" pitchFamily="34" charset="-120"/>
              </a:rPr>
              <a:t>Đang chạy</a:t>
            </a:r>
            <a:endParaRPr lang="en-US" sz="2300" dirty="0"/>
          </a:p>
        </p:txBody>
      </p:sp>
      <p:sp>
        <p:nvSpPr>
          <p:cNvPr id="9" name="Text 6"/>
          <p:cNvSpPr/>
          <p:nvPr/>
        </p:nvSpPr>
        <p:spPr>
          <a:xfrm>
            <a:off x="4762500" y="2269034"/>
            <a:ext cx="2171446"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D4657"/>
                </a:solidFill>
                <a:latin typeface="Be Vietnam Pro" pitchFamily="34" charset="0"/>
                <a:ea typeface="Be Vietnam Pro" pitchFamily="34" charset="-122"/>
                <a:cs typeface="Be Vietnam Pro" pitchFamily="34" charset="-120"/>
              </a:rPr>
              <a:t>Nhóm làm; số điểm là lời hứa</a:t>
            </a:r>
            <a:endParaRPr lang="en-US" sz="1700" dirty="0"/>
          </a:p>
        </p:txBody>
      </p:sp>
      <p:pic>
        <p:nvPicPr>
          <p:cNvPr id="10" name="Image 1" descr="arrow-right">    </p:cNvPr>
          <p:cNvPicPr>
            <a:picLocks noChangeAspect="1"/>
          </p:cNvPicPr>
          <p:nvPr/>
        </p:nvPicPr>
        <p:blipFill>
          <a:blip r:embed="rId2"/>
          <a:srcRect l="0" r="0" t="0" b="0"/>
          <a:stretch/>
        </p:blipFill>
        <p:spPr>
          <a:xfrm>
            <a:off x="7302500" y="2192734"/>
            <a:ext cx="698500" cy="355600"/>
          </a:xfrm>
          <a:prstGeom prst="rect">
            <a:avLst/>
          </a:prstGeom>
        </p:spPr>
      </p:pic>
      <p:sp>
        <p:nvSpPr>
          <p:cNvPr id="11" name="Shape 7"/>
          <p:cNvSpPr/>
          <p:nvPr/>
        </p:nvSpPr>
        <p:spPr>
          <a:xfrm>
            <a:off x="8153400" y="1639193"/>
            <a:ext cx="2667000" cy="1462881"/>
          </a:xfrm>
          <a:prstGeom prst="roundRect">
            <a:avLst>
              <a:gd name="adj" fmla="val 10418"/>
            </a:avLst>
          </a:prstGeom>
          <a:solidFill>
            <a:srgbClr val="DCEFE3"/>
          </a:solidFill>
          <a:ln/>
        </p:spPr>
      </p:sp>
      <p:sp>
        <p:nvSpPr>
          <p:cNvPr id="12" name="Text 8"/>
          <p:cNvSpPr/>
          <p:nvPr/>
        </p:nvSpPr>
        <p:spPr>
          <a:xfrm>
            <a:off x="8432800" y="1867793"/>
            <a:ext cx="2171446"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15803D"/>
                </a:solidFill>
                <a:latin typeface="Be Vietnam Pro" pitchFamily="34" charset="0"/>
                <a:ea typeface="Be Vietnam Pro" pitchFamily="34" charset="-122"/>
                <a:cs typeface="Be Vietnam Pro" pitchFamily="34" charset="-120"/>
              </a:rPr>
              <a:t>Hoàn thành</a:t>
            </a:r>
            <a:endParaRPr lang="en-US" sz="2300" dirty="0"/>
          </a:p>
        </p:txBody>
      </p:sp>
      <p:sp>
        <p:nvSpPr>
          <p:cNvPr id="13" name="Text 9"/>
          <p:cNvSpPr/>
          <p:nvPr/>
        </p:nvSpPr>
        <p:spPr>
          <a:xfrm>
            <a:off x="8432800" y="2269034"/>
            <a:ext cx="2171446"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D4657"/>
                </a:solidFill>
                <a:latin typeface="Be Vietnam Pro" pitchFamily="34" charset="0"/>
                <a:ea typeface="Be Vietnam Pro" pitchFamily="34" charset="-122"/>
                <a:cs typeface="Be Vietnam Pro" pitchFamily="34" charset="-120"/>
              </a:rPr>
              <a:t>Việc chưa xong được chuyển tiếp</a:t>
            </a:r>
            <a:endParaRPr lang="en-US" sz="1700" dirty="0"/>
          </a:p>
        </p:txBody>
      </p:sp>
      <p:sp>
        <p:nvSpPr>
          <p:cNvPr id="14" name="Shape 10"/>
          <p:cNvSpPr/>
          <p:nvPr/>
        </p:nvSpPr>
        <p:spPr>
          <a:xfrm>
            <a:off x="812800" y="3362424"/>
            <a:ext cx="4826000" cy="2540000"/>
          </a:xfrm>
          <a:prstGeom prst="roundRect">
            <a:avLst>
              <a:gd name="adj" fmla="val 4000"/>
            </a:avLst>
          </a:prstGeom>
          <a:solidFill>
            <a:srgbClr val="FFFFFF"/>
          </a:solidFill>
          <a:ln/>
        </p:spPr>
      </p:sp>
      <p:pic>
        <p:nvPicPr>
          <p:cNvPr id="15" name="Image 2" descr="Bảng Scrum liệt kê các sprint đã xong, đang chạy và đã lên kế hoạch">    </p:cNvPr>
          <p:cNvPicPr>
            <a:picLocks noChangeAspect="1"/>
          </p:cNvPicPr>
          <p:nvPr/>
        </p:nvPicPr>
        <p:blipFill>
          <a:blip r:embed="rId3"/>
          <a:stretch>
            <a:fillRect/>
          </a:stretch>
        </p:blipFill>
        <p:spPr>
          <a:xfrm>
            <a:off x="1121532" y="3375124"/>
            <a:ext cx="4208536" cy="2514600"/>
          </a:xfrm>
          <a:prstGeom prst="rect">
            <a:avLst/>
          </a:prstGeom>
        </p:spPr>
      </p:pic>
      <p:sp>
        <p:nvSpPr>
          <p:cNvPr id="16" name="Shape 11"/>
          <p:cNvSpPr/>
          <p:nvPr/>
        </p:nvSpPr>
        <p:spPr>
          <a:xfrm>
            <a:off x="819150" y="3368774"/>
            <a:ext cx="4813300" cy="2527300"/>
          </a:xfrm>
          <a:prstGeom prst="roundRect">
            <a:avLst>
              <a:gd name="adj" fmla="val 3769"/>
            </a:avLst>
          </a:prstGeom>
          <a:noFill/>
          <a:ln w="12700">
            <a:solidFill>
              <a:srgbClr val="E4DED3"/>
            </a:solidFill>
            <a:prstDash val="solid"/>
          </a:ln>
        </p:spPr>
      </p:sp>
      <p:sp>
        <p:nvSpPr>
          <p:cNvPr id="17" name="Text 12"/>
          <p:cNvSpPr/>
          <p:nvPr/>
        </p:nvSpPr>
        <p:spPr>
          <a:xfrm>
            <a:off x="5892800" y="4289524"/>
            <a:ext cx="5650992"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D4657"/>
                </a:solidFill>
                <a:latin typeface="Be Vietnam Pro" pitchFamily="34" charset="0"/>
                <a:ea typeface="Be Vietnam Pro" pitchFamily="34" charset="-122"/>
                <a:cs typeface="Be Vietnam Pro" pitchFamily="34" charset="-120"/>
              </a:rPr>
              <a:t>Mỗi lúc chỉ một sprint chạy. Chỉ </a:t>
            </a:r>
            <a:r>
              <a:rPr lang="en-US" sz="2000" b="1" dirty="0">
                <a:solidFill>
                  <a:srgbClr val="14213D"/>
                </a:solidFill>
                <a:latin typeface="Be Vietnam Pro" pitchFamily="34" charset="0"/>
                <a:ea typeface="Be Vietnam Pro" pitchFamily="34" charset="-122"/>
                <a:cs typeface="Be Vietnam Pro" pitchFamily="34" charset="-120"/>
              </a:rPr>
              <a:t>PM</a:t>
            </a:r>
            <a:r>
              <a:rPr lang="en-US" sz="2000" dirty="0">
                <a:solidFill>
                  <a:srgbClr val="3D4657"/>
                </a:solidFill>
                <a:latin typeface="Be Vietnam Pro" pitchFamily="34" charset="0"/>
                <a:ea typeface="Be Vietnam Pro" pitchFamily="34" charset="-122"/>
                <a:cs typeface="Be Vietnam Pro" pitchFamily="34" charset="-120"/>
              </a:rPr>
              <a:t> được bắt đầu hoặc kết thúc.</a:t>
            </a:r>
            <a:endParaRPr lang="en-US" sz="2000" dirty="0"/>
          </a:p>
        </p:txBody>
      </p:sp>
      <p:sp>
        <p:nvSpPr>
          <p:cNvPr id="18" name="Text 13"/>
          <p:cNvSpPr/>
          <p:nvPr/>
        </p:nvSpPr>
        <p:spPr>
          <a:xfrm>
            <a:off x="812800" y="6202759"/>
            <a:ext cx="451842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8 / 14 · Theo gợi ý của giảng viên hướng dẫn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14213D"/>
                </a:solidFill>
                <a:latin typeface="Be Vietnam Pro" pitchFamily="34" charset="0"/>
                <a:ea typeface="Be Vietnam Pro" pitchFamily="34" charset="-122"/>
                <a:cs typeface="Be Vietnam Pro" pitchFamily="34" charset="-120"/>
              </a:rPr>
              <a:t>Biểu đồ cho biết sprint có đúng tiến độ không</a:t>
            </a:r>
            <a:endParaRPr lang="en-US" sz="3800" dirty="0"/>
          </a:p>
        </p:txBody>
      </p:sp>
      <p:sp>
        <p:nvSpPr>
          <p:cNvPr id="3" name="Shape 1"/>
          <p:cNvSpPr/>
          <p:nvPr/>
        </p:nvSpPr>
        <p:spPr>
          <a:xfrm>
            <a:off x="812800" y="2153841"/>
            <a:ext cx="3352800" cy="2032000"/>
          </a:xfrm>
          <a:prstGeom prst="roundRect">
            <a:avLst>
              <a:gd name="adj" fmla="val 5000"/>
            </a:avLst>
          </a:prstGeom>
          <a:solidFill>
            <a:srgbClr val="FFFFFF"/>
          </a:solidFill>
          <a:ln/>
        </p:spPr>
      </p:sp>
      <p:pic>
        <p:nvPicPr>
          <p:cNvPr id="4" name="Image 0" descr="Biểu đồ burndown: điểm còn lại so với đường lý tưởng">    </p:cNvPr>
          <p:cNvPicPr>
            <a:picLocks noChangeAspect="1"/>
          </p:cNvPicPr>
          <p:nvPr/>
        </p:nvPicPr>
        <p:blipFill>
          <a:blip r:embed="rId1"/>
          <a:srcRect l="0" r="0" t="-465" b="-465"/>
          <a:stretch/>
        </p:blipFill>
        <p:spPr>
          <a:xfrm>
            <a:off x="825500" y="2166541"/>
            <a:ext cx="3327400" cy="2006600"/>
          </a:xfrm>
          <a:prstGeom prst="roundRect">
            <a:avLst>
              <a:gd name="adj" fmla="val 4430"/>
            </a:avLst>
          </a:prstGeom>
        </p:spPr>
      </p:pic>
      <p:sp>
        <p:nvSpPr>
          <p:cNvPr id="5" name="Shape 2"/>
          <p:cNvSpPr/>
          <p:nvPr/>
        </p:nvSpPr>
        <p:spPr>
          <a:xfrm>
            <a:off x="819150" y="2160191"/>
            <a:ext cx="3340100" cy="2019300"/>
          </a:xfrm>
          <a:prstGeom prst="roundRect">
            <a:avLst>
              <a:gd name="adj" fmla="val 4717"/>
            </a:avLst>
          </a:prstGeom>
          <a:noFill/>
          <a:ln w="12700">
            <a:solidFill>
              <a:srgbClr val="E4DED3"/>
            </a:solidFill>
            <a:prstDash val="solid"/>
          </a:ln>
        </p:spPr>
      </p:sp>
      <p:sp>
        <p:nvSpPr>
          <p:cNvPr id="6" name="Text 3"/>
          <p:cNvSpPr/>
          <p:nvPr/>
        </p:nvSpPr>
        <p:spPr>
          <a:xfrm>
            <a:off x="812800" y="4312841"/>
            <a:ext cx="347075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Burndown</a:t>
            </a:r>
            <a:endParaRPr lang="en-US" sz="2200" dirty="0"/>
          </a:p>
        </p:txBody>
      </p:sp>
      <p:sp>
        <p:nvSpPr>
          <p:cNvPr id="7" name="Text 4"/>
          <p:cNvSpPr/>
          <p:nvPr/>
        </p:nvSpPr>
        <p:spPr>
          <a:xfrm>
            <a:off x="812800" y="4775101"/>
            <a:ext cx="3470757"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3D4657"/>
                </a:solidFill>
                <a:latin typeface="Be Vietnam Pro" pitchFamily="34" charset="0"/>
                <a:ea typeface="Be Vietnam Pro" pitchFamily="34" charset="-122"/>
                <a:cs typeface="Be Vietnam Pro" pitchFamily="34" charset="-120"/>
              </a:rPr>
              <a:t>Việc còn lại mỗi ngày so với đường lý tưởng</a:t>
            </a:r>
            <a:endParaRPr lang="en-US" sz="1800" dirty="0"/>
          </a:p>
        </p:txBody>
      </p:sp>
      <p:sp>
        <p:nvSpPr>
          <p:cNvPr id="8" name="Shape 5"/>
          <p:cNvSpPr/>
          <p:nvPr/>
        </p:nvSpPr>
        <p:spPr>
          <a:xfrm>
            <a:off x="4411067" y="2153841"/>
            <a:ext cx="3352800" cy="2032000"/>
          </a:xfrm>
          <a:prstGeom prst="roundRect">
            <a:avLst>
              <a:gd name="adj" fmla="val 5000"/>
            </a:avLst>
          </a:prstGeom>
          <a:solidFill>
            <a:srgbClr val="FFFFFF"/>
          </a:solidFill>
          <a:ln/>
        </p:spPr>
      </p:sp>
      <p:pic>
        <p:nvPicPr>
          <p:cNvPr id="9" name="Image 1" descr="Velocity: điểm cam kết và điểm hoàn thành mỗi sprint">    </p:cNvPr>
          <p:cNvPicPr>
            <a:picLocks noChangeAspect="1"/>
          </p:cNvPicPr>
          <p:nvPr/>
        </p:nvPicPr>
        <p:blipFill>
          <a:blip r:embed="rId2"/>
          <a:srcRect l="0" r="0" t="-465" b="-465"/>
          <a:stretch/>
        </p:blipFill>
        <p:spPr>
          <a:xfrm>
            <a:off x="4423767" y="2166541"/>
            <a:ext cx="3327400" cy="2006600"/>
          </a:xfrm>
          <a:prstGeom prst="roundRect">
            <a:avLst>
              <a:gd name="adj" fmla="val 4430"/>
            </a:avLst>
          </a:prstGeom>
        </p:spPr>
      </p:pic>
      <p:sp>
        <p:nvSpPr>
          <p:cNvPr id="10" name="Shape 6"/>
          <p:cNvSpPr/>
          <p:nvPr/>
        </p:nvSpPr>
        <p:spPr>
          <a:xfrm>
            <a:off x="4417417" y="2160191"/>
            <a:ext cx="3340100" cy="2019300"/>
          </a:xfrm>
          <a:prstGeom prst="roundRect">
            <a:avLst>
              <a:gd name="adj" fmla="val 4717"/>
            </a:avLst>
          </a:prstGeom>
          <a:noFill/>
          <a:ln w="12700">
            <a:solidFill>
              <a:srgbClr val="E4DED3"/>
            </a:solidFill>
            <a:prstDash val="solid"/>
          </a:ln>
        </p:spPr>
      </p:sp>
      <p:sp>
        <p:nvSpPr>
          <p:cNvPr id="11" name="Text 7"/>
          <p:cNvSpPr/>
          <p:nvPr/>
        </p:nvSpPr>
        <p:spPr>
          <a:xfrm>
            <a:off x="4411067" y="4312841"/>
            <a:ext cx="347085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Velocity</a:t>
            </a:r>
            <a:endParaRPr lang="en-US" sz="2200" dirty="0"/>
          </a:p>
        </p:txBody>
      </p:sp>
      <p:sp>
        <p:nvSpPr>
          <p:cNvPr id="12" name="Text 8"/>
          <p:cNvSpPr/>
          <p:nvPr/>
        </p:nvSpPr>
        <p:spPr>
          <a:xfrm>
            <a:off x="4411067" y="4775101"/>
            <a:ext cx="3470859"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3D4657"/>
                </a:solidFill>
                <a:latin typeface="Be Vietnam Pro" pitchFamily="34" charset="0"/>
                <a:ea typeface="Be Vietnam Pro" pitchFamily="34" charset="-122"/>
                <a:cs typeface="Be Vietnam Pro" pitchFamily="34" charset="-120"/>
              </a:rPr>
              <a:t>Điểm hứa làm so với điểm làm được</a:t>
            </a:r>
            <a:endParaRPr lang="en-US" sz="1800" dirty="0"/>
          </a:p>
        </p:txBody>
      </p:sp>
      <p:sp>
        <p:nvSpPr>
          <p:cNvPr id="13" name="Shape 9"/>
          <p:cNvSpPr/>
          <p:nvPr/>
        </p:nvSpPr>
        <p:spPr>
          <a:xfrm>
            <a:off x="8009434" y="2153841"/>
            <a:ext cx="3352800" cy="2032000"/>
          </a:xfrm>
          <a:prstGeom prst="roundRect">
            <a:avLst>
              <a:gd name="adj" fmla="val 5000"/>
            </a:avLst>
          </a:prstGeom>
          <a:solidFill>
            <a:srgbClr val="FFFFFF"/>
          </a:solidFill>
          <a:ln/>
        </p:spPr>
      </p:sp>
      <p:pic>
        <p:nvPicPr>
          <p:cNvPr id="14" name="Image 2" descr="Retrospective do AI viết: làm tốt, cần cải thiện, hành động">    </p:cNvPr>
          <p:cNvPicPr>
            <a:picLocks noChangeAspect="1"/>
          </p:cNvPicPr>
          <p:nvPr/>
        </p:nvPicPr>
        <p:blipFill>
          <a:blip r:embed="rId3"/>
          <a:srcRect l="0" r="0" t="-465" b="-465"/>
          <a:stretch/>
        </p:blipFill>
        <p:spPr>
          <a:xfrm>
            <a:off x="8022134" y="2166541"/>
            <a:ext cx="3327400" cy="2006600"/>
          </a:xfrm>
          <a:prstGeom prst="roundRect">
            <a:avLst>
              <a:gd name="adj" fmla="val 4430"/>
            </a:avLst>
          </a:prstGeom>
        </p:spPr>
      </p:pic>
      <p:sp>
        <p:nvSpPr>
          <p:cNvPr id="15" name="Shape 10"/>
          <p:cNvSpPr/>
          <p:nvPr/>
        </p:nvSpPr>
        <p:spPr>
          <a:xfrm>
            <a:off x="8015784" y="2160191"/>
            <a:ext cx="3340100" cy="2019300"/>
          </a:xfrm>
          <a:prstGeom prst="roundRect">
            <a:avLst>
              <a:gd name="adj" fmla="val 4717"/>
            </a:avLst>
          </a:prstGeom>
          <a:noFill/>
          <a:ln w="12700">
            <a:solidFill>
              <a:srgbClr val="E4DED3"/>
            </a:solidFill>
            <a:prstDash val="solid"/>
          </a:ln>
        </p:spPr>
      </p:sp>
      <p:sp>
        <p:nvSpPr>
          <p:cNvPr id="16" name="Text 11"/>
          <p:cNvSpPr/>
          <p:nvPr/>
        </p:nvSpPr>
        <p:spPr>
          <a:xfrm>
            <a:off x="8009434" y="4312841"/>
            <a:ext cx="347085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AI retrospective</a:t>
            </a:r>
            <a:endParaRPr lang="en-US" sz="2200" dirty="0"/>
          </a:p>
        </p:txBody>
      </p:sp>
      <p:sp>
        <p:nvSpPr>
          <p:cNvPr id="17" name="Text 12"/>
          <p:cNvSpPr/>
          <p:nvPr/>
        </p:nvSpPr>
        <p:spPr>
          <a:xfrm>
            <a:off x="8009434" y="4775101"/>
            <a:ext cx="3470859"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3D4657"/>
                </a:solidFill>
                <a:latin typeface="Be Vietnam Pro" pitchFamily="34" charset="0"/>
                <a:ea typeface="Be Vietnam Pro" pitchFamily="34" charset="-122"/>
                <a:cs typeface="Be Vietnam Pro" pitchFamily="34" charset="-120"/>
              </a:rPr>
              <a:t>Điều làm tốt, cần sửa, việc tiếp theo</a:t>
            </a:r>
            <a:endParaRPr lang="en-US" sz="1800" dirty="0"/>
          </a:p>
        </p:txBody>
      </p:sp>
      <p:sp>
        <p:nvSpPr>
          <p:cNvPr id="18" name="Text 13"/>
          <p:cNvSpPr/>
          <p:nvPr/>
        </p:nvSpPr>
        <p:spPr>
          <a:xfrm>
            <a:off x="812800" y="6202759"/>
            <a:ext cx="58424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9 / 14</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7F6F2"/>
                </a:solidFill>
                <a:latin typeface="Be Vietnam Pro" pitchFamily="34" charset="0"/>
                <a:ea typeface="Be Vietnam Pro" pitchFamily="34" charset="-122"/>
                <a:cs typeface="Be Vietnam Pro" pitchFamily="34" charset="-120"/>
              </a:rPr>
              <a:t>AI làm thay phần quản lý nhàm chán</a:t>
            </a:r>
            <a:endParaRPr lang="en-US" sz="3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61120"/>
          <a:ext cx="5626100" cy="3453606"/>
        </p:xfrm>
        <a:graphic>
          <a:graphicData uri="http://schemas.openxmlformats.org/drawingml/2006/table">
            <a:tbl>
              <a:tblPr/>
              <a:tblGrid>
                <a:gridCol w="2475484"/>
                <a:gridCol w="3150616"/>
              </a:tblGrid>
              <a:tr h="519311">
                <a:tc>
                  <a:txBody>
                    <a:bodyPr/>
                    <a:lstStyle/>
                    <a:p>
                      <a:pPr indent="0" marL="0">
                        <a:lnSpc>
                          <a:spcPts val="2660"/>
                        </a:lnSpc>
                        <a:buNone/>
                      </a:pPr>
                      <a:r>
                        <a:rPr lang="en-US" sz="1900" b="1" dirty="0">
                          <a:solidFill>
                            <a:srgbClr val="F7F6F2"/>
                          </a:solidFill>
                          <a:latin typeface="Be Vietnam Pro" pitchFamily="34" charset="0"/>
                          <a:ea typeface="Be Vietnam Pro" pitchFamily="34" charset="-122"/>
                          <a:cs typeface="Be Vietnam Pro" pitchFamily="34" charset="-120"/>
                        </a:rPr>
                        <a:t>Bạn đưa</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indent="0" marL="0">
                        <a:lnSpc>
                          <a:spcPts val="2660"/>
                        </a:lnSpc>
                        <a:buNone/>
                      </a:pPr>
                      <a:r>
                        <a:rPr lang="en-US" sz="1900" b="1" dirty="0">
                          <a:solidFill>
                            <a:srgbClr val="F7F6F2"/>
                          </a:solidFill>
                          <a:latin typeface="Be Vietnam Pro" pitchFamily="34" charset="0"/>
                          <a:ea typeface="Be Vietnam Pro" pitchFamily="34" charset="-122"/>
                          <a:cs typeface="Be Vietnam Pro" pitchFamily="34" charset="-120"/>
                        </a:rPr>
                        <a:t>AI trả về</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r>
              <a:tr h="519311">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Bảng công việc</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Báo cáo tiến độ tuần</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857052">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Ghi chép họp</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Việc, người làm, quyết định</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519311">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Một task mới</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Người phù hợp nhất</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519311">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Một mục tiêu lớn</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Các task con + thứ tự</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519311">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Sprint vừa xong</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660"/>
                        </a:lnSpc>
                        <a:buNone/>
                      </a:pPr>
                      <a:r>
                        <a:rPr lang="en-US" sz="1900" dirty="0">
                          <a:solidFill>
                            <a:srgbClr val="F7F6F2"/>
                          </a:solidFill>
                          <a:latin typeface="Be Vietnam Pro" pitchFamily="34" charset="0"/>
                          <a:ea typeface="Be Vietnam Pro" pitchFamily="34" charset="-122"/>
                          <a:cs typeface="Be Vietnam Pro" pitchFamily="34" charset="-120"/>
                        </a:rPr>
                        <a:t>Retrospective</a:t>
                      </a:r>
                      <a:endParaRPr lang="en-US" sz="1900" dirty="0">
                        <a:latin typeface="Be Vietnam Pro" charset="0"/>
                        <a:ea typeface="Be Vietnam Pro" charset="0"/>
                        <a:cs typeface="Be Vietnam Pro" charset="0"/>
                      </a:endParaRPr>
                    </a:p>
                  </a:txBody>
                  <a:tcPr marL="84455" marR="84455" marT="84455" marB="8445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bl>
          </a:graphicData>
        </a:graphic>
      </p:graphicFrame>
      <p:sp>
        <p:nvSpPr>
          <p:cNvPr id="4" name="Shape 1"/>
          <p:cNvSpPr/>
          <p:nvPr/>
        </p:nvSpPr>
        <p:spPr>
          <a:xfrm>
            <a:off x="6807200" y="1730573"/>
            <a:ext cx="4572000" cy="3302000"/>
          </a:xfrm>
          <a:prstGeom prst="roundRect">
            <a:avLst>
              <a:gd name="adj" fmla="val 3077"/>
            </a:avLst>
          </a:prstGeom>
          <a:solidFill>
            <a:srgbClr val="F7F6F2"/>
          </a:solidFill>
          <a:ln/>
        </p:spPr>
      </p:sp>
      <p:pic>
        <p:nvPicPr>
          <p:cNvPr id="5" name="Image 0" descr="Giao việc thông minh: khối lượng nhóm và người được gợi ý kèm lý do">    </p:cNvPr>
          <p:cNvPicPr>
            <a:picLocks noChangeAspect="1"/>
          </p:cNvPicPr>
          <p:nvPr/>
        </p:nvPicPr>
        <p:blipFill>
          <a:blip r:embed="rId1"/>
          <a:stretch>
            <a:fillRect/>
          </a:stretch>
        </p:blipFill>
        <p:spPr>
          <a:xfrm>
            <a:off x="6807200" y="2015688"/>
            <a:ext cx="4572000" cy="2731770"/>
          </a:xfrm>
          <a:prstGeom prst="rect">
            <a:avLst/>
          </a:prstGeom>
        </p:spPr>
      </p:pic>
      <p:sp>
        <p:nvSpPr>
          <p:cNvPr id="6" name="Text 2"/>
          <p:cNvSpPr/>
          <p:nvPr/>
        </p:nvSpPr>
        <p:spPr>
          <a:xfrm>
            <a:off x="812800" y="62027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F"/>
                </a:solidFill>
                <a:latin typeface="Be Vietnam Pro" pitchFamily="34" charset="0"/>
                <a:ea typeface="Be Vietnam Pro" pitchFamily="34" charset="-122"/>
                <a:cs typeface="Be Vietnam Pro" pitchFamily="34" charset="-120"/>
              </a:rPr>
              <a:t>10 / 14 · Mô hình trên Groq · AI lỗi thì dùng câu trả lời theo quy tắc, không bao giờ treo</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14213D"/>
                </a:solidFill>
                <a:latin typeface="Be Vietnam Pro" pitchFamily="34" charset="0"/>
                <a:ea typeface="Be Vietnam Pro" pitchFamily="34" charset="-122"/>
                <a:cs typeface="Be Vietnam Pro" pitchFamily="34" charset="-120"/>
              </a:rPr>
              <a:t>Dây chuyền Agent AI xây dựng phần mềm</a:t>
            </a:r>
            <a:endParaRPr lang="en-US" sz="3800" dirty="0"/>
          </a:p>
        </p:txBody>
      </p:sp>
      <p:sp>
        <p:nvSpPr>
          <p:cNvPr id="3" name="Text 1"/>
          <p:cNvSpPr/>
          <p:nvPr/>
        </p:nvSpPr>
        <p:spPr>
          <a:xfrm>
            <a:off x="812800" y="1781770"/>
            <a:ext cx="1397000" cy="571500"/>
          </a:xfrm>
          <a:prstGeom prst="roundRect">
            <a:avLst>
              <a:gd name="adj" fmla="val 22222"/>
            </a:avLst>
          </a:prstGeom>
          <a:solidFill>
            <a:srgbClr val="E7ECF7"/>
          </a:solidFill>
          <a:ln/>
        </p:spPr>
        <p:txBody>
          <a:bodyPr wrap="square" lIns="115203" tIns="115203" rIns="64403" bIns="89803" rtlCol="0" anchor="t">
            <a:normAutofit/>
          </a:bodyPr>
          <a:lstStyle/>
          <a:p>
            <a:pPr algn="l" indent="0" marL="0">
              <a:lnSpc>
                <a:spcPts val="2100"/>
              </a:lnSpc>
              <a:buNone/>
            </a:pPr>
            <a:r>
              <a:rPr lang="en-US" sz="1500" b="1" dirty="0">
                <a:solidFill>
                  <a:srgbClr val="1D4ED8"/>
                </a:solidFill>
                <a:latin typeface="Be Vietnam Pro" pitchFamily="34" charset="0"/>
                <a:ea typeface="Be Vietnam Pro" pitchFamily="34" charset="-122"/>
                <a:cs typeface="Be Vietnam Pro" pitchFamily="34" charset="-120"/>
              </a:rPr>
              <a:t>1 Yêu cầu</a:t>
            </a:r>
            <a:endParaRPr lang="en-US" sz="1500" dirty="0"/>
          </a:p>
        </p:txBody>
      </p:sp>
      <p:pic>
        <p:nvPicPr>
          <p:cNvPr id="4" name="Image 0" descr="arrow-right">    </p:cNvPr>
          <p:cNvPicPr>
            <a:picLocks noChangeAspect="1"/>
          </p:cNvPicPr>
          <p:nvPr/>
        </p:nvPicPr>
        <p:blipFill>
          <a:blip r:embed="rId1"/>
          <a:srcRect l="0" r="0" t="-227" b="-227"/>
          <a:stretch/>
        </p:blipFill>
        <p:spPr>
          <a:xfrm>
            <a:off x="2286000" y="1965920"/>
            <a:ext cx="284460" cy="203200"/>
          </a:xfrm>
          <a:prstGeom prst="rect">
            <a:avLst/>
          </a:prstGeom>
        </p:spPr>
      </p:pic>
      <p:sp>
        <p:nvSpPr>
          <p:cNvPr id="5" name="Text 2"/>
          <p:cNvSpPr/>
          <p:nvPr/>
        </p:nvSpPr>
        <p:spPr>
          <a:xfrm>
            <a:off x="2646660" y="1781770"/>
            <a:ext cx="1397000" cy="571500"/>
          </a:xfrm>
          <a:prstGeom prst="roundRect">
            <a:avLst>
              <a:gd name="adj" fmla="val 22222"/>
            </a:avLst>
          </a:prstGeom>
          <a:solidFill>
            <a:srgbClr val="E7ECF7"/>
          </a:solidFill>
          <a:ln/>
        </p:spPr>
        <p:txBody>
          <a:bodyPr wrap="square" lIns="115203" tIns="115203" rIns="64403" bIns="89803" rtlCol="0" anchor="t">
            <a:normAutofit/>
          </a:bodyPr>
          <a:lstStyle/>
          <a:p>
            <a:pPr algn="l" indent="0" marL="0">
              <a:lnSpc>
                <a:spcPts val="2100"/>
              </a:lnSpc>
              <a:buNone/>
            </a:pPr>
            <a:r>
              <a:rPr lang="en-US" sz="1500" b="1" dirty="0">
                <a:solidFill>
                  <a:srgbClr val="1D4ED8"/>
                </a:solidFill>
                <a:latin typeface="Be Vietnam Pro" pitchFamily="34" charset="0"/>
                <a:ea typeface="Be Vietnam Pro" pitchFamily="34" charset="-122"/>
                <a:cs typeface="Be Vietnam Pro" pitchFamily="34" charset="-120"/>
              </a:rPr>
              <a:t>2 Thiết kế</a:t>
            </a:r>
            <a:endParaRPr lang="en-US" sz="1500" dirty="0"/>
          </a:p>
        </p:txBody>
      </p:sp>
      <p:pic>
        <p:nvPicPr>
          <p:cNvPr id="6" name="Image 1" descr="arrow-right">    </p:cNvPr>
          <p:cNvPicPr>
            <a:picLocks noChangeAspect="1"/>
          </p:cNvPicPr>
          <p:nvPr/>
        </p:nvPicPr>
        <p:blipFill>
          <a:blip r:embed="rId2"/>
          <a:srcRect l="0" r="0" t="-227" b="-227"/>
          <a:stretch/>
        </p:blipFill>
        <p:spPr>
          <a:xfrm>
            <a:off x="4119860" y="1965920"/>
            <a:ext cx="284460" cy="203200"/>
          </a:xfrm>
          <a:prstGeom prst="rect">
            <a:avLst/>
          </a:prstGeom>
        </p:spPr>
      </p:pic>
      <p:sp>
        <p:nvSpPr>
          <p:cNvPr id="7" name="Text 3"/>
          <p:cNvSpPr/>
          <p:nvPr/>
        </p:nvSpPr>
        <p:spPr>
          <a:xfrm>
            <a:off x="4480520" y="1648420"/>
            <a:ext cx="1397000" cy="838200"/>
          </a:xfrm>
          <a:prstGeom prst="roundRect">
            <a:avLst>
              <a:gd name="adj" fmla="val 15152"/>
            </a:avLst>
          </a:prstGeom>
          <a:solidFill>
            <a:srgbClr val="E7ECF7"/>
          </a:solidFill>
          <a:ln/>
        </p:spPr>
        <p:txBody>
          <a:bodyPr wrap="square" lIns="115203" tIns="115203" rIns="64403" bIns="89803" rtlCol="0" anchor="t">
            <a:normAutofit/>
          </a:bodyPr>
          <a:lstStyle/>
          <a:p>
            <a:pPr algn="l" indent="0" marL="0">
              <a:lnSpc>
                <a:spcPts val="2100"/>
              </a:lnSpc>
              <a:buNone/>
            </a:pPr>
            <a:r>
              <a:rPr lang="en-US" sz="1500" b="1" dirty="0">
                <a:solidFill>
                  <a:srgbClr val="1D4ED8"/>
                </a:solidFill>
                <a:latin typeface="Be Vietnam Pro" pitchFamily="34" charset="0"/>
                <a:ea typeface="Be Vietnam Pro" pitchFamily="34" charset="-122"/>
                <a:cs typeface="Be Vietnam Pro" pitchFamily="34" charset="-120"/>
              </a:rPr>
              <a:t>3 Test trước</a:t>
            </a:r>
            <a:endParaRPr lang="en-US" sz="1500" dirty="0"/>
          </a:p>
        </p:txBody>
      </p:sp>
      <p:pic>
        <p:nvPicPr>
          <p:cNvPr id="8" name="Image 2" descr="arrow-right">    </p:cNvPr>
          <p:cNvPicPr>
            <a:picLocks noChangeAspect="1"/>
          </p:cNvPicPr>
          <p:nvPr/>
        </p:nvPicPr>
        <p:blipFill>
          <a:blip r:embed="rId3"/>
          <a:srcRect l="0" r="0" t="-227" b="-227"/>
          <a:stretch/>
        </p:blipFill>
        <p:spPr>
          <a:xfrm>
            <a:off x="5953720" y="1965920"/>
            <a:ext cx="284460" cy="203200"/>
          </a:xfrm>
          <a:prstGeom prst="rect">
            <a:avLst/>
          </a:prstGeom>
        </p:spPr>
      </p:pic>
      <p:sp>
        <p:nvSpPr>
          <p:cNvPr id="9" name="Text 4"/>
          <p:cNvSpPr/>
          <p:nvPr/>
        </p:nvSpPr>
        <p:spPr>
          <a:xfrm>
            <a:off x="6314380" y="1648420"/>
            <a:ext cx="1397000" cy="838200"/>
          </a:xfrm>
          <a:prstGeom prst="roundRect">
            <a:avLst>
              <a:gd name="adj" fmla="val 15152"/>
            </a:avLst>
          </a:prstGeom>
          <a:solidFill>
            <a:srgbClr val="E7ECF7"/>
          </a:solidFill>
          <a:ln/>
        </p:spPr>
        <p:txBody>
          <a:bodyPr wrap="square" lIns="115203" tIns="115203" rIns="64403" bIns="89803" rtlCol="0" anchor="t">
            <a:normAutofit/>
          </a:bodyPr>
          <a:lstStyle/>
          <a:p>
            <a:pPr algn="l" indent="0" marL="0">
              <a:lnSpc>
                <a:spcPts val="2100"/>
              </a:lnSpc>
              <a:buNone/>
            </a:pPr>
            <a:r>
              <a:rPr lang="en-US" sz="1500" b="1" dirty="0">
                <a:solidFill>
                  <a:srgbClr val="1D4ED8"/>
                </a:solidFill>
                <a:latin typeface="Be Vietnam Pro" pitchFamily="34" charset="0"/>
                <a:ea typeface="Be Vietnam Pro" pitchFamily="34" charset="-122"/>
                <a:cs typeface="Be Vietnam Pro" pitchFamily="34" charset="-120"/>
              </a:rPr>
              <a:t>4 Viết code</a:t>
            </a:r>
            <a:endParaRPr lang="en-US" sz="1500" dirty="0"/>
          </a:p>
        </p:txBody>
      </p:sp>
      <p:pic>
        <p:nvPicPr>
          <p:cNvPr id="10" name="Image 3" descr="arrow-right">    </p:cNvPr>
          <p:cNvPicPr>
            <a:picLocks noChangeAspect="1"/>
          </p:cNvPicPr>
          <p:nvPr/>
        </p:nvPicPr>
        <p:blipFill>
          <a:blip r:embed="rId4"/>
          <a:srcRect l="0" r="0" t="-227" b="-227"/>
          <a:stretch/>
        </p:blipFill>
        <p:spPr>
          <a:xfrm>
            <a:off x="7787580" y="1965920"/>
            <a:ext cx="284460" cy="203200"/>
          </a:xfrm>
          <a:prstGeom prst="rect">
            <a:avLst/>
          </a:prstGeom>
        </p:spPr>
      </p:pic>
      <p:sp>
        <p:nvSpPr>
          <p:cNvPr id="11" name="Text 5"/>
          <p:cNvSpPr/>
          <p:nvPr/>
        </p:nvSpPr>
        <p:spPr>
          <a:xfrm>
            <a:off x="8148241" y="1781770"/>
            <a:ext cx="1397000" cy="571500"/>
          </a:xfrm>
          <a:prstGeom prst="roundRect">
            <a:avLst>
              <a:gd name="adj" fmla="val 22222"/>
            </a:avLst>
          </a:prstGeom>
          <a:solidFill>
            <a:srgbClr val="E7ECF7"/>
          </a:solidFill>
          <a:ln/>
        </p:spPr>
        <p:txBody>
          <a:bodyPr wrap="square" lIns="115203" tIns="115203" rIns="64403" bIns="89803" rtlCol="0" anchor="t">
            <a:normAutofit/>
          </a:bodyPr>
          <a:lstStyle/>
          <a:p>
            <a:pPr algn="l" indent="0" marL="0">
              <a:lnSpc>
                <a:spcPts val="2100"/>
              </a:lnSpc>
              <a:buNone/>
            </a:pPr>
            <a:r>
              <a:rPr lang="en-US" sz="1500" b="1" dirty="0">
                <a:solidFill>
                  <a:srgbClr val="1D4ED8"/>
                </a:solidFill>
                <a:latin typeface="Be Vietnam Pro" pitchFamily="34" charset="0"/>
                <a:ea typeface="Be Vietnam Pro" pitchFamily="34" charset="-122"/>
                <a:cs typeface="Be Vietnam Pro" pitchFamily="34" charset="-120"/>
              </a:rPr>
              <a:t>5 Rà soát</a:t>
            </a:r>
            <a:endParaRPr lang="en-US" sz="1500" dirty="0"/>
          </a:p>
        </p:txBody>
      </p:sp>
      <p:pic>
        <p:nvPicPr>
          <p:cNvPr id="12" name="Image 4" descr="arrow-right">    </p:cNvPr>
          <p:cNvPicPr>
            <a:picLocks noChangeAspect="1"/>
          </p:cNvPicPr>
          <p:nvPr/>
        </p:nvPicPr>
        <p:blipFill>
          <a:blip r:embed="rId5"/>
          <a:srcRect l="0" r="0" t="-227" b="-227"/>
          <a:stretch/>
        </p:blipFill>
        <p:spPr>
          <a:xfrm>
            <a:off x="9621441" y="1965920"/>
            <a:ext cx="284460" cy="203200"/>
          </a:xfrm>
          <a:prstGeom prst="rect">
            <a:avLst/>
          </a:prstGeom>
        </p:spPr>
      </p:pic>
      <p:sp>
        <p:nvSpPr>
          <p:cNvPr id="13" name="Text 6"/>
          <p:cNvSpPr/>
          <p:nvPr/>
        </p:nvSpPr>
        <p:spPr>
          <a:xfrm>
            <a:off x="9982101" y="1648420"/>
            <a:ext cx="1397000" cy="838200"/>
          </a:xfrm>
          <a:prstGeom prst="roundRect">
            <a:avLst>
              <a:gd name="adj" fmla="val 15152"/>
            </a:avLst>
          </a:prstGeom>
          <a:solidFill>
            <a:srgbClr val="E7ECF7"/>
          </a:solidFill>
          <a:ln/>
        </p:spPr>
        <p:txBody>
          <a:bodyPr wrap="square" lIns="115203" tIns="115203" rIns="64403" bIns="89803" rtlCol="0" anchor="t">
            <a:normAutofit/>
          </a:bodyPr>
          <a:lstStyle/>
          <a:p>
            <a:pPr algn="l" indent="0" marL="0">
              <a:lnSpc>
                <a:spcPts val="2100"/>
              </a:lnSpc>
              <a:buNone/>
            </a:pPr>
            <a:r>
              <a:rPr lang="en-US" sz="1500" b="1" dirty="0">
                <a:solidFill>
                  <a:srgbClr val="1D4ED8"/>
                </a:solidFill>
                <a:latin typeface="Be Vietnam Pro" pitchFamily="34" charset="0"/>
                <a:ea typeface="Be Vietnam Pro" pitchFamily="34" charset="-122"/>
                <a:cs typeface="Be Vietnam Pro" pitchFamily="34" charset="-120"/>
              </a:rPr>
              <a:t>6 Phát hành</a:t>
            </a:r>
            <a:endParaRPr lang="en-US" sz="1500" dirty="0"/>
          </a:p>
        </p:txBody>
      </p:sp>
      <p:sp>
        <p:nvSpPr>
          <p:cNvPr id="14" name="Shape 7"/>
          <p:cNvSpPr/>
          <p:nvPr/>
        </p:nvSpPr>
        <p:spPr>
          <a:xfrm>
            <a:off x="812800" y="2791420"/>
            <a:ext cx="3386634" cy="1761232"/>
          </a:xfrm>
          <a:prstGeom prst="roundRect">
            <a:avLst>
              <a:gd name="adj" fmla="val 8653"/>
            </a:avLst>
          </a:prstGeom>
          <a:solidFill>
            <a:srgbClr val="FCE9D6"/>
          </a:solidFill>
          <a:ln/>
        </p:spPr>
      </p:sp>
      <p:sp>
        <p:nvSpPr>
          <p:cNvPr id="15" name="Text 8"/>
          <p:cNvSpPr/>
          <p:nvPr/>
        </p:nvSpPr>
        <p:spPr>
          <a:xfrm>
            <a:off x="1066800" y="3045420"/>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2410C"/>
                </a:solidFill>
                <a:latin typeface="Be Vietnam Pro" pitchFamily="34" charset="0"/>
                <a:ea typeface="Be Vietnam Pro" pitchFamily="34" charset="-122"/>
                <a:cs typeface="Be Vietnam Pro" pitchFamily="34" charset="-120"/>
              </a:rPr>
              <a:t>Cấm</a:t>
            </a:r>
            <a:endParaRPr lang="en-US" sz="2200" dirty="0"/>
          </a:p>
        </p:txBody>
      </p:sp>
      <p:sp>
        <p:nvSpPr>
          <p:cNvPr id="16" name="Text 9"/>
          <p:cNvSpPr/>
          <p:nvPr/>
        </p:nvSpPr>
        <p:spPr>
          <a:xfrm>
            <a:off x="1066800" y="3456880"/>
            <a:ext cx="2964993" cy="867172"/>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4213D"/>
                </a:solidFill>
                <a:latin typeface="Be Vietnam Pro" pitchFamily="34" charset="0"/>
                <a:ea typeface="Be Vietnam Pro" pitchFamily="34" charset="-122"/>
                <a:cs typeface="Be Vietnam Pro" pitchFamily="34" charset="-120"/>
              </a:rPr>
              <a:t>Lộ khoá bí mật, sửa .env, force-push, sửa migration đã chạy</a:t>
            </a:r>
            <a:endParaRPr lang="en-US" sz="1700" dirty="0"/>
          </a:p>
        </p:txBody>
      </p:sp>
      <p:sp>
        <p:nvSpPr>
          <p:cNvPr id="17" name="Shape 10"/>
          <p:cNvSpPr/>
          <p:nvPr/>
        </p:nvSpPr>
        <p:spPr>
          <a:xfrm>
            <a:off x="4402634" y="2791420"/>
            <a:ext cx="3386634" cy="1761232"/>
          </a:xfrm>
          <a:prstGeom prst="roundRect">
            <a:avLst>
              <a:gd name="adj" fmla="val 8653"/>
            </a:avLst>
          </a:prstGeom>
          <a:solidFill>
            <a:srgbClr val="FFF4D6"/>
          </a:solidFill>
          <a:ln/>
        </p:spPr>
      </p:sp>
      <p:sp>
        <p:nvSpPr>
          <p:cNvPr id="18" name="Text 11"/>
          <p:cNvSpPr/>
          <p:nvPr/>
        </p:nvSpPr>
        <p:spPr>
          <a:xfrm>
            <a:off x="4656634" y="3045420"/>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A5A00"/>
                </a:solidFill>
                <a:latin typeface="Be Vietnam Pro" pitchFamily="34" charset="0"/>
                <a:ea typeface="Be Vietnam Pro" pitchFamily="34" charset="-122"/>
                <a:cs typeface="Be Vietnam Pro" pitchFamily="34" charset="-120"/>
              </a:rPr>
              <a:t>Hỏi người</a:t>
            </a:r>
            <a:endParaRPr lang="en-US" sz="2200" dirty="0"/>
          </a:p>
        </p:txBody>
      </p:sp>
      <p:sp>
        <p:nvSpPr>
          <p:cNvPr id="19" name="Text 12"/>
          <p:cNvSpPr/>
          <p:nvPr/>
        </p:nvSpPr>
        <p:spPr>
          <a:xfrm>
            <a:off x="4656634" y="3456880"/>
            <a:ext cx="2964993" cy="867172"/>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4213D"/>
                </a:solidFill>
                <a:latin typeface="Be Vietnam Pro" pitchFamily="34" charset="0"/>
                <a:ea typeface="Be Vietnam Pro" pitchFamily="34" charset="-122"/>
                <a:cs typeface="Be Vietnam Pro" pitchFamily="34" charset="-120"/>
              </a:rPr>
              <a:t>Đăng nhập, phân quyền, hợp đồng API, git push, deploy</a:t>
            </a:r>
            <a:endParaRPr lang="en-US" sz="1700" dirty="0"/>
          </a:p>
        </p:txBody>
      </p:sp>
      <p:sp>
        <p:nvSpPr>
          <p:cNvPr id="20" name="Shape 13"/>
          <p:cNvSpPr/>
          <p:nvPr/>
        </p:nvSpPr>
        <p:spPr>
          <a:xfrm>
            <a:off x="7992467" y="2791420"/>
            <a:ext cx="3386634" cy="1761232"/>
          </a:xfrm>
          <a:prstGeom prst="roundRect">
            <a:avLst>
              <a:gd name="adj" fmla="val 8653"/>
            </a:avLst>
          </a:prstGeom>
          <a:solidFill>
            <a:srgbClr val="DCEFE3"/>
          </a:solidFill>
          <a:ln/>
        </p:spPr>
      </p:sp>
      <p:sp>
        <p:nvSpPr>
          <p:cNvPr id="21" name="Text 14"/>
          <p:cNvSpPr/>
          <p:nvPr/>
        </p:nvSpPr>
        <p:spPr>
          <a:xfrm>
            <a:off x="8246467" y="3045420"/>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803D"/>
                </a:solidFill>
                <a:latin typeface="Be Vietnam Pro" pitchFamily="34" charset="0"/>
                <a:ea typeface="Be Vietnam Pro" pitchFamily="34" charset="-122"/>
                <a:cs typeface="Be Vietnam Pro" pitchFamily="34" charset="-120"/>
              </a:rPr>
              <a:t>Xong là xong thật</a:t>
            </a:r>
            <a:endParaRPr lang="en-US" sz="2200" dirty="0"/>
          </a:p>
        </p:txBody>
      </p:sp>
      <p:sp>
        <p:nvSpPr>
          <p:cNvPr id="22" name="Text 15"/>
          <p:cNvSpPr/>
          <p:nvPr/>
        </p:nvSpPr>
        <p:spPr>
          <a:xfrm>
            <a:off x="8246467" y="3456880"/>
            <a:ext cx="2964993" cy="867172"/>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4213D"/>
                </a:solidFill>
                <a:latin typeface="Be Vietnam Pro" pitchFamily="34" charset="0"/>
                <a:ea typeface="Be Vietnam Pro" pitchFamily="34" charset="-122"/>
                <a:cs typeface="Be Vietnam Pro" pitchFamily="34" charset="-120"/>
              </a:rPr>
              <a:t>Sửa code mà thiếu test hoặc tài liệu? Agent không được dừng.</a:t>
            </a:r>
            <a:endParaRPr lang="en-US" sz="1700" dirty="0"/>
          </a:p>
        </p:txBody>
      </p:sp>
      <p:sp>
        <p:nvSpPr>
          <p:cNvPr id="23" name="Text 16"/>
          <p:cNvSpPr/>
          <p:nvPr/>
        </p:nvSpPr>
        <p:spPr>
          <a:xfrm>
            <a:off x="812800" y="6202759"/>
            <a:ext cx="62988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11 / 14 · Rào chắn là code (hook), không chỉ là lời dặn · 57 test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14213D"/>
                </a:solidFill>
                <a:latin typeface="Be Vietnam Pro" pitchFamily="34" charset="0"/>
                <a:ea typeface="Be Vietnam Pro" pitchFamily="34" charset="-122"/>
                <a:cs typeface="Be Vietnam Pro" pitchFamily="34" charset="-120"/>
              </a:rPr>
              <a:t>Đóng gói, vận hành và giám sát</a:t>
            </a:r>
            <a:endParaRPr lang="en-US" sz="3800" dirty="0"/>
          </a:p>
        </p:txBody>
      </p:sp>
      <p:sp>
        <p:nvSpPr>
          <p:cNvPr id="3" name="Shape 1"/>
          <p:cNvSpPr/>
          <p:nvPr/>
        </p:nvSpPr>
        <p:spPr>
          <a:xfrm>
            <a:off x="819150" y="1705570"/>
            <a:ext cx="3356967" cy="2770981"/>
          </a:xfrm>
          <a:prstGeom prst="roundRect">
            <a:avLst>
              <a:gd name="adj" fmla="val 5271"/>
            </a:avLst>
          </a:prstGeom>
          <a:solidFill>
            <a:srgbClr val="FFFDF9"/>
          </a:solidFill>
          <a:ln w="12700">
            <a:solidFill>
              <a:srgbClr val="E4DED3"/>
            </a:solidFill>
            <a:prstDash val="solid"/>
          </a:ln>
        </p:spPr>
      </p:sp>
      <p:sp>
        <p:nvSpPr>
          <p:cNvPr id="4" name="Text 2"/>
          <p:cNvSpPr/>
          <p:nvPr/>
        </p:nvSpPr>
        <p:spPr>
          <a:xfrm>
            <a:off x="1104900" y="1991320"/>
            <a:ext cx="286903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07B24"/>
                </a:solidFill>
                <a:latin typeface="Arial" pitchFamily="34" charset="0"/>
                <a:ea typeface="Arial" pitchFamily="34" charset="-122"/>
                <a:cs typeface="Arial" pitchFamily="34" charset="-120"/>
              </a:rPr>
              <a:t>[icon: Package]</a:t>
            </a:r>
            <a:endParaRPr lang="en-US" sz="1600" dirty="0"/>
          </a:p>
        </p:txBody>
      </p:sp>
      <p:sp>
        <p:nvSpPr>
          <p:cNvPr id="5" name="Text 3"/>
          <p:cNvSpPr/>
          <p:nvPr/>
        </p:nvSpPr>
        <p:spPr>
          <a:xfrm>
            <a:off x="1104900" y="2377380"/>
            <a:ext cx="2869031"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14213D"/>
                </a:solidFill>
                <a:latin typeface="Be Vietnam Pro" pitchFamily="34" charset="0"/>
                <a:ea typeface="Be Vietnam Pro" pitchFamily="34" charset="-122"/>
                <a:cs typeface="Be Vietnam Pro" pitchFamily="34" charset="-120"/>
              </a:rPr>
              <a:t>Đóng gói</a:t>
            </a:r>
            <a:endParaRPr lang="en-US" sz="2300" dirty="0"/>
          </a:p>
        </p:txBody>
      </p:sp>
      <p:sp>
        <p:nvSpPr>
          <p:cNvPr id="6" name="Text 4"/>
          <p:cNvSpPr/>
          <p:nvPr/>
        </p:nvSpPr>
        <p:spPr>
          <a:xfrm>
            <a:off x="1104900" y="2829421"/>
            <a:ext cx="2869031"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3D4657"/>
                </a:solidFill>
                <a:latin typeface="Be Vietnam Pro" pitchFamily="34" charset="0"/>
                <a:ea typeface="Be Vietnam Pro" pitchFamily="34" charset="-122"/>
                <a:cs typeface="Be Vietnam Pro" pitchFamily="34" charset="-120"/>
              </a:rPr>
              <a:t>Image Docker, một lệnh là chạy; CSDL tự nâng cấp bằng migration</a:t>
            </a:r>
            <a:endParaRPr lang="en-US" sz="1800" dirty="0"/>
          </a:p>
        </p:txBody>
      </p:sp>
      <p:sp>
        <p:nvSpPr>
          <p:cNvPr id="7" name="Shape 5"/>
          <p:cNvSpPr/>
          <p:nvPr/>
        </p:nvSpPr>
        <p:spPr>
          <a:xfrm>
            <a:off x="4417417" y="1705570"/>
            <a:ext cx="3357066" cy="2770981"/>
          </a:xfrm>
          <a:prstGeom prst="roundRect">
            <a:avLst>
              <a:gd name="adj" fmla="val 5271"/>
            </a:avLst>
          </a:prstGeom>
          <a:solidFill>
            <a:srgbClr val="FFFDF9"/>
          </a:solidFill>
          <a:ln w="12700">
            <a:solidFill>
              <a:srgbClr val="E4DED3"/>
            </a:solidFill>
            <a:prstDash val="solid"/>
          </a:ln>
        </p:spPr>
      </p:sp>
      <p:pic>
        <p:nvPicPr>
          <p:cNvPr id="8" name="Image 0" descr="Play">    </p:cNvPr>
          <p:cNvPicPr>
            <a:picLocks noChangeAspect="1"/>
          </p:cNvPicPr>
          <p:nvPr/>
        </p:nvPicPr>
        <p:blipFill>
          <a:blip r:embed="rId1"/>
          <a:srcRect l="0" r="0" t="0" b="0"/>
          <a:stretch/>
        </p:blipFill>
        <p:spPr>
          <a:xfrm>
            <a:off x="4703167" y="1991320"/>
            <a:ext cx="457200" cy="457200"/>
          </a:xfrm>
          <a:prstGeom prst="rect">
            <a:avLst/>
          </a:prstGeom>
        </p:spPr>
      </p:pic>
      <p:sp>
        <p:nvSpPr>
          <p:cNvPr id="9" name="Text 6"/>
          <p:cNvSpPr/>
          <p:nvPr/>
        </p:nvSpPr>
        <p:spPr>
          <a:xfrm>
            <a:off x="4703167" y="2550120"/>
            <a:ext cx="2869133"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14213D"/>
                </a:solidFill>
                <a:latin typeface="Be Vietnam Pro" pitchFamily="34" charset="0"/>
                <a:ea typeface="Be Vietnam Pro" pitchFamily="34" charset="-122"/>
                <a:cs typeface="Be Vietnam Pro" pitchFamily="34" charset="-120"/>
              </a:rPr>
              <a:t>Vận hành</a:t>
            </a:r>
            <a:endParaRPr lang="en-US" sz="2300" dirty="0"/>
          </a:p>
        </p:txBody>
      </p:sp>
      <p:sp>
        <p:nvSpPr>
          <p:cNvPr id="10" name="Text 7"/>
          <p:cNvSpPr/>
          <p:nvPr/>
        </p:nvSpPr>
        <p:spPr>
          <a:xfrm>
            <a:off x="4703167" y="3002161"/>
            <a:ext cx="2869133" cy="1214041"/>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3D4657"/>
                </a:solidFill>
                <a:latin typeface="Be Vietnam Pro" pitchFamily="34" charset="0"/>
                <a:ea typeface="Be Vietnam Pro" pitchFamily="34" charset="-122"/>
                <a:cs typeface="Be Vietnam Pro" pitchFamily="34" charset="-120"/>
              </a:rPr>
              <a:t>Health check tự khởi động lại server lỗi; giới hạn log; script deploy an toàn</a:t>
            </a:r>
            <a:endParaRPr lang="en-US" sz="1800" dirty="0"/>
          </a:p>
        </p:txBody>
      </p:sp>
      <p:sp>
        <p:nvSpPr>
          <p:cNvPr id="11" name="Shape 8"/>
          <p:cNvSpPr/>
          <p:nvPr/>
        </p:nvSpPr>
        <p:spPr>
          <a:xfrm>
            <a:off x="8015784" y="1705570"/>
            <a:ext cx="3357066" cy="2770981"/>
          </a:xfrm>
          <a:prstGeom prst="roundRect">
            <a:avLst>
              <a:gd name="adj" fmla="val 5271"/>
            </a:avLst>
          </a:prstGeom>
          <a:solidFill>
            <a:srgbClr val="FFFDF9"/>
          </a:solidFill>
          <a:ln w="12700">
            <a:solidFill>
              <a:srgbClr val="E4DED3"/>
            </a:solidFill>
            <a:prstDash val="solid"/>
          </a:ln>
        </p:spPr>
      </p:sp>
      <p:pic>
        <p:nvPicPr>
          <p:cNvPr id="12" name="Image 1" descr="Activity">    </p:cNvPr>
          <p:cNvPicPr>
            <a:picLocks noChangeAspect="1"/>
          </p:cNvPicPr>
          <p:nvPr/>
        </p:nvPicPr>
        <p:blipFill>
          <a:blip r:embed="rId2"/>
          <a:srcRect l="0" r="0" t="0" b="0"/>
          <a:stretch/>
        </p:blipFill>
        <p:spPr>
          <a:xfrm>
            <a:off x="8301534" y="1991320"/>
            <a:ext cx="457200" cy="457200"/>
          </a:xfrm>
          <a:prstGeom prst="rect">
            <a:avLst/>
          </a:prstGeom>
        </p:spPr>
      </p:pic>
      <p:sp>
        <p:nvSpPr>
          <p:cNvPr id="13" name="Text 9"/>
          <p:cNvSpPr/>
          <p:nvPr/>
        </p:nvSpPr>
        <p:spPr>
          <a:xfrm>
            <a:off x="8301534" y="2550120"/>
            <a:ext cx="2869133"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14213D"/>
                </a:solidFill>
                <a:latin typeface="Be Vietnam Pro" pitchFamily="34" charset="0"/>
                <a:ea typeface="Be Vietnam Pro" pitchFamily="34" charset="-122"/>
                <a:cs typeface="Be Vietnam Pro" pitchFamily="34" charset="-120"/>
              </a:rPr>
              <a:t>Giám sát</a:t>
            </a:r>
            <a:endParaRPr lang="en-US" sz="2300" dirty="0"/>
          </a:p>
        </p:txBody>
      </p:sp>
      <p:sp>
        <p:nvSpPr>
          <p:cNvPr id="14" name="Text 10"/>
          <p:cNvSpPr/>
          <p:nvPr/>
        </p:nvSpPr>
        <p:spPr>
          <a:xfrm>
            <a:off x="8301534" y="3002161"/>
            <a:ext cx="2869133"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3D4657"/>
                </a:solidFill>
                <a:latin typeface="Be Vietnam Pro" pitchFamily="34" charset="0"/>
                <a:ea typeface="Be Vietnam Pro" pitchFamily="34" charset="-122"/>
                <a:cs typeface="Be Vietnam Pro" pitchFamily="34" charset="-120"/>
              </a:rPr>
              <a:t>Số liệu: lượt gọi, lỗi, tốc độ, AI thật hay dự phòng</a:t>
            </a:r>
            <a:endParaRPr lang="en-US" sz="1800" dirty="0"/>
          </a:p>
        </p:txBody>
      </p:sp>
      <p:sp>
        <p:nvSpPr>
          <p:cNvPr id="15" name="Text 11"/>
          <p:cNvSpPr/>
          <p:nvPr/>
        </p:nvSpPr>
        <p:spPr>
          <a:xfrm>
            <a:off x="812800" y="4838502"/>
            <a:ext cx="10464800"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D4657"/>
                </a:solidFill>
                <a:latin typeface="Be Vietnam Pro" pitchFamily="34" charset="0"/>
                <a:ea typeface="Be Vietnam Pro" pitchFamily="34" charset="-122"/>
                <a:cs typeface="Be Vietnam Pro" pitchFamily="34" charset="-120"/>
              </a:rPr>
              <a:t>Mỗi yêu cầu có một </a:t>
            </a:r>
            <a:r>
              <a:rPr lang="en-US" sz="2000" b="1" dirty="0">
                <a:solidFill>
                  <a:srgbClr val="14213D"/>
                </a:solidFill>
                <a:latin typeface="Be Vietnam Pro" pitchFamily="34" charset="0"/>
                <a:ea typeface="Be Vietnam Pro" pitchFamily="34" charset="-122"/>
                <a:cs typeface="Be Vietnam Pro" pitchFamily="34" charset="-120"/>
              </a:rPr>
              <a:t>mã ID</a:t>
            </a:r>
            <a:r>
              <a:rPr lang="en-US" sz="2000" dirty="0">
                <a:solidFill>
                  <a:srgbClr val="3D4657"/>
                </a:solidFill>
                <a:latin typeface="Be Vietnam Pro" pitchFamily="34" charset="0"/>
                <a:ea typeface="Be Vietnam Pro" pitchFamily="34" charset="-122"/>
                <a:cs typeface="Be Vietnam Pro" pitchFamily="34" charset="-120"/>
              </a:rPr>
              <a:t>, nên lần ra đúng một lỗi trong log.</a:t>
            </a:r>
            <a:endParaRPr lang="en-US" sz="2000" dirty="0"/>
          </a:p>
        </p:txBody>
      </p:sp>
      <p:sp>
        <p:nvSpPr>
          <p:cNvPr id="16" name="Text 12"/>
          <p:cNvSpPr/>
          <p:nvPr/>
        </p:nvSpPr>
        <p:spPr>
          <a:xfrm>
            <a:off x="812800" y="6202759"/>
            <a:ext cx="684109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Be Vietnam Pro" pitchFamily="34" charset="0"/>
                <a:ea typeface="Be Vietnam Pro" pitchFamily="34" charset="-122"/>
                <a:cs typeface="Be Vietnam Pro" pitchFamily="34" charset="-120"/>
              </a:rPr>
              <a:t>12 / 14 · /api/health · /api/metrics (có bảo vệ) · scripts/monitor.sh</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67941"/>
          </a:xfrm>
          <a:prstGeom prst="rect">
            <a:avLst/>
          </a:prstGeom>
          <a:noFill/>
          <a:ln/>
        </p:spPr>
        <p:txBody>
          <a:bodyPr wrap="square" lIns="0" tIns="0" rIns="0" bIns="0" rtlCol="0" anchor="t">
            <a:normAutofit/>
          </a:bodyPr>
          <a:lstStyle/>
          <a:p>
            <a:pPr algn="l" indent="0" marL="0">
              <a:lnSpc>
                <a:spcPts val="5060"/>
              </a:lnSpc>
              <a:buNone/>
            </a:pPr>
            <a:r>
              <a:rPr lang="en-US" sz="4600" b="1" i="0" dirty="0">
                <a:solidFill>
                  <a:srgbClr val="F7F6F2"/>
                </a:solidFill>
                <a:latin typeface="Be Vietnam Pro" pitchFamily="34" charset="0"/>
                <a:ea typeface="Be Vietnam Pro" pitchFamily="34" charset="-122"/>
                <a:cs typeface="Be Vietnam Pro" pitchFamily="34" charset="-120"/>
              </a:rPr>
              <a:t>Kết quả</a:t>
            </a:r>
            <a:endParaRPr lang="en-US" sz="4600" dirty="0"/>
          </a:p>
        </p:txBody>
      </p:sp>
      <p:sp>
        <p:nvSpPr>
          <p:cNvPr id="3" name="Text 1"/>
          <p:cNvSpPr/>
          <p:nvPr/>
        </p:nvSpPr>
        <p:spPr>
          <a:xfrm>
            <a:off x="812800" y="1861741"/>
            <a:ext cx="2563876" cy="1295400"/>
          </a:xfrm>
          <a:prstGeom prst="rect">
            <a:avLst/>
          </a:prstGeom>
          <a:noFill/>
          <a:ln/>
        </p:spPr>
        <p:txBody>
          <a:bodyPr wrap="square" lIns="0" tIns="0" rIns="0" bIns="0" rtlCol="0" anchor="t">
            <a:normAutofit/>
          </a:bodyPr>
          <a:lstStyle/>
          <a:p>
            <a:pPr algn="l" indent="0" marL="0">
              <a:lnSpc>
                <a:spcPts val="5000"/>
              </a:lnSpc>
              <a:buNone/>
            </a:pPr>
            <a:r>
              <a:rPr lang="en-US" sz="5000" b="1" dirty="0">
                <a:solidFill>
                  <a:srgbClr val="F2A541"/>
                </a:solidFill>
                <a:latin typeface="Be Vietnam Pro" pitchFamily="34" charset="0"/>
                <a:ea typeface="Be Vietnam Pro" pitchFamily="34" charset="-122"/>
                <a:cs typeface="Be Vietnam Pro" pitchFamily="34" charset="-120"/>
              </a:rPr>
              <a:t>Chạy thật</a:t>
            </a:r>
            <a:endParaRPr lang="en-US" sz="5000" dirty="0"/>
          </a:p>
        </p:txBody>
      </p:sp>
      <p:sp>
        <p:nvSpPr>
          <p:cNvPr id="4" name="Text 2"/>
          <p:cNvSpPr/>
          <p:nvPr/>
        </p:nvSpPr>
        <p:spPr>
          <a:xfrm>
            <a:off x="812800" y="3207941"/>
            <a:ext cx="2563876"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C9D3E6"/>
                </a:solidFill>
                <a:latin typeface="Be Vietnam Pro" pitchFamily="34" charset="0"/>
                <a:ea typeface="Be Vietnam Pro" pitchFamily="34" charset="-122"/>
                <a:cs typeface="Be Vietnam Pro" pitchFamily="34" charset="-120"/>
              </a:rPr>
              <a:t>koshi.huynhca.com, nhóm đã dùng</a:t>
            </a:r>
            <a:endParaRPr lang="en-US" sz="1700" dirty="0"/>
          </a:p>
        </p:txBody>
      </p:sp>
      <p:sp>
        <p:nvSpPr>
          <p:cNvPr id="5" name="Text 3"/>
          <p:cNvSpPr/>
          <p:nvPr/>
        </p:nvSpPr>
        <p:spPr>
          <a:xfrm>
            <a:off x="3505200" y="1861741"/>
            <a:ext cx="2563876" cy="660400"/>
          </a:xfrm>
          <a:prstGeom prst="rect">
            <a:avLst/>
          </a:prstGeom>
          <a:noFill/>
          <a:ln/>
        </p:spPr>
        <p:txBody>
          <a:bodyPr wrap="square" lIns="0" tIns="0" rIns="0" bIns="0" rtlCol="0" anchor="t">
            <a:normAutofit/>
          </a:bodyPr>
          <a:lstStyle/>
          <a:p>
            <a:pPr algn="l" indent="0" marL="0">
              <a:lnSpc>
                <a:spcPts val="5000"/>
              </a:lnSpc>
              <a:buNone/>
            </a:pPr>
            <a:r>
              <a:rPr lang="en-US" sz="5000" b="1" dirty="0">
                <a:solidFill>
                  <a:srgbClr val="F2A541"/>
                </a:solidFill>
                <a:latin typeface="Be Vietnam Pro" pitchFamily="34" charset="0"/>
                <a:ea typeface="Be Vietnam Pro" pitchFamily="34" charset="-122"/>
                <a:cs typeface="Be Vietnam Pro" pitchFamily="34" charset="-120"/>
              </a:rPr>
              <a:t>684</a:t>
            </a:r>
            <a:endParaRPr lang="en-US" sz="5000" dirty="0"/>
          </a:p>
        </p:txBody>
      </p:sp>
      <p:sp>
        <p:nvSpPr>
          <p:cNvPr id="6" name="Text 4"/>
          <p:cNvSpPr/>
          <p:nvPr/>
        </p:nvSpPr>
        <p:spPr>
          <a:xfrm>
            <a:off x="3505200" y="2572941"/>
            <a:ext cx="256387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C9D3E6"/>
                </a:solidFill>
                <a:latin typeface="Be Vietnam Pro" pitchFamily="34" charset="0"/>
                <a:ea typeface="Be Vietnam Pro" pitchFamily="34" charset="-122"/>
                <a:cs typeface="Be Vietnam Pro" pitchFamily="34" charset="-120"/>
              </a:rPr>
              <a:t>test tự động, đạt hết</a:t>
            </a:r>
            <a:endParaRPr lang="en-US" sz="1700" dirty="0"/>
          </a:p>
        </p:txBody>
      </p:sp>
      <p:sp>
        <p:nvSpPr>
          <p:cNvPr id="7" name="Text 5"/>
          <p:cNvSpPr/>
          <p:nvPr/>
        </p:nvSpPr>
        <p:spPr>
          <a:xfrm>
            <a:off x="6197600" y="1861741"/>
            <a:ext cx="2563876" cy="660400"/>
          </a:xfrm>
          <a:prstGeom prst="rect">
            <a:avLst/>
          </a:prstGeom>
          <a:noFill/>
          <a:ln/>
        </p:spPr>
        <p:txBody>
          <a:bodyPr wrap="square" lIns="0" tIns="0" rIns="0" bIns="0" rtlCol="0" anchor="t">
            <a:normAutofit/>
          </a:bodyPr>
          <a:lstStyle/>
          <a:p>
            <a:pPr algn="l" indent="0" marL="0">
              <a:lnSpc>
                <a:spcPts val="5000"/>
              </a:lnSpc>
              <a:buNone/>
            </a:pPr>
            <a:r>
              <a:rPr lang="en-US" sz="5000" b="1" dirty="0">
                <a:solidFill>
                  <a:srgbClr val="F2A541"/>
                </a:solidFill>
                <a:latin typeface="Be Vietnam Pro" pitchFamily="34" charset="0"/>
                <a:ea typeface="Be Vietnam Pro" pitchFamily="34" charset="-122"/>
                <a:cs typeface="Be Vietnam Pro" pitchFamily="34" charset="-120"/>
              </a:rPr>
              <a:t>13 / 14</a:t>
            </a:r>
            <a:endParaRPr lang="en-US" sz="5000" dirty="0"/>
          </a:p>
        </p:txBody>
      </p:sp>
      <p:sp>
        <p:nvSpPr>
          <p:cNvPr id="8" name="Text 6"/>
          <p:cNvSpPr/>
          <p:nvPr/>
        </p:nvSpPr>
        <p:spPr>
          <a:xfrm>
            <a:off x="6197600" y="2572941"/>
            <a:ext cx="2563876"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C9D3E6"/>
                </a:solidFill>
                <a:latin typeface="Be Vietnam Pro" pitchFamily="34" charset="0"/>
                <a:ea typeface="Be Vietnam Pro" pitchFamily="34" charset="-122"/>
                <a:cs typeface="Be Vietnam Pro" pitchFamily="34" charset="-120"/>
              </a:rPr>
              <a:t>bước kiểm tra lỗi trên web thật</a:t>
            </a:r>
            <a:endParaRPr lang="en-US" sz="1700" dirty="0"/>
          </a:p>
        </p:txBody>
      </p:sp>
      <p:sp>
        <p:nvSpPr>
          <p:cNvPr id="9" name="Text 7"/>
          <p:cNvSpPr/>
          <p:nvPr/>
        </p:nvSpPr>
        <p:spPr>
          <a:xfrm>
            <a:off x="8890000" y="1861741"/>
            <a:ext cx="2563876" cy="660400"/>
          </a:xfrm>
          <a:prstGeom prst="rect">
            <a:avLst/>
          </a:prstGeom>
          <a:noFill/>
          <a:ln/>
        </p:spPr>
        <p:txBody>
          <a:bodyPr wrap="square" lIns="0" tIns="0" rIns="0" bIns="0" rtlCol="0" anchor="t">
            <a:normAutofit/>
          </a:bodyPr>
          <a:lstStyle/>
          <a:p>
            <a:pPr algn="l" indent="0" marL="0">
              <a:lnSpc>
                <a:spcPts val="5000"/>
              </a:lnSpc>
              <a:buNone/>
            </a:pPr>
            <a:r>
              <a:rPr lang="en-US" sz="5000" b="1" dirty="0">
                <a:solidFill>
                  <a:srgbClr val="F2A541"/>
                </a:solidFill>
                <a:latin typeface="Be Vietnam Pro" pitchFamily="34" charset="0"/>
                <a:ea typeface="Be Vietnam Pro" pitchFamily="34" charset="-122"/>
                <a:cs typeface="Be Vietnam Pro" pitchFamily="34" charset="-120"/>
              </a:rPr>
              <a:t>2</a:t>
            </a:r>
            <a:endParaRPr lang="en-US" sz="5000" dirty="0"/>
          </a:p>
        </p:txBody>
      </p:sp>
      <p:sp>
        <p:nvSpPr>
          <p:cNvPr id="10" name="Text 8"/>
          <p:cNvSpPr/>
          <p:nvPr/>
        </p:nvSpPr>
        <p:spPr>
          <a:xfrm>
            <a:off x="8890000" y="2572941"/>
            <a:ext cx="2563876"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C9D3E6"/>
                </a:solidFill>
                <a:latin typeface="Be Vietnam Pro" pitchFamily="34" charset="0"/>
                <a:ea typeface="Be Vietnam Pro" pitchFamily="34" charset="-122"/>
                <a:cs typeface="Be Vietnam Pro" pitchFamily="34" charset="-120"/>
              </a:rPr>
              <a:t>lần rào chắn chặn chính agent</a:t>
            </a:r>
            <a:endParaRPr lang="en-US" sz="1700" dirty="0"/>
          </a:p>
        </p:txBody>
      </p:sp>
      <p:sp>
        <p:nvSpPr>
          <p:cNvPr id="11" name="Text 9"/>
          <p:cNvSpPr/>
          <p:nvPr/>
        </p:nvSpPr>
        <p:spPr>
          <a:xfrm>
            <a:off x="812800" y="4175522"/>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7F6F2"/>
                </a:solidFill>
                <a:latin typeface="Be Vietnam Pro" pitchFamily="34" charset="0"/>
                <a:ea typeface="Be Vietnam Pro" pitchFamily="34" charset="-122"/>
                <a:cs typeface="Be Vietnam Pro" pitchFamily="34" charset="-120"/>
              </a:rPr>
              <a:t>5 chức năng AI trả lời bằng mô hình thật khi kiểm thử · có health, metrics và mã ID yêu cầu khi vận hành</a:t>
            </a:r>
            <a:endParaRPr lang="en-US" sz="1800" dirty="0"/>
          </a:p>
        </p:txBody>
      </p:sp>
      <p:sp>
        <p:nvSpPr>
          <p:cNvPr id="12" name="Text 10"/>
          <p:cNvSpPr/>
          <p:nvPr/>
        </p:nvSpPr>
        <p:spPr>
          <a:xfrm>
            <a:off x="812800" y="6202759"/>
            <a:ext cx="49291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F"/>
                </a:solidFill>
                <a:latin typeface="Be Vietnam Pro" pitchFamily="34" charset="0"/>
                <a:ea typeface="Be Vietnam Pro" pitchFamily="34" charset="-122"/>
                <a:cs typeface="Be Vietnam Pro" pitchFamily="34" charset="-120"/>
              </a:rPr>
              <a:t>NUM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07B24"/>
        </a:solidFill>
      </p:bgPr>
    </p:bg>
    <p:spTree>
      <p:nvGrpSpPr>
        <p:cNvPr id="1" name=""/>
        <p:cNvGrpSpPr/>
        <p:nvPr/>
      </p:nvGrpSpPr>
      <p:grpSpPr>
        <a:xfrm>
          <a:off x="0" y="0"/>
          <a:ext cx="0" cy="0"/>
          <a:chOff x="0" y="0"/>
          <a:chExt cx="0" cy="0"/>
        </a:xfrm>
      </p:grpSpPr>
      <p:sp>
        <p:nvSpPr>
          <p:cNvPr id="2" name="Text 0"/>
          <p:cNvSpPr/>
          <p:nvPr>
            <p:ph type="title"/>
          </p:nvPr>
        </p:nvSpPr>
        <p:spPr>
          <a:xfrm>
            <a:off x="812800" y="2197398"/>
            <a:ext cx="10883392" cy="1025525"/>
          </a:xfrm>
          <a:prstGeom prst="rect">
            <a:avLst/>
          </a:prstGeom>
          <a:noFill/>
          <a:ln/>
        </p:spPr>
        <p:txBody>
          <a:bodyPr wrap="square" lIns="0" tIns="0" rIns="0" bIns="0" rtlCol="0" anchor="t">
            <a:normAutofit/>
          </a:bodyPr>
          <a:lstStyle/>
          <a:p>
            <a:pPr algn="l" indent="0" marL="0">
              <a:lnSpc>
                <a:spcPts val="7875"/>
              </a:lnSpc>
              <a:buNone/>
            </a:pPr>
            <a:r>
              <a:rPr lang="en-US" sz="7500" b="1" i="0" dirty="0">
                <a:solidFill>
                  <a:srgbClr val="14213D"/>
                </a:solidFill>
                <a:latin typeface="Be Vietnam Pro" pitchFamily="34" charset="0"/>
                <a:ea typeface="Be Vietnam Pro" pitchFamily="34" charset="-122"/>
                <a:cs typeface="Be Vietnam Pro" pitchFamily="34" charset="-120"/>
              </a:rPr>
              <a:t>Cảm ơn!</a:t>
            </a:r>
            <a:endParaRPr lang="en-US" sz="7500" dirty="0"/>
          </a:p>
        </p:txBody>
      </p:sp>
      <p:sp>
        <p:nvSpPr>
          <p:cNvPr id="3" name="Text 1"/>
          <p:cNvSpPr/>
          <p:nvPr/>
        </p:nvSpPr>
        <p:spPr>
          <a:xfrm>
            <a:off x="812800" y="3502323"/>
            <a:ext cx="1088339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13D"/>
                </a:solidFill>
                <a:latin typeface="Be Vietnam Pro" pitchFamily="34" charset="0"/>
                <a:ea typeface="Be Vietnam Pro" pitchFamily="34" charset="-122"/>
                <a:cs typeface="Be Vietnam Pro" pitchFamily="34" charset="-120"/>
              </a:rPr>
              <a:t>Hỏi đáp &amp; demo trực tiếp</a:t>
            </a:r>
            <a:endParaRPr lang="en-US" sz="2800" dirty="0"/>
          </a:p>
        </p:txBody>
      </p:sp>
      <p:sp>
        <p:nvSpPr>
          <p:cNvPr id="4" name="Text 2"/>
          <p:cNvSpPr/>
          <p:nvPr/>
        </p:nvSpPr>
        <p:spPr>
          <a:xfrm>
            <a:off x="812800" y="4304903"/>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4213D"/>
                </a:solidFill>
                <a:latin typeface="Be Vietnam Pro" pitchFamily="34" charset="0"/>
                <a:ea typeface="Be Vietnam Pro" pitchFamily="34" charset="-122"/>
                <a:cs typeface="Be Vietnam Pro" pitchFamily="34" charset="-120"/>
              </a:rPr>
              <a:t>Phạm Văn Huynh · Đàm Đức Đôn · Phạm Minh Tú — Kỹ thuật máy tính K23A</a:t>
            </a:r>
            <a:endParaRPr lang="en-US" sz="2000" dirty="0"/>
          </a:p>
        </p:txBody>
      </p:sp>
    </p:spTree>
  </p:cSld>
  <p:clrMapOvr>
    <a:masterClrMapping/>
  </p:clrMapOvr>
</p:sld>
</file>

<file path=ppt/theme/theme1.xml><?xml version="1.0" encoding="utf-8"?>
<a:theme xmlns:a="http://schemas.openxmlformats.org/drawingml/2006/main" name="Hệ thống quản lý dự án nhóm có tích hợp AI">
  <a:themeElements>
    <a:clrScheme name="Hệ thống quản lý dự án nhóm có tích hợp AI">
      <a:dk1>
        <a:srgbClr val="14213D"/>
      </a:dk1>
      <a:lt1>
        <a:srgbClr val="F7F6F2"/>
      </a:lt1>
      <a:dk2>
        <a:srgbClr val="4D566A"/>
      </a:dk2>
      <a:lt2>
        <a:srgbClr val="E0E1E0"/>
      </a:lt2>
      <a:accent1>
        <a:srgbClr val="F2A541"/>
      </a:accent1>
      <a:accent2>
        <a:srgbClr val="1D4ED8"/>
      </a:accent2>
      <a:accent3>
        <a:srgbClr val="9FB0CF"/>
      </a:accent3>
      <a:accent4>
        <a:srgbClr val="E07B24"/>
      </a:accent4>
      <a:accent5>
        <a:srgbClr val="C2410C"/>
      </a:accent5>
      <a:accent6>
        <a:srgbClr val="15803D"/>
      </a:accent6>
      <a:hlink>
        <a:srgbClr val="0563C1"/>
      </a:hlink>
      <a:folHlink>
        <a:srgbClr val="954F72"/>
      </a:folHlink>
    </a:clrScheme>
    <a:fontScheme name="Hệ thống quản lý dự án nhóm có tích hợp AI">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quản lý dự án nhóm có tích hợp AI</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2026-10-29T15:14:29Z</dcterms:created>
  <dcterms:modified xsi:type="dcterms:W3CDTF">2026-10-29T15:14:29Z</dcterms:modified>
</cp:coreProperties>
</file>