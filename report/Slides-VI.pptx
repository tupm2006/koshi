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embeddedFontLst>
    <p:embeddedFont>
      <p:font typeface="Be Vietnam Pro" pitchFamily="34" charset="0"/>
      <p:regular r:id="rId21"/>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font" Target="fonts/font1.fntdata"/><Relationship Id="rId2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thầy cô và các bạn. Nhóm em gồm Huynh, Đôn và Tú. Đề tài của nhóm là một hệ thống quản lý dự án dành cho các nhóm nhỏ như chính nhóm em, có sẵn Kanban, Scrum và trợ lý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Chính nhóm em đã gặp vấn đề này. Giao việc qua tin nhắn và bảng tính, việc bị trôi, không biết ai đang bị kẹt. Jira và Trello có giúp, nhưng nặng, luôn cần mạng, và báo cáo Scrum hay AI thì phải trả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vậy nhóm làm một ứng dụng web xoay quanh bốn ý tưởng. Mọi thao tác làm được bằng bàn phím. Hỗ trợ cả Kanban và Scrum. Trợ lý AI lo phần viết lách quản lý nhàm chán. Và vẫn chạy khi mất mạng, vì dữ liệu được lưu trong trình duyệt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thân tài khoản không có quyền gì. Quyền đến từ dự án: ai tạo dự án là PM, người được mời là Thành viên khi đã chấp nhận. Cùng một bạn có thể làm trưởng ở dự án này và thành viên ở dự án khác. Và server kiểm tra quyền ở mọi yêu cầu, chứ không chỉ ẩn nút trên màn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chính. Bốn cột, mỗi thẻ là một task. Thẻ hiện người làm, độ ưu tiên và hạn chót, và được sắp theo hạn chót nên việc trễ không bao giờ bị chìm. Mọi thứ làm bằng bàn phím: h j k l để di chuyển, Space để đổi trạng thái, n để tạo task mới. Biểu tượng ngọn lửa nghĩa là task nằm trên đường găng.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một task sẽ thấy mọi thông tin về nó. Một task có thể giao cho nhiều người. Thảo luận diễn ra ngay đây, có tag tên và trả lời, nên không còn trôi trong tin nhắn. Làm xong thì đính kèm minh chứng như ảnh chụp. Và phần lịch sử ghi lại mọi thay đổi cùng người thực hiện, rất có ích khi nhiều người cùng sửa một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 hướng dẫn gợi ý hỗ trợ Scrum, nên nhóm đã làm. Công việc chia thành các sprint khoảng hai tuần. Sprint được lên kế hoạch trước: PM kéo việc từ backlog vào. Khi bắt đầu, hệ thống ghi nhớ số điểm nhóm đã cam kết. Khi kết thúc, việc chưa xong chuyển sang sprint sau hoặc trả về backlog, không xoá gì cả.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biểu đồ cho nhóm biết sprint đang thế nào. Burndown: lượng việc còn lại mỗi ngày so với đường thẳng lý tưởng. Velocity: nhóm hứa bao nhiêu điểm và làm được bao nhiêu, để lần sau hứa cho thực tế. Cuối sprint, AI viết retrospective từ chính số liệu thật: điều làm tốt, điều cần cải thiện và việc cụ thể cần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năm chức năng AI. Đưa bảng công việc, AI viết báo cáo tuần. Dán ghi chép họp, AI tách ra việc cần làm, người làm và quyết định. Mô tả một task mới, AI gợi ý ai nên làm dựa trên kỹ năng và khối lượng hiện tại. Đưa một mục tiêu lớn, AI chia thành các task con có thứ tự. Và retrospective cuối sprint. Nhóm dùng mô hình trên Groq. Nếu dịch vụ AI lỗi, hệ thống trả câu trả lời dựng từ dữ liệu dự án, nên chức năng không bao giờ hỏng. AI luôn trả lời theo ngôn ngữ đang chọn trên giao diện.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Ứng dụng theo hướng local-first. Mọi thay đổi ghi vào cơ sở dữ liệu ngay trong trình duyệt trước, nên màn hình phản hồi tức thì, rồi mới gửi lên server. Mất mạng ở dự án cá nhân thì cứ làm tiếp. Ở dự án nhóm thì chuyển sang chỉ xem, vì hai người cùng sửa khi mất mạng sẽ ghi đè lên nhau, nhóm chọn an toàn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kỹ thuật, đây là hệ thống ba phần quen thuộc. Trình duyệt chạy ứng dụng Vue 3 và giữ một bản sao dự án. Server viết bằng Python FastAPI, khoảng năm mươi API. Dữ liệu nằm trong MySQL, và server gọi mô hình AI trên Groq. Tất cả chạy trong container Docker, và Cloudflare Tunnel đưa lên internet mà không cần mở cổng nào trên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làm kiểm thử nghiêm túc. 177 test cho server, 442 test cho giao diện, và một script kiểm tra 32 bước trên trang web thật, kể cả AI. Nhóm còn kiểm tra chính các test: cố ý làm hỏng code và xác nhận có test báo lỗi. Kiểm thử và rà soát đã tìm ra 53 vấn đề, mỗi cái đều ghi lại nguyên nhân. Ví dụ thú vị nhất: công cụ AI chia nhỏ việc chưa từng gọi AI, lần nào cũng trả về cùng một mẫu. Chỉ khi thử với mô hình thật mới lộ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đang chạy thật trên internet tại koshi chấm huynhca chấm com, và nhóm đã kiểm thử ở đó. Mọi thứ dự định đều hoạt động: vai trò theo dự án, Kanban, Scrum, năm chức năng AI và hai ngôn ngữ. Hướng tiếp theo là cho nhóm sửa được khi mất mạng, làm app di động và liên kết task với commit Git. Bây giờ nhóm xin demo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em xin cảm ơn thầy cô và các bạn đã lắng nghe. Nhóm sẵn sàng trả lời câu hỏi và demo trực tiếp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30820"/>
          </a:xfrm>
          <a:prstGeom prst="rect">
            <a:avLst/>
          </a:prstGeom>
          <a:noFill/>
          <a:ln/>
        </p:spPr>
        <p:txBody>
          <a:bodyPr wrap="square" lIns="0" tIns="0" rIns="0" bIns="0" rtlCol="0" anchor="t"/>
          <a:lstStyle>
            <a:lvl1pPr algn="l" indent="0" marL="0">
              <a:lnSpc>
                <a:spcPct val="115000"/>
              </a:lnSpc>
              <a:buNone/>
              <a:defRPr lang="en-US" sz="38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800" dirty="0"/>
          </a:p>
        </p:txBody>
      </p:sp>
      <p:sp>
        <p:nvSpPr>
          <p:cNvPr id="3" name="Text Placeholder 2"/>
          <p:cNvSpPr/>
          <p:nvPr>
            <p:ph idx="101" type="body"/>
          </p:nvPr>
        </p:nvSpPr>
        <p:spPr>
          <a:xfrm>
            <a:off x="812800" y="1648420"/>
            <a:ext cx="10566400" cy="439678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30820"/>
          </a:xfrm>
          <a:prstGeom prst="rect">
            <a:avLst/>
          </a:prstGeom>
          <a:noFill/>
          <a:ln/>
        </p:spPr>
        <p:txBody>
          <a:bodyPr wrap="square" lIns="0" tIns="0" rIns="0" bIns="0" rtlCol="0" anchor="t"/>
          <a:lstStyle>
            <a:lvl1pPr algn="l" indent="0" marL="0">
              <a:lnSpc>
                <a:spcPct val="115000"/>
              </a:lnSpc>
              <a:buNone/>
              <a:defRPr lang="en-US" sz="38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800" dirty="0"/>
          </a:p>
        </p:txBody>
      </p:sp>
      <p:sp>
        <p:nvSpPr>
          <p:cNvPr id="3" name="Text Placeholder 2"/>
          <p:cNvSpPr/>
          <p:nvPr>
            <p:ph idx="101" type="body"/>
          </p:nvPr>
        </p:nvSpPr>
        <p:spPr>
          <a:xfrm>
            <a:off x="812800" y="1648420"/>
            <a:ext cx="10566400" cy="439678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e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345380"/>
          </a:xfrm>
          <a:prstGeom prst="rect">
            <a:avLst/>
          </a:prstGeom>
          <a:noFill/>
          <a:ln/>
        </p:spPr>
        <p:txBody>
          <a:bodyPr wrap="square" lIns="0" tIns="0" rIns="0" bIns="0" rtlCol="0" anchor="t">
            <a:normAutofit/>
          </a:bodyPr>
          <a:lstStyle/>
          <a:p>
            <a:pPr algn="l" indent="0" marL="0">
              <a:lnSpc>
                <a:spcPts val="2520"/>
              </a:lnSpc>
              <a:buNone/>
            </a:pPr>
            <a:r>
              <a:rPr lang="en-US" sz="1800" b="1" spc="100" kern="0" dirty="0">
                <a:solidFill>
                  <a:srgbClr val="F2A541"/>
                </a:solidFill>
                <a:latin typeface="Be Vietnam Pro" pitchFamily="34" charset="0"/>
                <a:ea typeface="Be Vietnam Pro" pitchFamily="34" charset="-122"/>
                <a:cs typeface="Be Vietnam Pro" pitchFamily="34" charset="-120"/>
              </a:rPr>
              <a:t>BÀI TẬP LỚN · KỸ THUẬT MÁY TÍNH K23A</a:t>
            </a:r>
            <a:endParaRPr lang="en-US" sz="1800" dirty="0"/>
          </a:p>
        </p:txBody>
      </p:sp>
      <p:sp>
        <p:nvSpPr>
          <p:cNvPr id="3" name="Text 1"/>
          <p:cNvSpPr/>
          <p:nvPr>
            <p:ph type="title"/>
          </p:nvPr>
        </p:nvSpPr>
        <p:spPr>
          <a:xfrm>
            <a:off x="812800" y="1386780"/>
            <a:ext cx="10137775" cy="1478161"/>
          </a:xfrm>
          <a:prstGeom prst="rect">
            <a:avLst/>
          </a:prstGeom>
          <a:noFill/>
          <a:ln/>
        </p:spPr>
        <p:txBody>
          <a:bodyPr wrap="square" lIns="0" tIns="0" rIns="0" bIns="0" rtlCol="0" anchor="t">
            <a:normAutofit/>
          </a:bodyPr>
          <a:lstStyle/>
          <a:p>
            <a:pPr algn="l" indent="0" marL="0">
              <a:lnSpc>
                <a:spcPts val="5720"/>
              </a:lnSpc>
              <a:buNone/>
            </a:pPr>
            <a:r>
              <a:rPr lang="en-US" sz="5200" b="1" i="0" dirty="0">
                <a:solidFill>
                  <a:srgbClr val="F7F6F2"/>
                </a:solidFill>
                <a:latin typeface="Be Vietnam Pro" pitchFamily="34" charset="0"/>
                <a:ea typeface="Be Vietnam Pro" pitchFamily="34" charset="-122"/>
                <a:cs typeface="Be Vietnam Pro" pitchFamily="34" charset="-120"/>
              </a:rPr>
              <a:t>Hệ thống quản lý dự án nhóm có tích hợp AI</a:t>
            </a:r>
            <a:endParaRPr lang="en-US" sz="5200" dirty="0"/>
          </a:p>
        </p:txBody>
      </p:sp>
      <p:sp>
        <p:nvSpPr>
          <p:cNvPr id="4" name="Text 2"/>
          <p:cNvSpPr/>
          <p:nvPr/>
        </p:nvSpPr>
        <p:spPr>
          <a:xfrm>
            <a:off x="812800" y="3093541"/>
            <a:ext cx="1104900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C9D3E6"/>
                </a:solidFill>
                <a:latin typeface="Be Vietnam Pro" pitchFamily="34" charset="0"/>
                <a:ea typeface="Be Vietnam Pro" pitchFamily="34" charset="-122"/>
                <a:cs typeface="Be Vietnam Pro" pitchFamily="34" charset="-120"/>
              </a:rPr>
              <a:t>Kanban + Scrum + trợ lý AI, dùng bằng bàn phím và cả khi mất mạng</a:t>
            </a:r>
            <a:endParaRPr lang="en-US" sz="2200" dirty="0"/>
          </a:p>
        </p:txBody>
      </p:sp>
      <p:sp>
        <p:nvSpPr>
          <p:cNvPr id="5" name="Text 3"/>
          <p:cNvSpPr/>
          <p:nvPr/>
        </p:nvSpPr>
        <p:spPr>
          <a:xfrm>
            <a:off x="812800" y="5293420"/>
            <a:ext cx="723352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7F6F2"/>
                </a:solidFill>
                <a:latin typeface="Be Vietnam Pro" pitchFamily="34" charset="0"/>
                <a:ea typeface="Be Vietnam Pro" pitchFamily="34" charset="-122"/>
                <a:cs typeface="Be Vietnam Pro" pitchFamily="34" charset="-120"/>
              </a:rPr>
              <a:t>Phạm Văn Huynh · Đàm Đức Đôn · Phạm Minh Tú</a:t>
            </a:r>
            <a:endParaRPr lang="en-US" sz="2000" dirty="0"/>
          </a:p>
        </p:txBody>
      </p:sp>
      <p:sp>
        <p:nvSpPr>
          <p:cNvPr id="6" name="Text 4"/>
          <p:cNvSpPr/>
          <p:nvPr/>
        </p:nvSpPr>
        <p:spPr>
          <a:xfrm>
            <a:off x="812800" y="5725220"/>
            <a:ext cx="6208774"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3E6"/>
                </a:solidFill>
                <a:latin typeface="Be Vietnam Pro" pitchFamily="34" charset="0"/>
                <a:ea typeface="Be Vietnam Pro" pitchFamily="34" charset="-122"/>
                <a:cs typeface="Be Vietnam Pro" pitchFamily="34" charset="-120"/>
              </a:rPr>
              <a:t>Giảng viên hướng dẫn: Hà Thị Thanh</a:t>
            </a:r>
            <a:endParaRPr lang="en-US" sz="1800" dirty="0"/>
          </a:p>
        </p:txBody>
      </p:sp>
      <p:sp>
        <p:nvSpPr>
          <p:cNvPr id="7" name="Text 5"/>
          <p:cNvSpPr/>
          <p:nvPr/>
        </p:nvSpPr>
        <p:spPr>
          <a:xfrm>
            <a:off x="9812457" y="5725220"/>
            <a:ext cx="1566743" cy="345380"/>
          </a:xfrm>
          <a:prstGeom prst="rect">
            <a:avLst/>
          </a:prstGeom>
          <a:noFill/>
          <a:ln/>
        </p:spPr>
        <p:txBody>
          <a:bodyPr wrap="square" lIns="0" tIns="0" rIns="0" bIns="0" rtlCol="0" anchor="t">
            <a:normAutofit/>
          </a:bodyPr>
          <a:lstStyle/>
          <a:p>
            <a:pPr algn="r" indent="0" marL="0">
              <a:lnSpc>
                <a:spcPts val="2520"/>
              </a:lnSpc>
              <a:buNone/>
            </a:pPr>
            <a:r>
              <a:rPr lang="en-US" sz="1800" dirty="0">
                <a:solidFill>
                  <a:srgbClr val="C9D3E6"/>
                </a:solidFill>
                <a:latin typeface="Be Vietnam Pro" pitchFamily="34" charset="0"/>
                <a:ea typeface="Be Vietnam Pro" pitchFamily="34" charset="-122"/>
                <a:cs typeface="Be Vietnam Pro" pitchFamily="34" charset="-120"/>
              </a:rPr>
              <a:t>ICTU ·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Vấn đề: nhóm sinh viên quản lý việc rất khó</a:t>
            </a:r>
            <a:endParaRPr lang="en-US" sz="3800" dirty="0"/>
          </a:p>
        </p:txBody>
      </p:sp>
      <p:sp>
        <p:nvSpPr>
          <p:cNvPr id="3" name="Shape 1"/>
          <p:cNvSpPr/>
          <p:nvPr/>
        </p:nvSpPr>
        <p:spPr>
          <a:xfrm>
            <a:off x="819150" y="1756370"/>
            <a:ext cx="3340100" cy="2727226"/>
          </a:xfrm>
          <a:prstGeom prst="roundRect">
            <a:avLst>
              <a:gd name="adj" fmla="val 5355"/>
            </a:avLst>
          </a:prstGeom>
          <a:solidFill>
            <a:srgbClr val="FFFDF9"/>
          </a:solidFill>
          <a:ln w="12700">
            <a:solidFill>
              <a:srgbClr val="E4DED3"/>
            </a:solidFill>
            <a:prstDash val="solid"/>
          </a:ln>
        </p:spPr>
      </p:sp>
      <p:pic>
        <p:nvPicPr>
          <p:cNvPr id="4" name="Image 0" descr="Chat">    </p:cNvPr>
          <p:cNvPicPr>
            <a:picLocks noChangeAspect="1"/>
          </p:cNvPicPr>
          <p:nvPr/>
        </p:nvPicPr>
        <p:blipFill>
          <a:blip r:embed="rId1"/>
          <a:srcRect l="0" r="0" t="0" b="0"/>
          <a:stretch/>
        </p:blipFill>
        <p:spPr>
          <a:xfrm>
            <a:off x="1130300" y="2067520"/>
            <a:ext cx="508000" cy="508000"/>
          </a:xfrm>
          <a:prstGeom prst="rect">
            <a:avLst/>
          </a:prstGeom>
        </p:spPr>
      </p:pic>
      <p:sp>
        <p:nvSpPr>
          <p:cNvPr id="5" name="Text 2"/>
          <p:cNvSpPr/>
          <p:nvPr/>
        </p:nvSpPr>
        <p:spPr>
          <a:xfrm>
            <a:off x="1130300" y="2702520"/>
            <a:ext cx="2799334"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4213D"/>
                </a:solidFill>
                <a:latin typeface="Be Vietnam Pro" pitchFamily="34" charset="0"/>
                <a:ea typeface="Be Vietnam Pro" pitchFamily="34" charset="-122"/>
                <a:cs typeface="Be Vietnam Pro" pitchFamily="34" charset="-120"/>
              </a:rPr>
              <a:t>Zalo &amp; Excel</a:t>
            </a:r>
            <a:endParaRPr lang="en-US" sz="2400" dirty="0"/>
          </a:p>
        </p:txBody>
      </p:sp>
      <p:sp>
        <p:nvSpPr>
          <p:cNvPr id="6" name="Text 3"/>
          <p:cNvSpPr/>
          <p:nvPr/>
        </p:nvSpPr>
        <p:spPr>
          <a:xfrm>
            <a:off x="1130300" y="3195241"/>
            <a:ext cx="2799334" cy="1002605"/>
          </a:xfrm>
          <a:prstGeom prst="rect">
            <a:avLst/>
          </a:prstGeom>
          <a:noFill/>
          <a:ln/>
        </p:spPr>
        <p:txBody>
          <a:bodyPr wrap="square" lIns="0" tIns="0" rIns="0" bIns="0" rtlCol="0" anchor="t">
            <a:normAutofit/>
          </a:bodyPr>
          <a:lstStyle/>
          <a:p>
            <a:pPr algn="l" indent="0" marL="0">
              <a:lnSpc>
                <a:spcPts val="2565"/>
              </a:lnSpc>
              <a:buNone/>
            </a:pPr>
            <a:r>
              <a:rPr lang="en-US" sz="1900" dirty="0">
                <a:solidFill>
                  <a:srgbClr val="3D4657"/>
                </a:solidFill>
                <a:latin typeface="Be Vietnam Pro" pitchFamily="34" charset="0"/>
                <a:ea typeface="Be Vietnam Pro" pitchFamily="34" charset="-122"/>
                <a:cs typeface="Be Vietnam Pro" pitchFamily="34" charset="-120"/>
              </a:rPr>
              <a:t>Việc trôi mất trong tin nhắn. Không rõ trạng thái, hạn chót, ai làm.</a:t>
            </a:r>
            <a:endParaRPr lang="en-US" sz="1900" dirty="0"/>
          </a:p>
        </p:txBody>
      </p:sp>
      <p:sp>
        <p:nvSpPr>
          <p:cNvPr id="7" name="Shape 4"/>
          <p:cNvSpPr/>
          <p:nvPr/>
        </p:nvSpPr>
        <p:spPr>
          <a:xfrm>
            <a:off x="4425950" y="1756370"/>
            <a:ext cx="3340100" cy="2727226"/>
          </a:xfrm>
          <a:prstGeom prst="roundRect">
            <a:avLst>
              <a:gd name="adj" fmla="val 5355"/>
            </a:avLst>
          </a:prstGeom>
          <a:solidFill>
            <a:srgbClr val="FFFDF9"/>
          </a:solidFill>
          <a:ln w="12700">
            <a:solidFill>
              <a:srgbClr val="E4DED3"/>
            </a:solidFill>
            <a:prstDash val="solid"/>
          </a:ln>
        </p:spPr>
      </p:sp>
      <p:pic>
        <p:nvPicPr>
          <p:cNvPr id="8" name="Image 1" descr="Lock">    </p:cNvPr>
          <p:cNvPicPr>
            <a:picLocks noChangeAspect="1"/>
          </p:cNvPicPr>
          <p:nvPr/>
        </p:nvPicPr>
        <p:blipFill>
          <a:blip r:embed="rId2"/>
          <a:srcRect l="0" r="0" t="0" b="0"/>
          <a:stretch/>
        </p:blipFill>
        <p:spPr>
          <a:xfrm>
            <a:off x="4737100" y="2067520"/>
            <a:ext cx="508000" cy="508000"/>
          </a:xfrm>
          <a:prstGeom prst="rect">
            <a:avLst/>
          </a:prstGeom>
        </p:spPr>
      </p:pic>
      <p:sp>
        <p:nvSpPr>
          <p:cNvPr id="9" name="Text 5"/>
          <p:cNvSpPr/>
          <p:nvPr/>
        </p:nvSpPr>
        <p:spPr>
          <a:xfrm>
            <a:off x="4737100" y="2702520"/>
            <a:ext cx="2799334"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4213D"/>
                </a:solidFill>
                <a:latin typeface="Be Vietnam Pro" pitchFamily="34" charset="0"/>
                <a:ea typeface="Be Vietnam Pro" pitchFamily="34" charset="-122"/>
                <a:cs typeface="Be Vietnam Pro" pitchFamily="34" charset="-120"/>
              </a:rPr>
              <a:t>Công cụ lớn</a:t>
            </a:r>
            <a:endParaRPr lang="en-US" sz="2400" dirty="0"/>
          </a:p>
        </p:txBody>
      </p:sp>
      <p:sp>
        <p:nvSpPr>
          <p:cNvPr id="10" name="Text 6"/>
          <p:cNvSpPr/>
          <p:nvPr/>
        </p:nvSpPr>
        <p:spPr>
          <a:xfrm>
            <a:off x="4737100" y="3195241"/>
            <a:ext cx="2799334" cy="1002605"/>
          </a:xfrm>
          <a:prstGeom prst="rect">
            <a:avLst/>
          </a:prstGeom>
          <a:noFill/>
          <a:ln/>
        </p:spPr>
        <p:txBody>
          <a:bodyPr wrap="square" lIns="0" tIns="0" rIns="0" bIns="0" rtlCol="0" anchor="t">
            <a:normAutofit/>
          </a:bodyPr>
          <a:lstStyle/>
          <a:p>
            <a:pPr algn="l" indent="0" marL="0">
              <a:lnSpc>
                <a:spcPts val="2565"/>
              </a:lnSpc>
              <a:buNone/>
            </a:pPr>
            <a:r>
              <a:rPr lang="en-US" sz="1900" dirty="0">
                <a:solidFill>
                  <a:srgbClr val="3D4657"/>
                </a:solidFill>
                <a:latin typeface="Be Vietnam Pro" pitchFamily="34" charset="0"/>
                <a:ea typeface="Be Vietnam Pro" pitchFamily="34" charset="-122"/>
                <a:cs typeface="Be Vietnam Pro" pitchFamily="34" charset="-120"/>
              </a:rPr>
              <a:t>Jira nặng, luôn cần mạng. Báo cáo Scrum và AI phải trả phí.</a:t>
            </a:r>
            <a:endParaRPr lang="en-US" sz="1900" dirty="0"/>
          </a:p>
        </p:txBody>
      </p:sp>
      <p:sp>
        <p:nvSpPr>
          <p:cNvPr id="11" name="Shape 7"/>
          <p:cNvSpPr/>
          <p:nvPr/>
        </p:nvSpPr>
        <p:spPr>
          <a:xfrm>
            <a:off x="8032750" y="1756370"/>
            <a:ext cx="3340100" cy="2727226"/>
          </a:xfrm>
          <a:prstGeom prst="roundRect">
            <a:avLst>
              <a:gd name="adj" fmla="val 5355"/>
            </a:avLst>
          </a:prstGeom>
          <a:solidFill>
            <a:srgbClr val="FFFDF9"/>
          </a:solidFill>
          <a:ln w="12700">
            <a:solidFill>
              <a:srgbClr val="E4DED3"/>
            </a:solidFill>
            <a:prstDash val="solid"/>
          </a:ln>
        </p:spPr>
      </p:sp>
      <p:pic>
        <p:nvPicPr>
          <p:cNvPr id="12" name="Image 2" descr="Clock">    </p:cNvPr>
          <p:cNvPicPr>
            <a:picLocks noChangeAspect="1"/>
          </p:cNvPicPr>
          <p:nvPr/>
        </p:nvPicPr>
        <p:blipFill>
          <a:blip r:embed="rId3"/>
          <a:srcRect l="0" r="0" t="0" b="0"/>
          <a:stretch/>
        </p:blipFill>
        <p:spPr>
          <a:xfrm>
            <a:off x="8343900" y="2067520"/>
            <a:ext cx="508000" cy="508000"/>
          </a:xfrm>
          <a:prstGeom prst="rect">
            <a:avLst/>
          </a:prstGeom>
        </p:spPr>
      </p:pic>
      <p:sp>
        <p:nvSpPr>
          <p:cNvPr id="13" name="Text 8"/>
          <p:cNvSpPr/>
          <p:nvPr/>
        </p:nvSpPr>
        <p:spPr>
          <a:xfrm>
            <a:off x="8343900" y="2702520"/>
            <a:ext cx="2799334"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4213D"/>
                </a:solidFill>
                <a:latin typeface="Be Vietnam Pro" pitchFamily="34" charset="0"/>
                <a:ea typeface="Be Vietnam Pro" pitchFamily="34" charset="-122"/>
                <a:cs typeface="Be Vietnam Pro" pitchFamily="34" charset="-120"/>
              </a:rPr>
              <a:t>Mất thời gian</a:t>
            </a:r>
            <a:endParaRPr lang="en-US" sz="2400" dirty="0"/>
          </a:p>
        </p:txBody>
      </p:sp>
      <p:sp>
        <p:nvSpPr>
          <p:cNvPr id="14" name="Text 9"/>
          <p:cNvSpPr/>
          <p:nvPr/>
        </p:nvSpPr>
        <p:spPr>
          <a:xfrm>
            <a:off x="8343900" y="3195241"/>
            <a:ext cx="2799334" cy="1002605"/>
          </a:xfrm>
          <a:prstGeom prst="rect">
            <a:avLst/>
          </a:prstGeom>
          <a:noFill/>
          <a:ln/>
        </p:spPr>
        <p:txBody>
          <a:bodyPr wrap="square" lIns="0" tIns="0" rIns="0" bIns="0" rtlCol="0" anchor="t">
            <a:normAutofit/>
          </a:bodyPr>
          <a:lstStyle/>
          <a:p>
            <a:pPr algn="l" indent="0" marL="0">
              <a:lnSpc>
                <a:spcPts val="2565"/>
              </a:lnSpc>
              <a:buNone/>
            </a:pPr>
            <a:r>
              <a:rPr lang="en-US" sz="1900" dirty="0">
                <a:solidFill>
                  <a:srgbClr val="3D4657"/>
                </a:solidFill>
                <a:latin typeface="Be Vietnam Pro" pitchFamily="34" charset="0"/>
                <a:ea typeface="Be Vietnam Pro" pitchFamily="34" charset="-122"/>
                <a:cs typeface="Be Vietnam Pro" pitchFamily="34" charset="-120"/>
              </a:rPr>
              <a:t>Viết báo cáo, biên bản họp, kế hoạch tốn nhiều công sức.</a:t>
            </a:r>
            <a:endParaRPr lang="en-US" sz="1900" dirty="0"/>
          </a:p>
        </p:txBody>
      </p:sp>
      <p:sp>
        <p:nvSpPr>
          <p:cNvPr id="15" name="Text 10"/>
          <p:cNvSpPr/>
          <p:nvPr/>
        </p:nvSpPr>
        <p:spPr>
          <a:xfrm>
            <a:off x="812800" y="6202759"/>
            <a:ext cx="57804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2 / 14</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7F6F2"/>
                </a:solidFill>
                <a:latin typeface="Be Vietnam Pro" pitchFamily="34" charset="0"/>
                <a:ea typeface="Be Vietnam Pro" pitchFamily="34" charset="-122"/>
                <a:cs typeface="Be Vietnam Pro" pitchFamily="34" charset="-120"/>
              </a:rPr>
              <a:t>Giải pháp: một ứng dụng web, bốn ý tưởng</a:t>
            </a:r>
            <a:endParaRPr lang="en-US" sz="3800" dirty="0"/>
          </a:p>
        </p:txBody>
      </p:sp>
      <p:sp>
        <p:nvSpPr>
          <p:cNvPr id="3" name="Shape 1"/>
          <p:cNvSpPr/>
          <p:nvPr/>
        </p:nvSpPr>
        <p:spPr>
          <a:xfrm>
            <a:off x="812800" y="1699220"/>
            <a:ext cx="5168900" cy="1252141"/>
          </a:xfrm>
          <a:prstGeom prst="roundRect">
            <a:avLst>
              <a:gd name="adj" fmla="val 12171"/>
            </a:avLst>
          </a:prstGeom>
          <a:solidFill>
            <a:srgbClr val="1E2F55"/>
          </a:solidFill>
          <a:ln/>
        </p:spPr>
      </p:sp>
      <p:pic>
        <p:nvPicPr>
          <p:cNvPr id="4" name="Image 0" descr="Lightning">    </p:cNvPr>
          <p:cNvPicPr>
            <a:picLocks noChangeAspect="1"/>
          </p:cNvPicPr>
          <p:nvPr/>
        </p:nvPicPr>
        <p:blipFill>
          <a:blip r:embed="rId1"/>
          <a:srcRect l="0" r="0" t="0" b="0"/>
          <a:stretch/>
        </p:blipFill>
        <p:spPr>
          <a:xfrm>
            <a:off x="1092200" y="2045891"/>
            <a:ext cx="558800" cy="558800"/>
          </a:xfrm>
          <a:prstGeom prst="rect">
            <a:avLst/>
          </a:prstGeom>
        </p:spPr>
      </p:pic>
      <p:sp>
        <p:nvSpPr>
          <p:cNvPr id="5" name="Text 2"/>
          <p:cNvSpPr/>
          <p:nvPr/>
        </p:nvSpPr>
        <p:spPr>
          <a:xfrm>
            <a:off x="1854200" y="1978620"/>
            <a:ext cx="3893437" cy="718741"/>
          </a:xfrm>
          <a:prstGeom prst="rect">
            <a:avLst/>
          </a:prstGeom>
          <a:noFill/>
          <a:ln/>
        </p:spPr>
        <p:txBody>
          <a:bodyPr wrap="square" lIns="0" tIns="0" rIns="0" bIns="0" rtlCol="0" anchor="t">
            <a:normAutofit/>
          </a:bodyPr>
          <a:lstStyle/>
          <a:p>
            <a:pPr algn="l" indent="0" marL="0">
              <a:lnSpc>
                <a:spcPts val="2730"/>
              </a:lnSpc>
              <a:buNone/>
            </a:pPr>
            <a:r>
              <a:rPr lang="en-US" sz="2100" b="1" dirty="0">
                <a:solidFill>
                  <a:srgbClr val="F7F6F2"/>
                </a:solidFill>
                <a:latin typeface="Be Vietnam Pro" pitchFamily="34" charset="0"/>
                <a:ea typeface="Be Vietnam Pro" pitchFamily="34" charset="-122"/>
                <a:cs typeface="Be Vietnam Pro" pitchFamily="34" charset="-120"/>
              </a:rPr>
              <a:t>Ưu tiên bàn phím</a:t>
            </a:r>
            <a:endParaRPr lang="en-US" sz="2100" dirty="0"/>
          </a:p>
          <a:p>
            <a:pPr algn="l" indent="0" marL="0">
              <a:lnSpc>
                <a:spcPts val="2730"/>
              </a:lnSpc>
              <a:buNone/>
            </a:pPr>
            <a:r>
              <a:rPr lang="en-US" sz="2100" dirty="0">
                <a:solidFill>
                  <a:srgbClr val="F7F6F2"/>
                </a:solidFill>
                <a:latin typeface="Be Vietnam Pro" pitchFamily="34" charset="0"/>
                <a:ea typeface="Be Vietnam Pro" pitchFamily="34" charset="-122"/>
                <a:cs typeface="Be Vietnam Pro" pitchFamily="34" charset="-120"/>
              </a:rPr>
              <a:t>mọi thao tác đều có phím tắt</a:t>
            </a:r>
            <a:endParaRPr lang="en-US" sz="2100" dirty="0"/>
          </a:p>
        </p:txBody>
      </p:sp>
      <p:sp>
        <p:nvSpPr>
          <p:cNvPr id="6" name="Shape 3"/>
          <p:cNvSpPr/>
          <p:nvPr/>
        </p:nvSpPr>
        <p:spPr>
          <a:xfrm>
            <a:off x="6210300" y="1699220"/>
            <a:ext cx="5168900" cy="1252141"/>
          </a:xfrm>
          <a:prstGeom prst="roundRect">
            <a:avLst>
              <a:gd name="adj" fmla="val 12171"/>
            </a:avLst>
          </a:prstGeom>
          <a:solidFill>
            <a:srgbClr val="1E2F55"/>
          </a:solidFill>
          <a:ln/>
        </p:spPr>
      </p:sp>
      <p:pic>
        <p:nvPicPr>
          <p:cNvPr id="7" name="Image 1" descr="Activity">    </p:cNvPr>
          <p:cNvPicPr>
            <a:picLocks noChangeAspect="1"/>
          </p:cNvPicPr>
          <p:nvPr/>
        </p:nvPicPr>
        <p:blipFill>
          <a:blip r:embed="rId2"/>
          <a:srcRect l="0" r="0" t="0" b="0"/>
          <a:stretch/>
        </p:blipFill>
        <p:spPr>
          <a:xfrm>
            <a:off x="6489700" y="2045891"/>
            <a:ext cx="558800" cy="558800"/>
          </a:xfrm>
          <a:prstGeom prst="rect">
            <a:avLst/>
          </a:prstGeom>
        </p:spPr>
      </p:pic>
      <p:sp>
        <p:nvSpPr>
          <p:cNvPr id="8" name="Text 4"/>
          <p:cNvSpPr/>
          <p:nvPr/>
        </p:nvSpPr>
        <p:spPr>
          <a:xfrm>
            <a:off x="7251700" y="1978620"/>
            <a:ext cx="3734932" cy="718741"/>
          </a:xfrm>
          <a:prstGeom prst="rect">
            <a:avLst/>
          </a:prstGeom>
          <a:noFill/>
          <a:ln/>
        </p:spPr>
        <p:txBody>
          <a:bodyPr wrap="square" lIns="0" tIns="0" rIns="0" bIns="0" rtlCol="0" anchor="t">
            <a:normAutofit/>
          </a:bodyPr>
          <a:lstStyle/>
          <a:p>
            <a:pPr algn="l" indent="0" marL="0">
              <a:lnSpc>
                <a:spcPts val="2730"/>
              </a:lnSpc>
              <a:buNone/>
            </a:pPr>
            <a:r>
              <a:rPr lang="en-US" sz="2100" b="1" dirty="0">
                <a:solidFill>
                  <a:srgbClr val="F7F6F2"/>
                </a:solidFill>
                <a:latin typeface="Be Vietnam Pro" pitchFamily="34" charset="0"/>
                <a:ea typeface="Be Vietnam Pro" pitchFamily="34" charset="-122"/>
                <a:cs typeface="Be Vietnam Pro" pitchFamily="34" charset="-120"/>
              </a:rPr>
              <a:t>Kanban + Scrum</a:t>
            </a:r>
            <a:endParaRPr lang="en-US" sz="2100" dirty="0"/>
          </a:p>
          <a:p>
            <a:pPr algn="l" indent="0" marL="0">
              <a:lnSpc>
                <a:spcPts val="2730"/>
              </a:lnSpc>
              <a:buNone/>
            </a:pPr>
            <a:r>
              <a:rPr lang="en-US" sz="2100" dirty="0">
                <a:solidFill>
                  <a:srgbClr val="F7F6F2"/>
                </a:solidFill>
                <a:latin typeface="Be Vietnam Pro" pitchFamily="34" charset="0"/>
                <a:ea typeface="Be Vietnam Pro" pitchFamily="34" charset="-122"/>
                <a:cs typeface="Be Vietnam Pro" pitchFamily="34" charset="-120"/>
              </a:rPr>
              <a:t>bảng việc, sprint, burndown</a:t>
            </a:r>
            <a:endParaRPr lang="en-US" sz="2100" dirty="0"/>
          </a:p>
        </p:txBody>
      </p:sp>
      <p:sp>
        <p:nvSpPr>
          <p:cNvPr id="9" name="Shape 5"/>
          <p:cNvSpPr/>
          <p:nvPr/>
        </p:nvSpPr>
        <p:spPr>
          <a:xfrm>
            <a:off x="812800" y="3179961"/>
            <a:ext cx="5168900" cy="1598811"/>
          </a:xfrm>
          <a:prstGeom prst="roundRect">
            <a:avLst>
              <a:gd name="adj" fmla="val 9532"/>
            </a:avLst>
          </a:prstGeom>
          <a:solidFill>
            <a:srgbClr val="1E2F55"/>
          </a:solidFill>
          <a:ln/>
        </p:spPr>
      </p:sp>
      <p:pic>
        <p:nvPicPr>
          <p:cNvPr id="10" name="Image 2" descr="Lightbulb">    </p:cNvPr>
          <p:cNvPicPr>
            <a:picLocks noChangeAspect="1"/>
          </p:cNvPicPr>
          <p:nvPr/>
        </p:nvPicPr>
        <p:blipFill>
          <a:blip r:embed="rId3"/>
          <a:srcRect l="0" r="0" t="-19" b="-19"/>
          <a:stretch/>
        </p:blipFill>
        <p:spPr>
          <a:xfrm>
            <a:off x="1092200" y="3699966"/>
            <a:ext cx="533202" cy="558800"/>
          </a:xfrm>
          <a:prstGeom prst="rect">
            <a:avLst/>
          </a:prstGeom>
        </p:spPr>
      </p:pic>
      <p:sp>
        <p:nvSpPr>
          <p:cNvPr id="11" name="Text 6"/>
          <p:cNvSpPr/>
          <p:nvPr/>
        </p:nvSpPr>
        <p:spPr>
          <a:xfrm>
            <a:off x="1828602" y="3459361"/>
            <a:ext cx="3989909" cy="1065411"/>
          </a:xfrm>
          <a:prstGeom prst="rect">
            <a:avLst/>
          </a:prstGeom>
          <a:noFill/>
          <a:ln/>
        </p:spPr>
        <p:txBody>
          <a:bodyPr wrap="square" lIns="0" tIns="0" rIns="0" bIns="0" rtlCol="0" anchor="t">
            <a:normAutofit/>
          </a:bodyPr>
          <a:lstStyle/>
          <a:p>
            <a:pPr algn="l" indent="0" marL="0">
              <a:lnSpc>
                <a:spcPts val="2730"/>
              </a:lnSpc>
              <a:buNone/>
            </a:pPr>
            <a:r>
              <a:rPr lang="en-US" sz="2100" b="1" dirty="0">
                <a:solidFill>
                  <a:srgbClr val="F7F6F2"/>
                </a:solidFill>
                <a:latin typeface="Be Vietnam Pro" pitchFamily="34" charset="0"/>
                <a:ea typeface="Be Vietnam Pro" pitchFamily="34" charset="-122"/>
                <a:cs typeface="Be Vietnam Pro" pitchFamily="34" charset="-120"/>
              </a:rPr>
              <a:t>Trợ lý AI</a:t>
            </a:r>
            <a:endParaRPr lang="en-US" sz="2100" dirty="0"/>
          </a:p>
          <a:p>
            <a:pPr algn="l" indent="0" marL="0">
              <a:lnSpc>
                <a:spcPts val="2730"/>
              </a:lnSpc>
              <a:buNone/>
            </a:pPr>
            <a:r>
              <a:rPr lang="en-US" sz="2100" dirty="0">
                <a:solidFill>
                  <a:srgbClr val="F7F6F2"/>
                </a:solidFill>
                <a:latin typeface="Be Vietnam Pro" pitchFamily="34" charset="0"/>
                <a:ea typeface="Be Vietnam Pro" pitchFamily="34" charset="-122"/>
                <a:cs typeface="Be Vietnam Pro" pitchFamily="34" charset="-120"/>
              </a:rPr>
              <a:t>tóm tắt, biên bản, lập kế hoạch</a:t>
            </a:r>
            <a:endParaRPr lang="en-US" sz="2100" dirty="0"/>
          </a:p>
        </p:txBody>
      </p:sp>
      <p:sp>
        <p:nvSpPr>
          <p:cNvPr id="12" name="Shape 7"/>
          <p:cNvSpPr/>
          <p:nvPr/>
        </p:nvSpPr>
        <p:spPr>
          <a:xfrm>
            <a:off x="6210300" y="3179961"/>
            <a:ext cx="5168900" cy="1598811"/>
          </a:xfrm>
          <a:prstGeom prst="roundRect">
            <a:avLst>
              <a:gd name="adj" fmla="val 9532"/>
            </a:avLst>
          </a:prstGeom>
          <a:solidFill>
            <a:srgbClr val="1E2F55"/>
          </a:solidFill>
          <a:ln/>
        </p:spPr>
      </p:sp>
      <p:pic>
        <p:nvPicPr>
          <p:cNvPr id="13" name="Image 3" descr="Cloud">    </p:cNvPr>
          <p:cNvPicPr>
            <a:picLocks noChangeAspect="1"/>
          </p:cNvPicPr>
          <p:nvPr/>
        </p:nvPicPr>
        <p:blipFill>
          <a:blip r:embed="rId4"/>
          <a:srcRect l="0" r="0" t="0" b="0"/>
          <a:stretch/>
        </p:blipFill>
        <p:spPr>
          <a:xfrm>
            <a:off x="6489700" y="3699966"/>
            <a:ext cx="558800" cy="558800"/>
          </a:xfrm>
          <a:prstGeom prst="rect">
            <a:avLst/>
          </a:prstGeom>
        </p:spPr>
      </p:pic>
      <p:sp>
        <p:nvSpPr>
          <p:cNvPr id="14" name="Text 8"/>
          <p:cNvSpPr/>
          <p:nvPr/>
        </p:nvSpPr>
        <p:spPr>
          <a:xfrm>
            <a:off x="7251700" y="3632696"/>
            <a:ext cx="2650333" cy="718741"/>
          </a:xfrm>
          <a:prstGeom prst="rect">
            <a:avLst/>
          </a:prstGeom>
          <a:noFill/>
          <a:ln/>
        </p:spPr>
        <p:txBody>
          <a:bodyPr wrap="square" lIns="0" tIns="0" rIns="0" bIns="0" rtlCol="0" anchor="t">
            <a:normAutofit/>
          </a:bodyPr>
          <a:lstStyle/>
          <a:p>
            <a:pPr algn="l" indent="0" marL="0">
              <a:lnSpc>
                <a:spcPts val="2730"/>
              </a:lnSpc>
              <a:buNone/>
            </a:pPr>
            <a:r>
              <a:rPr lang="en-US" sz="2100" b="1" dirty="0">
                <a:solidFill>
                  <a:srgbClr val="F7F6F2"/>
                </a:solidFill>
                <a:latin typeface="Be Vietnam Pro" pitchFamily="34" charset="0"/>
                <a:ea typeface="Be Vietnam Pro" pitchFamily="34" charset="-122"/>
                <a:cs typeface="Be Vietnam Pro" pitchFamily="34" charset="-120"/>
              </a:rPr>
              <a:t>Chạy khi mất mạng</a:t>
            </a:r>
            <a:endParaRPr lang="en-US" sz="2100" dirty="0"/>
          </a:p>
          <a:p>
            <a:pPr algn="l" indent="0" marL="0">
              <a:lnSpc>
                <a:spcPts val="2730"/>
              </a:lnSpc>
              <a:buNone/>
            </a:pPr>
            <a:r>
              <a:rPr lang="en-US" sz="2100" dirty="0">
                <a:solidFill>
                  <a:srgbClr val="F7F6F2"/>
                </a:solidFill>
                <a:latin typeface="Be Vietnam Pro" pitchFamily="34" charset="0"/>
                <a:ea typeface="Be Vietnam Pro" pitchFamily="34" charset="-122"/>
                <a:cs typeface="Be Vietnam Pro" pitchFamily="34" charset="-120"/>
              </a:rPr>
              <a:t>lưu trên máy trước</a:t>
            </a:r>
            <a:endParaRPr lang="en-US" sz="2100" dirty="0"/>
          </a:p>
        </p:txBody>
      </p:sp>
      <p:sp>
        <p:nvSpPr>
          <p:cNvPr id="15" name="Text 9"/>
          <p:cNvSpPr/>
          <p:nvPr/>
        </p:nvSpPr>
        <p:spPr>
          <a:xfrm>
            <a:off x="812800" y="6202759"/>
            <a:ext cx="403574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CF"/>
                </a:solidFill>
                <a:latin typeface="Be Vietnam Pro" pitchFamily="34" charset="0"/>
                <a:ea typeface="Be Vietnam Pro" pitchFamily="34" charset="-122"/>
                <a:cs typeface="Be Vietnam Pro" pitchFamily="34" charset="-120"/>
              </a:rPr>
              <a:t>3 / 14 · Giao diện tiếng Anh &amp; tiếng Việt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08704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Vai trò gắn với dự án, không gắn với tài khoản</a:t>
            </a:r>
            <a:endParaRPr lang="en-US" sz="3800" dirty="0"/>
          </a:p>
        </p:txBody>
      </p:sp>
      <p:sp>
        <p:nvSpPr>
          <p:cNvPr id="3" name="Text 1"/>
          <p:cNvSpPr/>
          <p:nvPr/>
        </p:nvSpPr>
        <p:spPr>
          <a:xfrm>
            <a:off x="812800" y="2230041"/>
            <a:ext cx="5598668"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D4657"/>
                </a:solidFill>
                <a:latin typeface="Be Vietnam Pro" pitchFamily="34" charset="0"/>
                <a:ea typeface="Be Vietnam Pro" pitchFamily="34" charset="-122"/>
                <a:cs typeface="Be Vietnam Pro" pitchFamily="34" charset="-120"/>
              </a:rPr>
              <a:t>Đăng ký chỉ cần tên, email, mật khẩu. </a:t>
            </a:r>
            <a:r>
              <a:rPr lang="en-US" sz="2000" b="1" dirty="0">
                <a:solidFill>
                  <a:srgbClr val="3D4657"/>
                </a:solidFill>
                <a:latin typeface="Be Vietnam Pro" pitchFamily="34" charset="0"/>
                <a:ea typeface="Be Vietnam Pro" pitchFamily="34" charset="-122"/>
                <a:cs typeface="Be Vietnam Pro" pitchFamily="34" charset="-120"/>
              </a:rPr>
              <a:t>Không chọn vai trò.</a:t>
            </a:r>
            <a:endParaRPr lang="en-US" sz="2000" dirty="0"/>
          </a:p>
        </p:txBody>
      </p:sp>
      <p:sp>
        <p:nvSpPr>
          <p:cNvPr id="4" name="Text 2"/>
          <p:cNvSpPr/>
          <p:nvPr/>
        </p:nvSpPr>
        <p:spPr>
          <a:xfrm>
            <a:off x="812800" y="3093641"/>
            <a:ext cx="5598668"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D4657"/>
                </a:solidFill>
                <a:latin typeface="Be Vietnam Pro" pitchFamily="34" charset="0"/>
                <a:ea typeface="Be Vietnam Pro" pitchFamily="34" charset="-122"/>
                <a:cs typeface="Be Vietnam Pro" pitchFamily="34" charset="-120"/>
              </a:rPr>
              <a:t>Tạo dự án → bạn là </a:t>
            </a:r>
            <a:r>
              <a:rPr lang="en-US" sz="2000" b="1" dirty="0">
                <a:solidFill>
                  <a:srgbClr val="C2410C"/>
                </a:solidFill>
                <a:latin typeface="Be Vietnam Pro" pitchFamily="34" charset="0"/>
                <a:ea typeface="Be Vietnam Pro" pitchFamily="34" charset="-122"/>
                <a:cs typeface="Be Vietnam Pro" pitchFamily="34" charset="-120"/>
              </a:rPr>
              <a:t>PM</a:t>
            </a:r>
            <a:r>
              <a:rPr lang="en-US" sz="2000" dirty="0">
                <a:solidFill>
                  <a:srgbClr val="3D4657"/>
                </a:solidFill>
                <a:latin typeface="Be Vietnam Pro" pitchFamily="34" charset="0"/>
                <a:ea typeface="Be Vietnam Pro" pitchFamily="34" charset="-122"/>
                <a:cs typeface="Be Vietnam Pro" pitchFamily="34" charset="-120"/>
              </a:rPr>
              <a:t>. Mời người khác → họ thành </a:t>
            </a:r>
            <a:r>
              <a:rPr lang="en-US" sz="2000" b="1" dirty="0">
                <a:solidFill>
                  <a:srgbClr val="1D4ED8"/>
                </a:solidFill>
                <a:latin typeface="Be Vietnam Pro" pitchFamily="34" charset="0"/>
                <a:ea typeface="Be Vietnam Pro" pitchFamily="34" charset="-122"/>
                <a:cs typeface="Be Vietnam Pro" pitchFamily="34" charset="-120"/>
              </a:rPr>
              <a:t>Thành viên</a:t>
            </a:r>
            <a:r>
              <a:rPr lang="en-US" sz="2000" dirty="0">
                <a:solidFill>
                  <a:srgbClr val="3D4657"/>
                </a:solidFill>
                <a:latin typeface="Be Vietnam Pro" pitchFamily="34" charset="0"/>
                <a:ea typeface="Be Vietnam Pro" pitchFamily="34" charset="-122"/>
                <a:cs typeface="Be Vietnam Pro" pitchFamily="34" charset="-120"/>
              </a:rPr>
              <a:t> khi chấp nhận.</a:t>
            </a:r>
            <a:endParaRPr lang="en-US" sz="2000" dirty="0"/>
          </a:p>
        </p:txBody>
      </p:sp>
      <p:sp>
        <p:nvSpPr>
          <p:cNvPr id="5" name="Text 3"/>
          <p:cNvSpPr/>
          <p:nvPr/>
        </p:nvSpPr>
        <p:spPr>
          <a:xfrm>
            <a:off x="812800" y="3957241"/>
            <a:ext cx="5598668" cy="711200"/>
          </a:xfrm>
          <a:prstGeom prst="rect">
            <a:avLst/>
          </a:prstGeom>
          <a:noFill/>
          <a:ln/>
        </p:spPr>
        <p:txBody>
          <a:bodyPr wrap="square" lIns="0" tIns="0" rIns="0" bIns="0" rtlCol="0" anchor="t">
            <a:normAutofit/>
          </a:bodyPr>
          <a:lstStyle/>
          <a:p>
            <a:pPr algn="l" indent="0" marL="0">
              <a:lnSpc>
                <a:spcPts val="2700"/>
              </a:lnSpc>
              <a:buNone/>
            </a:pPr>
            <a:r>
              <a:rPr lang="en-US" sz="2000" b="1" dirty="0">
                <a:solidFill>
                  <a:srgbClr val="3D4657"/>
                </a:solidFill>
                <a:latin typeface="Be Vietnam Pro" pitchFamily="34" charset="0"/>
                <a:ea typeface="Be Vietnam Pro" pitchFamily="34" charset="-122"/>
                <a:cs typeface="Be Vietnam Pro" pitchFamily="34" charset="-120"/>
              </a:rPr>
              <a:t>Server</a:t>
            </a:r>
            <a:r>
              <a:rPr lang="en-US" sz="2000" dirty="0">
                <a:solidFill>
                  <a:srgbClr val="3D4657"/>
                </a:solidFill>
                <a:latin typeface="Be Vietnam Pro" pitchFamily="34" charset="0"/>
                <a:ea typeface="Be Vietnam Pro" pitchFamily="34" charset="-122"/>
                <a:cs typeface="Be Vietnam Pro" pitchFamily="34" charset="-120"/>
              </a:rPr>
              <a:t> kiểm tra mọi yêu cầu. Người ngoài chỉ thấy “không tìm thấy”.</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65900" y="2242741"/>
          <a:ext cx="4813300" cy="2783086"/>
        </p:xfrm>
        <a:graphic>
          <a:graphicData uri="http://schemas.openxmlformats.org/drawingml/2006/table">
            <a:tbl>
              <a:tblPr/>
              <a:tblGrid>
                <a:gridCol w="2406650"/>
                <a:gridCol w="962660"/>
                <a:gridCol w="1443990"/>
              </a:tblGrid>
              <a:tr h="812602">
                <a:tc>
                  <a:txBody>
                    <a:bodyPr/>
                    <a:lstStyle/>
                    <a:p>
                      <a:pPr indent="0" marL="0">
                        <a:lnSpc>
                          <a:spcPts val="2520"/>
                        </a:lnSpc>
                        <a:buNone/>
                      </a:pPr>
                      <a:r>
                        <a:rPr lang="en-US" sz="1800" b="1" dirty="0">
                          <a:solidFill>
                            <a:srgbClr val="14213D"/>
                          </a:solidFill>
                          <a:latin typeface="Be Vietnam Pro" pitchFamily="34" charset="0"/>
                          <a:ea typeface="Be Vietnam Pro" pitchFamily="34" charset="-122"/>
                          <a:cs typeface="Be Vietnam Pro" pitchFamily="34" charset="-120"/>
                        </a:rPr>
                        <a:t>Thao tác</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indent="0" marL="0">
                        <a:lnSpc>
                          <a:spcPts val="2520"/>
                        </a:lnSpc>
                        <a:buNone/>
                      </a:pPr>
                      <a:r>
                        <a:rPr lang="en-US" sz="1800" b="1" dirty="0">
                          <a:solidFill>
                            <a:srgbClr val="14213D"/>
                          </a:solidFill>
                          <a:latin typeface="Be Vietnam Pro" pitchFamily="34" charset="0"/>
                          <a:ea typeface="Be Vietnam Pro" pitchFamily="34" charset="-122"/>
                          <a:cs typeface="Be Vietnam Pro" pitchFamily="34" charset="-120"/>
                        </a:rPr>
                        <a:t>PM</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indent="0" marL="0">
                        <a:lnSpc>
                          <a:spcPts val="2520"/>
                        </a:lnSpc>
                        <a:buNone/>
                      </a:pPr>
                      <a:r>
                        <a:rPr lang="en-US" sz="1800" b="1" dirty="0">
                          <a:solidFill>
                            <a:srgbClr val="14213D"/>
                          </a:solidFill>
                          <a:latin typeface="Be Vietnam Pro" pitchFamily="34" charset="0"/>
                          <a:ea typeface="Be Vietnam Pro" pitchFamily="34" charset="-122"/>
                          <a:cs typeface="Be Vietnam Pro" pitchFamily="34" charset="-120"/>
                        </a:rPr>
                        <a:t>Thành viên</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r>
              <a:tr h="492621">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Tạo, chuyển task</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Có</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Có</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92621">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Bình luận, dùng AI</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Có</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Có</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92621">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Mời, đổi vai trò</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Có</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Không</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92621">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Điều hành sprint</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Có</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520"/>
                        </a:lnSpc>
                        <a:buNone/>
                      </a:pPr>
                      <a:r>
                        <a:rPr lang="en-US" sz="1800" dirty="0">
                          <a:solidFill>
                            <a:srgbClr val="14213D"/>
                          </a:solidFill>
                          <a:latin typeface="Be Vietnam Pro" pitchFamily="34" charset="0"/>
                          <a:ea typeface="Be Vietnam Pro" pitchFamily="34" charset="-122"/>
                          <a:cs typeface="Be Vietnam Pro" pitchFamily="34" charset="-120"/>
                        </a:rPr>
                        <a:t>Không</a:t>
                      </a:r>
                      <a:endParaRPr lang="en-US" sz="1800" dirty="0">
                        <a:latin typeface="Be Vietnam Pro" charset="0"/>
                        <a:ea typeface="Be Vietnam Pro" charset="0"/>
                        <a:cs typeface="Be Vietnam Pro" charset="0"/>
                      </a:endParaRPr>
                    </a:p>
                  </a:txBody>
                  <a:tcPr marL="80010" marR="80010" marT="80010" marB="8001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bl>
          </a:graphicData>
        </a:graphic>
      </p:graphicFrame>
      <p:sp>
        <p:nvSpPr>
          <p:cNvPr id="7" name="Text 4"/>
          <p:cNvSpPr/>
          <p:nvPr/>
        </p:nvSpPr>
        <p:spPr>
          <a:xfrm>
            <a:off x="812800" y="6202759"/>
            <a:ext cx="6594396"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4 / 14 · Một người có thể là PM dự án này, Thành viên dự án khác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Bảng công việc: nhìn là thấy hết</a:t>
            </a:r>
            <a:endParaRPr lang="en-US" sz="3800" dirty="0"/>
          </a:p>
        </p:txBody>
      </p:sp>
      <p:sp>
        <p:nvSpPr>
          <p:cNvPr id="3" name="Shape 1"/>
          <p:cNvSpPr/>
          <p:nvPr/>
        </p:nvSpPr>
        <p:spPr>
          <a:xfrm>
            <a:off x="812800" y="1648420"/>
            <a:ext cx="6350000" cy="3797300"/>
          </a:xfrm>
          <a:prstGeom prst="roundRect">
            <a:avLst>
              <a:gd name="adj" fmla="val 2676"/>
            </a:avLst>
          </a:prstGeom>
          <a:solidFill>
            <a:srgbClr val="FFFFFF"/>
          </a:solidFill>
          <a:ln/>
        </p:spPr>
      </p:sp>
      <p:pic>
        <p:nvPicPr>
          <p:cNvPr id="4" name="Image 0" descr="Bảng Kanban bốn cột: Cần làm, Đang làm, Bị chặn, Hoàn thành">    </p:cNvPr>
          <p:cNvPicPr>
            <a:picLocks noChangeAspect="1"/>
          </p:cNvPicPr>
          <p:nvPr/>
        </p:nvPicPr>
        <p:blipFill>
          <a:blip r:embed="rId1"/>
          <a:srcRect l="-93" r="-93" t="0" b="0"/>
          <a:stretch/>
        </p:blipFill>
        <p:spPr>
          <a:xfrm>
            <a:off x="825500" y="1661120"/>
            <a:ext cx="6324600" cy="3771900"/>
          </a:xfrm>
          <a:prstGeom prst="roundRect">
            <a:avLst>
              <a:gd name="adj" fmla="val 2357"/>
            </a:avLst>
          </a:prstGeom>
        </p:spPr>
      </p:pic>
      <p:sp>
        <p:nvSpPr>
          <p:cNvPr id="5" name="Shape 2"/>
          <p:cNvSpPr/>
          <p:nvPr/>
        </p:nvSpPr>
        <p:spPr>
          <a:xfrm>
            <a:off x="819150" y="1654770"/>
            <a:ext cx="6337300" cy="3784600"/>
          </a:xfrm>
          <a:prstGeom prst="roundRect">
            <a:avLst>
              <a:gd name="adj" fmla="val 2517"/>
            </a:avLst>
          </a:prstGeom>
          <a:noFill/>
          <a:ln w="12700">
            <a:solidFill>
              <a:srgbClr val="E4DED3"/>
            </a:solidFill>
            <a:prstDash val="solid"/>
          </a:ln>
        </p:spPr>
      </p:sp>
      <p:sp>
        <p:nvSpPr>
          <p:cNvPr id="6" name="Text 3"/>
          <p:cNvSpPr/>
          <p:nvPr/>
        </p:nvSpPr>
        <p:spPr>
          <a:xfrm>
            <a:off x="7518400" y="1997670"/>
            <a:ext cx="3976624" cy="10160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4 cột</a:t>
            </a:r>
            <a:endParaRPr lang="en-US" sz="2000" dirty="0"/>
          </a:p>
          <a:p>
            <a:pPr algn="l" indent="0" marL="0">
              <a:lnSpc>
                <a:spcPts val="2600"/>
              </a:lnSpc>
              <a:buNone/>
            </a:pPr>
            <a:r>
              <a:rPr lang="en-US" sz="2000" dirty="0">
                <a:solidFill>
                  <a:srgbClr val="3D4657"/>
                </a:solidFill>
                <a:latin typeface="Be Vietnam Pro" pitchFamily="34" charset="0"/>
                <a:ea typeface="Be Vietnam Pro" pitchFamily="34" charset="-122"/>
                <a:cs typeface="Be Vietnam Pro" pitchFamily="34" charset="-120"/>
              </a:rPr>
              <a:t>Cần làm → Đang làm → Bị chặn → Hoàn thành</a:t>
            </a:r>
            <a:endParaRPr lang="en-US" sz="2000" dirty="0"/>
          </a:p>
        </p:txBody>
      </p:sp>
      <p:sp>
        <p:nvSpPr>
          <p:cNvPr id="7" name="Text 4"/>
          <p:cNvSpPr/>
          <p:nvPr/>
        </p:nvSpPr>
        <p:spPr>
          <a:xfrm>
            <a:off x="7518400" y="3216870"/>
            <a:ext cx="3976624" cy="6858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Hạn chót trước</a:t>
            </a:r>
            <a:endParaRPr lang="en-US" sz="2000" dirty="0"/>
          </a:p>
          <a:p>
            <a:pPr algn="l" indent="0" marL="0">
              <a:lnSpc>
                <a:spcPts val="2600"/>
              </a:lnSpc>
              <a:buNone/>
            </a:pPr>
            <a:r>
              <a:rPr lang="en-US" sz="2000" dirty="0">
                <a:solidFill>
                  <a:srgbClr val="3D4657"/>
                </a:solidFill>
                <a:latin typeface="Be Vietnam Pro" pitchFamily="34" charset="0"/>
                <a:ea typeface="Be Vietnam Pro" pitchFamily="34" charset="-122"/>
                <a:cs typeface="Be Vietnam Pro" pitchFamily="34" charset="-120"/>
              </a:rPr>
              <a:t>việc trễ luôn nổi lên đầu</a:t>
            </a:r>
            <a:endParaRPr lang="en-US" sz="2000" dirty="0"/>
          </a:p>
        </p:txBody>
      </p:sp>
      <p:sp>
        <p:nvSpPr>
          <p:cNvPr id="8" name="Text 5"/>
          <p:cNvSpPr/>
          <p:nvPr/>
        </p:nvSpPr>
        <p:spPr>
          <a:xfrm>
            <a:off x="7518400" y="4105870"/>
            <a:ext cx="3976624" cy="10160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Không cần chuột</a:t>
            </a:r>
            <a:endParaRPr lang="en-US" sz="2000" dirty="0"/>
          </a:p>
          <a:p>
            <a:pPr algn="l" indent="0" marL="0">
              <a:lnSpc>
                <a:spcPts val="2600"/>
              </a:lnSpc>
              <a:buNone/>
            </a:pPr>
            <a:r>
              <a:rPr lang="en-US" sz="2000" dirty="0">
                <a:solidFill>
                  <a:srgbClr val="3D4657"/>
                </a:solidFill>
                <a:latin typeface="Be Vietnam Pro" pitchFamily="34" charset="0"/>
                <a:ea typeface="Be Vietnam Pro" pitchFamily="34" charset="-122"/>
                <a:cs typeface="Be Vietnam Pro" pitchFamily="34" charset="-120"/>
              </a:rPr>
              <a:t>h j k l di chuyển · Space đổi trạng thái</a:t>
            </a:r>
            <a:endParaRPr lang="en-US" sz="2000" dirty="0"/>
          </a:p>
        </p:txBody>
      </p:sp>
      <p:sp>
        <p:nvSpPr>
          <p:cNvPr id="9" name="Text 6"/>
          <p:cNvSpPr/>
          <p:nvPr/>
        </p:nvSpPr>
        <p:spPr>
          <a:xfrm>
            <a:off x="812800" y="6202759"/>
            <a:ext cx="5751195"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5 / 14 · Biểu tượng ngọn lửa = task nằm trên đường găng</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Trong mỗi task: cả nhóm trao đổi một chỗ</a:t>
            </a:r>
            <a:endParaRPr lang="en-US" sz="3800" dirty="0"/>
          </a:p>
        </p:txBody>
      </p:sp>
      <p:sp>
        <p:nvSpPr>
          <p:cNvPr id="3" name="Text 1"/>
          <p:cNvSpPr/>
          <p:nvPr/>
        </p:nvSpPr>
        <p:spPr>
          <a:xfrm>
            <a:off x="812800" y="2283420"/>
            <a:ext cx="4630674"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Nhiều người</a:t>
            </a:r>
            <a:r>
              <a:rPr lang="en-US" sz="2000" dirty="0">
                <a:solidFill>
                  <a:srgbClr val="14213D"/>
                </a:solidFill>
                <a:latin typeface="Be Vietnam Pro" pitchFamily="34" charset="0"/>
                <a:ea typeface="Be Vietnam Pro" pitchFamily="34" charset="-122"/>
                <a:cs typeface="Be Vietnam Pro" pitchFamily="34" charset="-120"/>
              </a:rPr>
              <a:t> cùng làm một task</a:t>
            </a:r>
            <a:endParaRPr lang="en-US" sz="2000" dirty="0"/>
          </a:p>
        </p:txBody>
      </p:sp>
      <p:sp>
        <p:nvSpPr>
          <p:cNvPr id="4" name="Text 2"/>
          <p:cNvSpPr/>
          <p:nvPr/>
        </p:nvSpPr>
        <p:spPr>
          <a:xfrm>
            <a:off x="812800" y="2842220"/>
            <a:ext cx="4630674" cy="6858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@tag</a:t>
            </a:r>
            <a:r>
              <a:rPr lang="en-US" sz="2000" dirty="0">
                <a:solidFill>
                  <a:srgbClr val="14213D"/>
                </a:solidFill>
                <a:latin typeface="Be Vietnam Pro" pitchFamily="34" charset="0"/>
                <a:ea typeface="Be Vietnam Pro" pitchFamily="34" charset="-122"/>
                <a:cs typeface="Be Vietnam Pro" pitchFamily="34" charset="-120"/>
              </a:rPr>
              <a:t> bạn cùng nhóm → họ nhận thông báo</a:t>
            </a:r>
            <a:endParaRPr lang="en-US" sz="2000" dirty="0"/>
          </a:p>
        </p:txBody>
      </p:sp>
      <p:sp>
        <p:nvSpPr>
          <p:cNvPr id="5" name="Text 3"/>
          <p:cNvSpPr/>
          <p:nvPr/>
        </p:nvSpPr>
        <p:spPr>
          <a:xfrm>
            <a:off x="812800" y="3731220"/>
            <a:ext cx="4630674" cy="6858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Minh chứng</a:t>
            </a:r>
            <a:r>
              <a:rPr lang="en-US" sz="2000" dirty="0">
                <a:solidFill>
                  <a:srgbClr val="14213D"/>
                </a:solidFill>
                <a:latin typeface="Be Vietnam Pro" pitchFamily="34" charset="0"/>
                <a:ea typeface="Be Vietnam Pro" pitchFamily="34" charset="-122"/>
                <a:cs typeface="Be Vietnam Pro" pitchFamily="34" charset="-120"/>
              </a:rPr>
              <a:t>: đính kèm ảnh khi làm xong</a:t>
            </a:r>
            <a:endParaRPr lang="en-US" sz="2000" dirty="0"/>
          </a:p>
        </p:txBody>
      </p:sp>
      <p:sp>
        <p:nvSpPr>
          <p:cNvPr id="6" name="Text 4"/>
          <p:cNvSpPr/>
          <p:nvPr/>
        </p:nvSpPr>
        <p:spPr>
          <a:xfrm>
            <a:off x="812800" y="4620220"/>
            <a:ext cx="4630674"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Lịch sử</a:t>
            </a:r>
            <a:r>
              <a:rPr lang="en-US" sz="2000" dirty="0">
                <a:solidFill>
                  <a:srgbClr val="14213D"/>
                </a:solidFill>
                <a:latin typeface="Be Vietnam Pro" pitchFamily="34" charset="0"/>
                <a:ea typeface="Be Vietnam Pro" pitchFamily="34" charset="-122"/>
                <a:cs typeface="Be Vietnam Pro" pitchFamily="34" charset="-120"/>
              </a:rPr>
              <a:t>: ai sửa gì, lúc nào</a:t>
            </a:r>
            <a:endParaRPr lang="en-US" sz="2000" dirty="0"/>
          </a:p>
        </p:txBody>
      </p:sp>
      <p:sp>
        <p:nvSpPr>
          <p:cNvPr id="7" name="Shape 5"/>
          <p:cNvSpPr/>
          <p:nvPr/>
        </p:nvSpPr>
        <p:spPr>
          <a:xfrm>
            <a:off x="5664200" y="1648420"/>
            <a:ext cx="5715000" cy="3937000"/>
          </a:xfrm>
          <a:prstGeom prst="roundRect">
            <a:avLst>
              <a:gd name="adj" fmla="val 2581"/>
            </a:avLst>
          </a:prstGeom>
          <a:solidFill>
            <a:srgbClr val="FFFFFF"/>
          </a:solidFill>
          <a:ln/>
        </p:spPr>
      </p:sp>
      <p:pic>
        <p:nvPicPr>
          <p:cNvPr id="8" name="Image 0" descr="Chi tiết task với thảo luận, trả lời và lịch sử thay đổi">    </p:cNvPr>
          <p:cNvPicPr>
            <a:picLocks noChangeAspect="1"/>
          </p:cNvPicPr>
          <p:nvPr/>
        </p:nvPicPr>
        <p:blipFill>
          <a:blip r:embed="rId1"/>
          <a:stretch>
            <a:fillRect/>
          </a:stretch>
        </p:blipFill>
        <p:spPr>
          <a:xfrm>
            <a:off x="5676900" y="1917152"/>
            <a:ext cx="5689600" cy="3399536"/>
          </a:xfrm>
          <a:prstGeom prst="rect">
            <a:avLst/>
          </a:prstGeom>
        </p:spPr>
      </p:pic>
      <p:sp>
        <p:nvSpPr>
          <p:cNvPr id="9" name="Shape 6"/>
          <p:cNvSpPr/>
          <p:nvPr/>
        </p:nvSpPr>
        <p:spPr>
          <a:xfrm>
            <a:off x="5670550" y="1654770"/>
            <a:ext cx="5702300" cy="3924300"/>
          </a:xfrm>
          <a:prstGeom prst="roundRect">
            <a:avLst>
              <a:gd name="adj" fmla="val 2427"/>
            </a:avLst>
          </a:prstGeom>
          <a:noFill/>
          <a:ln w="12700">
            <a:solidFill>
              <a:srgbClr val="E4DED3"/>
            </a:solidFill>
            <a:prstDash val="solid"/>
          </a:ln>
        </p:spPr>
      </p:sp>
      <p:sp>
        <p:nvSpPr>
          <p:cNvPr id="10" name="Text 7"/>
          <p:cNvSpPr/>
          <p:nvPr/>
        </p:nvSpPr>
        <p:spPr>
          <a:xfrm>
            <a:off x="812800" y="6202759"/>
            <a:ext cx="58424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6 / 14</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30920"/>
          </a:xfrm>
          <a:prstGeom prst="rect">
            <a:avLst/>
          </a:prstGeom>
          <a:noFill/>
          <a:ln/>
        </p:spPr>
        <p:txBody>
          <a:bodyPr wrap="square" lIns="0" tIns="0" rIns="0" bIns="0" rtlCol="0" anchor="t">
            <a:normAutofit/>
          </a:bodyPr>
          <a:lstStyle/>
          <a:p>
            <a:pPr algn="l" indent="0" marL="0">
              <a:lnSpc>
                <a:spcPts val="4023"/>
              </a:lnSpc>
              <a:buNone/>
            </a:pPr>
            <a:r>
              <a:rPr lang="en-US" sz="3657" b="1" i="0" dirty="0">
                <a:solidFill>
                  <a:srgbClr val="14213D"/>
                </a:solidFill>
                <a:latin typeface="Be Vietnam Pro" pitchFamily="34" charset="0"/>
                <a:ea typeface="Be Vietnam Pro" pitchFamily="34" charset="-122"/>
                <a:cs typeface="Be Vietnam Pro" pitchFamily="34" charset="-120"/>
              </a:rPr>
              <a:t>Scrum: làm việc theo từng sprint ngắn</a:t>
            </a:r>
            <a:endParaRPr lang="en-US" sz="3657" dirty="0"/>
          </a:p>
        </p:txBody>
      </p:sp>
      <p:sp>
        <p:nvSpPr>
          <p:cNvPr id="3" name="Shape 1"/>
          <p:cNvSpPr/>
          <p:nvPr/>
        </p:nvSpPr>
        <p:spPr>
          <a:xfrm>
            <a:off x="812800" y="1639193"/>
            <a:ext cx="2667000" cy="1462881"/>
          </a:xfrm>
          <a:prstGeom prst="roundRect">
            <a:avLst>
              <a:gd name="adj" fmla="val 10418"/>
            </a:avLst>
          </a:prstGeom>
          <a:solidFill>
            <a:srgbClr val="E7ECF7"/>
          </a:solidFill>
          <a:ln/>
        </p:spPr>
      </p:sp>
      <p:sp>
        <p:nvSpPr>
          <p:cNvPr id="4" name="Text 2"/>
          <p:cNvSpPr/>
          <p:nvPr/>
        </p:nvSpPr>
        <p:spPr>
          <a:xfrm>
            <a:off x="1092200" y="1867793"/>
            <a:ext cx="2171446"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D4ED8"/>
                </a:solidFill>
                <a:latin typeface="Be Vietnam Pro" pitchFamily="34" charset="0"/>
                <a:ea typeface="Be Vietnam Pro" pitchFamily="34" charset="-122"/>
                <a:cs typeface="Be Vietnam Pro" pitchFamily="34" charset="-120"/>
              </a:rPr>
              <a:t>Lên kế hoạch</a:t>
            </a:r>
            <a:endParaRPr lang="en-US" sz="2300" dirty="0"/>
          </a:p>
        </p:txBody>
      </p:sp>
      <p:sp>
        <p:nvSpPr>
          <p:cNvPr id="5" name="Text 3"/>
          <p:cNvSpPr/>
          <p:nvPr/>
        </p:nvSpPr>
        <p:spPr>
          <a:xfrm>
            <a:off x="1092200" y="2269034"/>
            <a:ext cx="2171446"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PM chọn việc từ backlog</a:t>
            </a:r>
            <a:endParaRPr lang="en-US" sz="1700" dirty="0"/>
          </a:p>
        </p:txBody>
      </p:sp>
      <p:pic>
        <p:nvPicPr>
          <p:cNvPr id="6" name="Image 0" descr="arrow-right">    </p:cNvPr>
          <p:cNvPicPr>
            <a:picLocks noChangeAspect="1"/>
          </p:cNvPicPr>
          <p:nvPr/>
        </p:nvPicPr>
        <p:blipFill>
          <a:blip r:embed="rId1"/>
          <a:srcRect l="0" r="0" t="0" b="0"/>
          <a:stretch/>
        </p:blipFill>
        <p:spPr>
          <a:xfrm>
            <a:off x="3632200" y="2192734"/>
            <a:ext cx="698500" cy="355600"/>
          </a:xfrm>
          <a:prstGeom prst="rect">
            <a:avLst/>
          </a:prstGeom>
        </p:spPr>
      </p:pic>
      <p:sp>
        <p:nvSpPr>
          <p:cNvPr id="7" name="Shape 4"/>
          <p:cNvSpPr/>
          <p:nvPr/>
        </p:nvSpPr>
        <p:spPr>
          <a:xfrm>
            <a:off x="4483100" y="1639193"/>
            <a:ext cx="2667000" cy="1462881"/>
          </a:xfrm>
          <a:prstGeom prst="roundRect">
            <a:avLst>
              <a:gd name="adj" fmla="val 10418"/>
            </a:avLst>
          </a:prstGeom>
          <a:solidFill>
            <a:srgbClr val="FCE9D6"/>
          </a:solidFill>
          <a:ln/>
        </p:spPr>
      </p:sp>
      <p:sp>
        <p:nvSpPr>
          <p:cNvPr id="8" name="Text 5"/>
          <p:cNvSpPr/>
          <p:nvPr/>
        </p:nvSpPr>
        <p:spPr>
          <a:xfrm>
            <a:off x="4762500" y="1867793"/>
            <a:ext cx="2171446"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C2410C"/>
                </a:solidFill>
                <a:latin typeface="Be Vietnam Pro" pitchFamily="34" charset="0"/>
                <a:ea typeface="Be Vietnam Pro" pitchFamily="34" charset="-122"/>
                <a:cs typeface="Be Vietnam Pro" pitchFamily="34" charset="-120"/>
              </a:rPr>
              <a:t>Đang chạy</a:t>
            </a:r>
            <a:endParaRPr lang="en-US" sz="2300" dirty="0"/>
          </a:p>
        </p:txBody>
      </p:sp>
      <p:sp>
        <p:nvSpPr>
          <p:cNvPr id="9" name="Text 6"/>
          <p:cNvSpPr/>
          <p:nvPr/>
        </p:nvSpPr>
        <p:spPr>
          <a:xfrm>
            <a:off x="4762500" y="2269034"/>
            <a:ext cx="2171446"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Nhóm làm; số điểm là lời hứa</a:t>
            </a:r>
            <a:endParaRPr lang="en-US" sz="1700" dirty="0"/>
          </a:p>
        </p:txBody>
      </p:sp>
      <p:pic>
        <p:nvPicPr>
          <p:cNvPr id="10" name="Image 1" descr="arrow-right">    </p:cNvPr>
          <p:cNvPicPr>
            <a:picLocks noChangeAspect="1"/>
          </p:cNvPicPr>
          <p:nvPr/>
        </p:nvPicPr>
        <p:blipFill>
          <a:blip r:embed="rId2"/>
          <a:srcRect l="0" r="0" t="0" b="0"/>
          <a:stretch/>
        </p:blipFill>
        <p:spPr>
          <a:xfrm>
            <a:off x="7302500" y="2192734"/>
            <a:ext cx="698500" cy="355600"/>
          </a:xfrm>
          <a:prstGeom prst="rect">
            <a:avLst/>
          </a:prstGeom>
        </p:spPr>
      </p:pic>
      <p:sp>
        <p:nvSpPr>
          <p:cNvPr id="11" name="Shape 7"/>
          <p:cNvSpPr/>
          <p:nvPr/>
        </p:nvSpPr>
        <p:spPr>
          <a:xfrm>
            <a:off x="8153400" y="1639193"/>
            <a:ext cx="2667000" cy="1462881"/>
          </a:xfrm>
          <a:prstGeom prst="roundRect">
            <a:avLst>
              <a:gd name="adj" fmla="val 10418"/>
            </a:avLst>
          </a:prstGeom>
          <a:solidFill>
            <a:srgbClr val="DCEFE3"/>
          </a:solidFill>
          <a:ln/>
        </p:spPr>
      </p:sp>
      <p:sp>
        <p:nvSpPr>
          <p:cNvPr id="12" name="Text 8"/>
          <p:cNvSpPr/>
          <p:nvPr/>
        </p:nvSpPr>
        <p:spPr>
          <a:xfrm>
            <a:off x="8432800" y="1867793"/>
            <a:ext cx="2171446"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5803D"/>
                </a:solidFill>
                <a:latin typeface="Be Vietnam Pro" pitchFamily="34" charset="0"/>
                <a:ea typeface="Be Vietnam Pro" pitchFamily="34" charset="-122"/>
                <a:cs typeface="Be Vietnam Pro" pitchFamily="34" charset="-120"/>
              </a:rPr>
              <a:t>Hoàn thành</a:t>
            </a:r>
            <a:endParaRPr lang="en-US" sz="2300" dirty="0"/>
          </a:p>
        </p:txBody>
      </p:sp>
      <p:sp>
        <p:nvSpPr>
          <p:cNvPr id="13" name="Text 9"/>
          <p:cNvSpPr/>
          <p:nvPr/>
        </p:nvSpPr>
        <p:spPr>
          <a:xfrm>
            <a:off x="8432800" y="2269034"/>
            <a:ext cx="2171446"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Việc chưa xong được chuyển tiếp</a:t>
            </a:r>
            <a:endParaRPr lang="en-US" sz="1700" dirty="0"/>
          </a:p>
        </p:txBody>
      </p:sp>
      <p:sp>
        <p:nvSpPr>
          <p:cNvPr id="14" name="Shape 10"/>
          <p:cNvSpPr/>
          <p:nvPr/>
        </p:nvSpPr>
        <p:spPr>
          <a:xfrm>
            <a:off x="812800" y="3362424"/>
            <a:ext cx="4826000" cy="2540000"/>
          </a:xfrm>
          <a:prstGeom prst="roundRect">
            <a:avLst>
              <a:gd name="adj" fmla="val 4000"/>
            </a:avLst>
          </a:prstGeom>
          <a:solidFill>
            <a:srgbClr val="FFFFFF"/>
          </a:solidFill>
          <a:ln/>
        </p:spPr>
      </p:sp>
      <p:pic>
        <p:nvPicPr>
          <p:cNvPr id="15" name="Image 2" descr="Bảng Scrum liệt kê các sprint đã xong, đang chạy và đã lên kế hoạch">    </p:cNvPr>
          <p:cNvPicPr>
            <a:picLocks noChangeAspect="1"/>
          </p:cNvPicPr>
          <p:nvPr/>
        </p:nvPicPr>
        <p:blipFill>
          <a:blip r:embed="rId3"/>
          <a:stretch>
            <a:fillRect/>
          </a:stretch>
        </p:blipFill>
        <p:spPr>
          <a:xfrm>
            <a:off x="1121532" y="3375124"/>
            <a:ext cx="4208536" cy="2514600"/>
          </a:xfrm>
          <a:prstGeom prst="rect">
            <a:avLst/>
          </a:prstGeom>
        </p:spPr>
      </p:pic>
      <p:sp>
        <p:nvSpPr>
          <p:cNvPr id="16" name="Shape 11"/>
          <p:cNvSpPr/>
          <p:nvPr/>
        </p:nvSpPr>
        <p:spPr>
          <a:xfrm>
            <a:off x="819150" y="3368774"/>
            <a:ext cx="4813300" cy="2527300"/>
          </a:xfrm>
          <a:prstGeom prst="roundRect">
            <a:avLst>
              <a:gd name="adj" fmla="val 3769"/>
            </a:avLst>
          </a:prstGeom>
          <a:noFill/>
          <a:ln w="12700">
            <a:solidFill>
              <a:srgbClr val="E4DED3"/>
            </a:solidFill>
            <a:prstDash val="solid"/>
          </a:ln>
        </p:spPr>
      </p:sp>
      <p:sp>
        <p:nvSpPr>
          <p:cNvPr id="17" name="Text 12"/>
          <p:cNvSpPr/>
          <p:nvPr/>
        </p:nvSpPr>
        <p:spPr>
          <a:xfrm>
            <a:off x="5892800" y="4289524"/>
            <a:ext cx="5650992"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D4657"/>
                </a:solidFill>
                <a:latin typeface="Be Vietnam Pro" pitchFamily="34" charset="0"/>
                <a:ea typeface="Be Vietnam Pro" pitchFamily="34" charset="-122"/>
                <a:cs typeface="Be Vietnam Pro" pitchFamily="34" charset="-120"/>
              </a:rPr>
              <a:t>Mỗi lúc chỉ một sprint chạy. Chỉ </a:t>
            </a:r>
            <a:r>
              <a:rPr lang="en-US" sz="2000" b="1" dirty="0">
                <a:solidFill>
                  <a:srgbClr val="14213D"/>
                </a:solidFill>
                <a:latin typeface="Be Vietnam Pro" pitchFamily="34" charset="0"/>
                <a:ea typeface="Be Vietnam Pro" pitchFamily="34" charset="-122"/>
                <a:cs typeface="Be Vietnam Pro" pitchFamily="34" charset="-120"/>
              </a:rPr>
              <a:t>PM</a:t>
            </a:r>
            <a:r>
              <a:rPr lang="en-US" sz="2000" dirty="0">
                <a:solidFill>
                  <a:srgbClr val="3D4657"/>
                </a:solidFill>
                <a:latin typeface="Be Vietnam Pro" pitchFamily="34" charset="0"/>
                <a:ea typeface="Be Vietnam Pro" pitchFamily="34" charset="-122"/>
                <a:cs typeface="Be Vietnam Pro" pitchFamily="34" charset="-120"/>
              </a:rPr>
              <a:t> được bắt đầu hoặc kết thúc.</a:t>
            </a:r>
            <a:endParaRPr lang="en-US" sz="2000" dirty="0"/>
          </a:p>
        </p:txBody>
      </p:sp>
      <p:sp>
        <p:nvSpPr>
          <p:cNvPr id="18" name="Text 13"/>
          <p:cNvSpPr/>
          <p:nvPr/>
        </p:nvSpPr>
        <p:spPr>
          <a:xfrm>
            <a:off x="812800" y="6202759"/>
            <a:ext cx="450984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7 / 14 · Theo gợi ý của giảng viên hướng dẫn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08704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Biểu đồ cho biết sprint có đúng tiến độ không</a:t>
            </a:r>
            <a:endParaRPr lang="en-US" sz="3800" dirty="0"/>
          </a:p>
        </p:txBody>
      </p:sp>
      <p:sp>
        <p:nvSpPr>
          <p:cNvPr id="3" name="Shape 1"/>
          <p:cNvSpPr/>
          <p:nvPr/>
        </p:nvSpPr>
        <p:spPr>
          <a:xfrm>
            <a:off x="812800" y="2153841"/>
            <a:ext cx="3352800" cy="2032000"/>
          </a:xfrm>
          <a:prstGeom prst="roundRect">
            <a:avLst>
              <a:gd name="adj" fmla="val 5000"/>
            </a:avLst>
          </a:prstGeom>
          <a:solidFill>
            <a:srgbClr val="FFFFFF"/>
          </a:solidFill>
          <a:ln/>
        </p:spPr>
      </p:sp>
      <p:pic>
        <p:nvPicPr>
          <p:cNvPr id="4" name="Image 0" descr="Biểu đồ burndown: điểm còn lại so với đường lý tưởng">    </p:cNvPr>
          <p:cNvPicPr>
            <a:picLocks noChangeAspect="1"/>
          </p:cNvPicPr>
          <p:nvPr/>
        </p:nvPicPr>
        <p:blipFill>
          <a:blip r:embed="rId1"/>
          <a:srcRect l="0" r="0" t="-465" b="-465"/>
          <a:stretch/>
        </p:blipFill>
        <p:spPr>
          <a:xfrm>
            <a:off x="825500" y="2166541"/>
            <a:ext cx="3327400" cy="2006600"/>
          </a:xfrm>
          <a:prstGeom prst="roundRect">
            <a:avLst>
              <a:gd name="adj" fmla="val 4430"/>
            </a:avLst>
          </a:prstGeom>
        </p:spPr>
      </p:pic>
      <p:sp>
        <p:nvSpPr>
          <p:cNvPr id="5" name="Shape 2"/>
          <p:cNvSpPr/>
          <p:nvPr/>
        </p:nvSpPr>
        <p:spPr>
          <a:xfrm>
            <a:off x="819150" y="2160191"/>
            <a:ext cx="3340100" cy="2019300"/>
          </a:xfrm>
          <a:prstGeom prst="roundRect">
            <a:avLst>
              <a:gd name="adj" fmla="val 4717"/>
            </a:avLst>
          </a:prstGeom>
          <a:noFill/>
          <a:ln w="12700">
            <a:solidFill>
              <a:srgbClr val="E4DED3"/>
            </a:solidFill>
            <a:prstDash val="solid"/>
          </a:ln>
        </p:spPr>
      </p:sp>
      <p:sp>
        <p:nvSpPr>
          <p:cNvPr id="6" name="Text 3"/>
          <p:cNvSpPr/>
          <p:nvPr/>
        </p:nvSpPr>
        <p:spPr>
          <a:xfrm>
            <a:off x="812800" y="4312841"/>
            <a:ext cx="3470757"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Burndown</a:t>
            </a:r>
            <a:endParaRPr lang="en-US" sz="2200" dirty="0"/>
          </a:p>
        </p:txBody>
      </p:sp>
      <p:sp>
        <p:nvSpPr>
          <p:cNvPr id="7" name="Text 4"/>
          <p:cNvSpPr/>
          <p:nvPr/>
        </p:nvSpPr>
        <p:spPr>
          <a:xfrm>
            <a:off x="812800" y="4775101"/>
            <a:ext cx="3470757"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Việc còn lại mỗi ngày so với đường lý tưởng</a:t>
            </a:r>
            <a:endParaRPr lang="en-US" sz="1800" dirty="0"/>
          </a:p>
        </p:txBody>
      </p:sp>
      <p:sp>
        <p:nvSpPr>
          <p:cNvPr id="8" name="Shape 5"/>
          <p:cNvSpPr/>
          <p:nvPr/>
        </p:nvSpPr>
        <p:spPr>
          <a:xfrm>
            <a:off x="4411067" y="2153841"/>
            <a:ext cx="3352800" cy="2032000"/>
          </a:xfrm>
          <a:prstGeom prst="roundRect">
            <a:avLst>
              <a:gd name="adj" fmla="val 5000"/>
            </a:avLst>
          </a:prstGeom>
          <a:solidFill>
            <a:srgbClr val="FFFFFF"/>
          </a:solidFill>
          <a:ln/>
        </p:spPr>
      </p:sp>
      <p:pic>
        <p:nvPicPr>
          <p:cNvPr id="9" name="Image 1" descr="Velocity: điểm cam kết và điểm hoàn thành mỗi sprint">    </p:cNvPr>
          <p:cNvPicPr>
            <a:picLocks noChangeAspect="1"/>
          </p:cNvPicPr>
          <p:nvPr/>
        </p:nvPicPr>
        <p:blipFill>
          <a:blip r:embed="rId2"/>
          <a:srcRect l="0" r="0" t="-465" b="-465"/>
          <a:stretch/>
        </p:blipFill>
        <p:spPr>
          <a:xfrm>
            <a:off x="4423767" y="2166541"/>
            <a:ext cx="3327400" cy="2006600"/>
          </a:xfrm>
          <a:prstGeom prst="roundRect">
            <a:avLst>
              <a:gd name="adj" fmla="val 4430"/>
            </a:avLst>
          </a:prstGeom>
        </p:spPr>
      </p:pic>
      <p:sp>
        <p:nvSpPr>
          <p:cNvPr id="10" name="Shape 6"/>
          <p:cNvSpPr/>
          <p:nvPr/>
        </p:nvSpPr>
        <p:spPr>
          <a:xfrm>
            <a:off x="4417417" y="2160191"/>
            <a:ext cx="3340100" cy="2019300"/>
          </a:xfrm>
          <a:prstGeom prst="roundRect">
            <a:avLst>
              <a:gd name="adj" fmla="val 4717"/>
            </a:avLst>
          </a:prstGeom>
          <a:noFill/>
          <a:ln w="12700">
            <a:solidFill>
              <a:srgbClr val="E4DED3"/>
            </a:solidFill>
            <a:prstDash val="solid"/>
          </a:ln>
        </p:spPr>
      </p:sp>
      <p:sp>
        <p:nvSpPr>
          <p:cNvPr id="11" name="Text 7"/>
          <p:cNvSpPr/>
          <p:nvPr/>
        </p:nvSpPr>
        <p:spPr>
          <a:xfrm>
            <a:off x="4411067" y="4312841"/>
            <a:ext cx="347085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Velocity</a:t>
            </a:r>
            <a:endParaRPr lang="en-US" sz="2200" dirty="0"/>
          </a:p>
        </p:txBody>
      </p:sp>
      <p:sp>
        <p:nvSpPr>
          <p:cNvPr id="12" name="Text 8"/>
          <p:cNvSpPr/>
          <p:nvPr/>
        </p:nvSpPr>
        <p:spPr>
          <a:xfrm>
            <a:off x="4411067" y="4775101"/>
            <a:ext cx="3470859"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Điểm hứa làm so với điểm làm được</a:t>
            </a:r>
            <a:endParaRPr lang="en-US" sz="1800" dirty="0"/>
          </a:p>
        </p:txBody>
      </p:sp>
      <p:sp>
        <p:nvSpPr>
          <p:cNvPr id="13" name="Shape 9"/>
          <p:cNvSpPr/>
          <p:nvPr/>
        </p:nvSpPr>
        <p:spPr>
          <a:xfrm>
            <a:off x="8009434" y="2153841"/>
            <a:ext cx="3352800" cy="2032000"/>
          </a:xfrm>
          <a:prstGeom prst="roundRect">
            <a:avLst>
              <a:gd name="adj" fmla="val 5000"/>
            </a:avLst>
          </a:prstGeom>
          <a:solidFill>
            <a:srgbClr val="FFFFFF"/>
          </a:solidFill>
          <a:ln/>
        </p:spPr>
      </p:sp>
      <p:pic>
        <p:nvPicPr>
          <p:cNvPr id="14" name="Image 2" descr="Retrospective do AI viết: làm tốt, cần cải thiện, hành động">    </p:cNvPr>
          <p:cNvPicPr>
            <a:picLocks noChangeAspect="1"/>
          </p:cNvPicPr>
          <p:nvPr/>
        </p:nvPicPr>
        <p:blipFill>
          <a:blip r:embed="rId3"/>
          <a:srcRect l="0" r="0" t="-465" b="-465"/>
          <a:stretch/>
        </p:blipFill>
        <p:spPr>
          <a:xfrm>
            <a:off x="8022134" y="2166541"/>
            <a:ext cx="3327400" cy="2006600"/>
          </a:xfrm>
          <a:prstGeom prst="roundRect">
            <a:avLst>
              <a:gd name="adj" fmla="val 4430"/>
            </a:avLst>
          </a:prstGeom>
        </p:spPr>
      </p:pic>
      <p:sp>
        <p:nvSpPr>
          <p:cNvPr id="15" name="Shape 10"/>
          <p:cNvSpPr/>
          <p:nvPr/>
        </p:nvSpPr>
        <p:spPr>
          <a:xfrm>
            <a:off x="8015784" y="2160191"/>
            <a:ext cx="3340100" cy="2019300"/>
          </a:xfrm>
          <a:prstGeom prst="roundRect">
            <a:avLst>
              <a:gd name="adj" fmla="val 4717"/>
            </a:avLst>
          </a:prstGeom>
          <a:noFill/>
          <a:ln w="12700">
            <a:solidFill>
              <a:srgbClr val="E4DED3"/>
            </a:solidFill>
            <a:prstDash val="solid"/>
          </a:ln>
        </p:spPr>
      </p:sp>
      <p:sp>
        <p:nvSpPr>
          <p:cNvPr id="16" name="Text 11"/>
          <p:cNvSpPr/>
          <p:nvPr/>
        </p:nvSpPr>
        <p:spPr>
          <a:xfrm>
            <a:off x="8009434" y="4312841"/>
            <a:ext cx="347085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AI retrospective</a:t>
            </a:r>
            <a:endParaRPr lang="en-US" sz="2200" dirty="0"/>
          </a:p>
        </p:txBody>
      </p:sp>
      <p:sp>
        <p:nvSpPr>
          <p:cNvPr id="17" name="Text 12"/>
          <p:cNvSpPr/>
          <p:nvPr/>
        </p:nvSpPr>
        <p:spPr>
          <a:xfrm>
            <a:off x="8009434" y="4775101"/>
            <a:ext cx="3470859"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Điều làm tốt, cần sửa, việc tiếp theo</a:t>
            </a:r>
            <a:endParaRPr lang="en-US" sz="1800" dirty="0"/>
          </a:p>
        </p:txBody>
      </p:sp>
      <p:sp>
        <p:nvSpPr>
          <p:cNvPr id="18" name="Text 13"/>
          <p:cNvSpPr/>
          <p:nvPr/>
        </p:nvSpPr>
        <p:spPr>
          <a:xfrm>
            <a:off x="812800" y="6202759"/>
            <a:ext cx="574477"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8 / 14</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7F6F2"/>
                </a:solidFill>
                <a:latin typeface="Be Vietnam Pro" pitchFamily="34" charset="0"/>
                <a:ea typeface="Be Vietnam Pro" pitchFamily="34" charset="-122"/>
                <a:cs typeface="Be Vietnam Pro" pitchFamily="34" charset="-120"/>
              </a:rPr>
              <a:t>AI làm thay phần quản lý nhàm chán</a:t>
            </a:r>
            <a:endParaRPr lang="en-US" sz="3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61120"/>
          <a:ext cx="5626100" cy="3453606"/>
        </p:xfrm>
        <a:graphic>
          <a:graphicData uri="http://schemas.openxmlformats.org/drawingml/2006/table">
            <a:tbl>
              <a:tblPr/>
              <a:tblGrid>
                <a:gridCol w="2475484"/>
                <a:gridCol w="3150616"/>
              </a:tblGrid>
              <a:tr h="519311">
                <a:tc>
                  <a:txBody>
                    <a:bodyPr/>
                    <a:lstStyle/>
                    <a:p>
                      <a:pPr indent="0" marL="0">
                        <a:lnSpc>
                          <a:spcPts val="2660"/>
                        </a:lnSpc>
                        <a:buNone/>
                      </a:pPr>
                      <a:r>
                        <a:rPr lang="en-US" sz="1900" b="1" dirty="0">
                          <a:solidFill>
                            <a:srgbClr val="F7F6F2"/>
                          </a:solidFill>
                          <a:latin typeface="Be Vietnam Pro" pitchFamily="34" charset="0"/>
                          <a:ea typeface="Be Vietnam Pro" pitchFamily="34" charset="-122"/>
                          <a:cs typeface="Be Vietnam Pro" pitchFamily="34" charset="-120"/>
                        </a:rPr>
                        <a:t>Bạn đưa</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c>
                  <a:txBody>
                    <a:bodyPr/>
                    <a:lstStyle/>
                    <a:p>
                      <a:pPr indent="0" marL="0">
                        <a:lnSpc>
                          <a:spcPts val="2660"/>
                        </a:lnSpc>
                        <a:buNone/>
                      </a:pPr>
                      <a:r>
                        <a:rPr lang="en-US" sz="1900" b="1" dirty="0">
                          <a:solidFill>
                            <a:srgbClr val="F7F6F2"/>
                          </a:solidFill>
                          <a:latin typeface="Be Vietnam Pro" pitchFamily="34" charset="0"/>
                          <a:ea typeface="Be Vietnam Pro" pitchFamily="34" charset="-122"/>
                          <a:cs typeface="Be Vietnam Pro" pitchFamily="34" charset="-120"/>
                        </a:rPr>
                        <a:t>AI trả về</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555E71"/>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Bảng công việc</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Báo cáo tiến độ tuần</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857052">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Ghi chép họp</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Việc, người làm, quyết định</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Một task mới</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Người phù hợp nhất</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Một mục tiêu lớn</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Các task con + thứ tự</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Sprint vừa xong</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Retrospective</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bl>
          </a:graphicData>
        </a:graphic>
      </p:graphicFrame>
      <p:sp>
        <p:nvSpPr>
          <p:cNvPr id="4" name="Shape 1"/>
          <p:cNvSpPr/>
          <p:nvPr/>
        </p:nvSpPr>
        <p:spPr>
          <a:xfrm>
            <a:off x="6807200" y="1730573"/>
            <a:ext cx="4572000" cy="3302000"/>
          </a:xfrm>
          <a:prstGeom prst="roundRect">
            <a:avLst>
              <a:gd name="adj" fmla="val 3077"/>
            </a:avLst>
          </a:prstGeom>
          <a:solidFill>
            <a:srgbClr val="F7F6F2"/>
          </a:solidFill>
          <a:ln/>
        </p:spPr>
      </p:sp>
      <p:pic>
        <p:nvPicPr>
          <p:cNvPr id="5" name="Image 0" descr="Giao việc thông minh: khối lượng nhóm và người được gợi ý kèm lý do">    </p:cNvPr>
          <p:cNvPicPr>
            <a:picLocks noChangeAspect="1"/>
          </p:cNvPicPr>
          <p:nvPr/>
        </p:nvPicPr>
        <p:blipFill>
          <a:blip r:embed="rId1"/>
          <a:stretch>
            <a:fillRect/>
          </a:stretch>
        </p:blipFill>
        <p:spPr>
          <a:xfrm>
            <a:off x="6807200" y="2015688"/>
            <a:ext cx="4572000" cy="2731770"/>
          </a:xfrm>
          <a:prstGeom prst="rect">
            <a:avLst/>
          </a:prstGeom>
        </p:spPr>
      </p:pic>
      <p:sp>
        <p:nvSpPr>
          <p:cNvPr id="6" name="Text 2"/>
          <p:cNvSpPr/>
          <p:nvPr/>
        </p:nvSpPr>
        <p:spPr>
          <a:xfrm>
            <a:off x="812800" y="6202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CF"/>
                </a:solidFill>
                <a:latin typeface="Be Vietnam Pro" pitchFamily="34" charset="0"/>
                <a:ea typeface="Be Vietnam Pro" pitchFamily="34" charset="-122"/>
                <a:cs typeface="Be Vietnam Pro" pitchFamily="34" charset="-120"/>
              </a:rPr>
              <a:t>9 / 14 · Mô hình trên Groq · AI lỗi thì dùng câu trả lời theo quy tắc, không bao giờ treo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Mất mạng? Công việc vẫn còn nguyên</a:t>
            </a:r>
            <a:endParaRPr lang="en-US" sz="3800" dirty="0"/>
          </a:p>
        </p:txBody>
      </p:sp>
      <p:sp>
        <p:nvSpPr>
          <p:cNvPr id="3" name="Text 1"/>
          <p:cNvSpPr/>
          <p:nvPr/>
        </p:nvSpPr>
        <p:spPr>
          <a:xfrm>
            <a:off x="812800" y="1699220"/>
            <a:ext cx="10464800" cy="40253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D4657"/>
                </a:solidFill>
                <a:latin typeface="Be Vietnam Pro" pitchFamily="34" charset="0"/>
                <a:ea typeface="Be Vietnam Pro" pitchFamily="34" charset="-122"/>
                <a:cs typeface="Be Vietnam Pro" pitchFamily="34" charset="-120"/>
              </a:rPr>
              <a:t>Mọi thay đổi được lưu </a:t>
            </a:r>
            <a:r>
              <a:rPr lang="en-US" sz="2200" b="1" dirty="0">
                <a:solidFill>
                  <a:srgbClr val="14213D"/>
                </a:solidFill>
                <a:latin typeface="Be Vietnam Pro" pitchFamily="34" charset="0"/>
                <a:ea typeface="Be Vietnam Pro" pitchFamily="34" charset="-122"/>
                <a:cs typeface="Be Vietnam Pro" pitchFamily="34" charset="-120"/>
              </a:rPr>
              <a:t>trong trình duyệt trước</a:t>
            </a:r>
            <a:r>
              <a:rPr lang="en-US" sz="2200" dirty="0">
                <a:solidFill>
                  <a:srgbClr val="3D4657"/>
                </a:solidFill>
                <a:latin typeface="Be Vietnam Pro" pitchFamily="34" charset="0"/>
                <a:ea typeface="Be Vietnam Pro" pitchFamily="34" charset="-122"/>
                <a:cs typeface="Be Vietnam Pro" pitchFamily="34" charset="-120"/>
              </a:rPr>
              <a:t>, sau đó mới gửi lên server.</a:t>
            </a:r>
            <a:endParaRPr lang="en-US" sz="2200" dirty="0"/>
          </a:p>
        </p:txBody>
      </p:sp>
      <p:sp>
        <p:nvSpPr>
          <p:cNvPr id="4" name="Shape 2"/>
          <p:cNvSpPr/>
          <p:nvPr/>
        </p:nvSpPr>
        <p:spPr>
          <a:xfrm>
            <a:off x="812800" y="2431951"/>
            <a:ext cx="5156200" cy="1767780"/>
          </a:xfrm>
          <a:prstGeom prst="roundRect">
            <a:avLst>
              <a:gd name="adj" fmla="val 8621"/>
            </a:avLst>
          </a:prstGeom>
          <a:solidFill>
            <a:srgbClr val="DCEFE3"/>
          </a:solidFill>
          <a:ln/>
        </p:spPr>
      </p:sp>
      <p:sp>
        <p:nvSpPr>
          <p:cNvPr id="5" name="Text 3"/>
          <p:cNvSpPr/>
          <p:nvPr/>
        </p:nvSpPr>
        <p:spPr>
          <a:xfrm>
            <a:off x="1117600" y="2736751"/>
            <a:ext cx="4682998" cy="421580"/>
          </a:xfrm>
          <a:prstGeom prst="rect">
            <a:avLst/>
          </a:prstGeom>
          <a:noFill/>
          <a:ln/>
        </p:spPr>
        <p:txBody>
          <a:bodyPr wrap="square" lIns="0" tIns="0" rIns="0" bIns="0" rtlCol="0" anchor="t">
            <a:normAutofit/>
          </a:bodyPr>
          <a:lstStyle/>
          <a:p>
            <a:pPr algn="l" indent="0" marL="0">
              <a:lnSpc>
                <a:spcPts val="3120"/>
              </a:lnSpc>
              <a:buNone/>
            </a:pPr>
            <a:r>
              <a:rPr lang="en-US" sz="2600" b="1" dirty="0">
                <a:solidFill>
                  <a:srgbClr val="15803D"/>
                </a:solidFill>
                <a:latin typeface="Be Vietnam Pro" pitchFamily="34" charset="0"/>
                <a:ea typeface="Be Vietnam Pro" pitchFamily="34" charset="-122"/>
                <a:cs typeface="Be Vietnam Pro" pitchFamily="34" charset="-120"/>
              </a:rPr>
              <a:t>Dự án cá nhân</a:t>
            </a:r>
            <a:endParaRPr lang="en-US" sz="2600" dirty="0"/>
          </a:p>
        </p:txBody>
      </p:sp>
      <p:sp>
        <p:nvSpPr>
          <p:cNvPr id="6" name="Text 4"/>
          <p:cNvSpPr/>
          <p:nvPr/>
        </p:nvSpPr>
        <p:spPr>
          <a:xfrm>
            <a:off x="1117600" y="3234531"/>
            <a:ext cx="4682998"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4213D"/>
                </a:solidFill>
                <a:latin typeface="Be Vietnam Pro" pitchFamily="34" charset="0"/>
                <a:ea typeface="Be Vietnam Pro" pitchFamily="34" charset="-122"/>
                <a:cs typeface="Be Vietnam Pro" pitchFamily="34" charset="-120"/>
              </a:rPr>
              <a:t>Vẫn sửa được khi mất mạng. Có mạng lại thì tự đồng bộ.</a:t>
            </a:r>
            <a:endParaRPr lang="en-US" sz="2000" dirty="0"/>
          </a:p>
        </p:txBody>
      </p:sp>
      <p:sp>
        <p:nvSpPr>
          <p:cNvPr id="7" name="Shape 5"/>
          <p:cNvSpPr/>
          <p:nvPr/>
        </p:nvSpPr>
        <p:spPr>
          <a:xfrm>
            <a:off x="6223000" y="2431951"/>
            <a:ext cx="5156200" cy="1767780"/>
          </a:xfrm>
          <a:prstGeom prst="roundRect">
            <a:avLst>
              <a:gd name="adj" fmla="val 8621"/>
            </a:avLst>
          </a:prstGeom>
          <a:solidFill>
            <a:srgbClr val="FCE9D6"/>
          </a:solidFill>
          <a:ln/>
        </p:spPr>
      </p:sp>
      <p:sp>
        <p:nvSpPr>
          <p:cNvPr id="8" name="Text 6"/>
          <p:cNvSpPr/>
          <p:nvPr/>
        </p:nvSpPr>
        <p:spPr>
          <a:xfrm>
            <a:off x="6527800" y="2736751"/>
            <a:ext cx="4682998" cy="421580"/>
          </a:xfrm>
          <a:prstGeom prst="rect">
            <a:avLst/>
          </a:prstGeom>
          <a:noFill/>
          <a:ln/>
        </p:spPr>
        <p:txBody>
          <a:bodyPr wrap="square" lIns="0" tIns="0" rIns="0" bIns="0" rtlCol="0" anchor="t">
            <a:normAutofit/>
          </a:bodyPr>
          <a:lstStyle/>
          <a:p>
            <a:pPr algn="l" indent="0" marL="0">
              <a:lnSpc>
                <a:spcPts val="3120"/>
              </a:lnSpc>
              <a:buNone/>
            </a:pPr>
            <a:r>
              <a:rPr lang="en-US" sz="2600" b="1" dirty="0">
                <a:solidFill>
                  <a:srgbClr val="C2410C"/>
                </a:solidFill>
                <a:latin typeface="Be Vietnam Pro" pitchFamily="34" charset="0"/>
                <a:ea typeface="Be Vietnam Pro" pitchFamily="34" charset="-122"/>
                <a:cs typeface="Be Vietnam Pro" pitchFamily="34" charset="-120"/>
              </a:rPr>
              <a:t>Dự án nhóm</a:t>
            </a:r>
            <a:endParaRPr lang="en-US" sz="2600" dirty="0"/>
          </a:p>
        </p:txBody>
      </p:sp>
      <p:sp>
        <p:nvSpPr>
          <p:cNvPr id="9" name="Text 7"/>
          <p:cNvSpPr/>
          <p:nvPr/>
        </p:nvSpPr>
        <p:spPr>
          <a:xfrm>
            <a:off x="6527800" y="3234531"/>
            <a:ext cx="4682998"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4213D"/>
                </a:solidFill>
                <a:latin typeface="Be Vietnam Pro" pitchFamily="34" charset="0"/>
                <a:ea typeface="Be Vietnam Pro" pitchFamily="34" charset="-122"/>
                <a:cs typeface="Be Vietnam Pro" pitchFamily="34" charset="-120"/>
              </a:rPr>
              <a:t>Chỉ xem khi mất mạng, để hai người không ghi đè lên nhau.</a:t>
            </a:r>
            <a:endParaRPr lang="en-US" sz="2000" dirty="0"/>
          </a:p>
        </p:txBody>
      </p:sp>
      <p:sp>
        <p:nvSpPr>
          <p:cNvPr id="10" name="Text 8"/>
          <p:cNvSpPr/>
          <p:nvPr/>
        </p:nvSpPr>
        <p:spPr>
          <a:xfrm>
            <a:off x="812800" y="6202759"/>
            <a:ext cx="293441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10 / 14 · Thiết kế “local-first”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Hệ thống được xây dựng thế nào</a:t>
            </a:r>
            <a:endParaRPr lang="en-US" sz="3800" dirty="0"/>
          </a:p>
        </p:txBody>
      </p:sp>
      <p:sp>
        <p:nvSpPr>
          <p:cNvPr id="3" name="Shape 1"/>
          <p:cNvSpPr/>
          <p:nvPr/>
        </p:nvSpPr>
        <p:spPr>
          <a:xfrm>
            <a:off x="812800" y="2127845"/>
            <a:ext cx="2286000" cy="1761232"/>
          </a:xfrm>
          <a:prstGeom prst="roundRect">
            <a:avLst>
              <a:gd name="adj" fmla="val 8653"/>
            </a:avLst>
          </a:prstGeom>
          <a:solidFill>
            <a:srgbClr val="E7ECF7"/>
          </a:solidFill>
          <a:ln/>
        </p:spPr>
      </p:sp>
      <p:sp>
        <p:nvSpPr>
          <p:cNvPr id="4" name="Text 2"/>
          <p:cNvSpPr/>
          <p:nvPr/>
        </p:nvSpPr>
        <p:spPr>
          <a:xfrm>
            <a:off x="1066800" y="2381845"/>
            <a:ext cx="183134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D4ED8"/>
                </a:solidFill>
                <a:latin typeface="Be Vietnam Pro" pitchFamily="34" charset="0"/>
                <a:ea typeface="Be Vietnam Pro" pitchFamily="34" charset="-122"/>
                <a:cs typeface="Be Vietnam Pro" pitchFamily="34" charset="-120"/>
              </a:rPr>
              <a:t>Trình duyệt</a:t>
            </a:r>
            <a:endParaRPr lang="en-US" sz="2200" dirty="0"/>
          </a:p>
        </p:txBody>
      </p:sp>
      <p:sp>
        <p:nvSpPr>
          <p:cNvPr id="5" name="Text 3"/>
          <p:cNvSpPr/>
          <p:nvPr/>
        </p:nvSpPr>
        <p:spPr>
          <a:xfrm>
            <a:off x="1066800" y="2793305"/>
            <a:ext cx="1831340"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Ứng dụng Vue 3 + bản sao trên máy</a:t>
            </a:r>
            <a:endParaRPr lang="en-US" sz="1700" dirty="0"/>
          </a:p>
        </p:txBody>
      </p:sp>
      <p:pic>
        <p:nvPicPr>
          <p:cNvPr id="6" name="Image 0" descr="arrow-right">    </p:cNvPr>
          <p:cNvPicPr>
            <a:picLocks noChangeAspect="1"/>
          </p:cNvPicPr>
          <p:nvPr/>
        </p:nvPicPr>
        <p:blipFill>
          <a:blip r:embed="rId1"/>
          <a:srcRect l="0" r="0" t="0" b="0"/>
          <a:stretch/>
        </p:blipFill>
        <p:spPr>
          <a:xfrm>
            <a:off x="3225800" y="2856111"/>
            <a:ext cx="609600" cy="304800"/>
          </a:xfrm>
          <a:prstGeom prst="rect">
            <a:avLst/>
          </a:prstGeom>
        </p:spPr>
      </p:pic>
      <p:sp>
        <p:nvSpPr>
          <p:cNvPr id="7" name="Shape 4"/>
          <p:cNvSpPr/>
          <p:nvPr/>
        </p:nvSpPr>
        <p:spPr>
          <a:xfrm>
            <a:off x="3968750" y="2261791"/>
            <a:ext cx="2273300" cy="1493341"/>
          </a:xfrm>
          <a:prstGeom prst="roundRect">
            <a:avLst>
              <a:gd name="adj" fmla="val 9780"/>
            </a:avLst>
          </a:prstGeom>
          <a:solidFill>
            <a:srgbClr val="FFFDF9"/>
          </a:solidFill>
          <a:ln w="12700">
            <a:solidFill>
              <a:srgbClr val="E4DED3"/>
            </a:solidFill>
            <a:prstDash val="solid"/>
          </a:ln>
        </p:spPr>
      </p:sp>
      <p:sp>
        <p:nvSpPr>
          <p:cNvPr id="8" name="Text 5"/>
          <p:cNvSpPr/>
          <p:nvPr/>
        </p:nvSpPr>
        <p:spPr>
          <a:xfrm>
            <a:off x="4229100" y="2522141"/>
            <a:ext cx="180517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Server</a:t>
            </a:r>
            <a:endParaRPr lang="en-US" sz="2200" dirty="0"/>
          </a:p>
        </p:txBody>
      </p:sp>
      <p:sp>
        <p:nvSpPr>
          <p:cNvPr id="9" name="Text 6"/>
          <p:cNvSpPr/>
          <p:nvPr/>
        </p:nvSpPr>
        <p:spPr>
          <a:xfrm>
            <a:off x="4229100" y="2933601"/>
            <a:ext cx="1805178"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Python FastAPI, 51 API</a:t>
            </a:r>
            <a:endParaRPr lang="en-US" sz="1700" dirty="0"/>
          </a:p>
        </p:txBody>
      </p:sp>
      <p:pic>
        <p:nvPicPr>
          <p:cNvPr id="10" name="Image 1" descr="arrow-right">    </p:cNvPr>
          <p:cNvPicPr>
            <a:picLocks noChangeAspect="1"/>
          </p:cNvPicPr>
          <p:nvPr/>
        </p:nvPicPr>
        <p:blipFill>
          <a:blip r:embed="rId2"/>
          <a:srcRect l="0" r="0" t="0" b="0"/>
          <a:stretch/>
        </p:blipFill>
        <p:spPr>
          <a:xfrm>
            <a:off x="6375400" y="2856111"/>
            <a:ext cx="609600" cy="304800"/>
          </a:xfrm>
          <a:prstGeom prst="rect">
            <a:avLst/>
          </a:prstGeom>
        </p:spPr>
      </p:pic>
      <p:sp>
        <p:nvSpPr>
          <p:cNvPr id="11" name="Shape 7"/>
          <p:cNvSpPr/>
          <p:nvPr/>
        </p:nvSpPr>
        <p:spPr>
          <a:xfrm>
            <a:off x="7112000" y="1699220"/>
            <a:ext cx="3302000" cy="1396901"/>
          </a:xfrm>
          <a:prstGeom prst="roundRect">
            <a:avLst>
              <a:gd name="adj" fmla="val 10910"/>
            </a:avLst>
          </a:prstGeom>
          <a:solidFill>
            <a:srgbClr val="DCEFE3"/>
          </a:solidFill>
          <a:ln/>
        </p:spPr>
      </p:sp>
      <p:sp>
        <p:nvSpPr>
          <p:cNvPr id="12" name="Text 8"/>
          <p:cNvSpPr/>
          <p:nvPr/>
        </p:nvSpPr>
        <p:spPr>
          <a:xfrm>
            <a:off x="7366000" y="1902420"/>
            <a:ext cx="287782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803D"/>
                </a:solidFill>
                <a:latin typeface="Be Vietnam Pro" pitchFamily="34" charset="0"/>
                <a:ea typeface="Be Vietnam Pro" pitchFamily="34" charset="-122"/>
                <a:cs typeface="Be Vietnam Pro" pitchFamily="34" charset="-120"/>
              </a:rPr>
              <a:t>MySQL</a:t>
            </a:r>
            <a:endParaRPr lang="en-US" sz="2200" dirty="0"/>
          </a:p>
        </p:txBody>
      </p:sp>
      <p:sp>
        <p:nvSpPr>
          <p:cNvPr id="13" name="Text 9"/>
          <p:cNvSpPr/>
          <p:nvPr/>
        </p:nvSpPr>
        <p:spPr>
          <a:xfrm>
            <a:off x="7366000" y="2288480"/>
            <a:ext cx="2877820"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10 bảng, migration có phiên bản</a:t>
            </a:r>
            <a:endParaRPr lang="en-US" sz="1700" dirty="0"/>
          </a:p>
        </p:txBody>
      </p:sp>
      <p:sp>
        <p:nvSpPr>
          <p:cNvPr id="14" name="Shape 10"/>
          <p:cNvSpPr/>
          <p:nvPr/>
        </p:nvSpPr>
        <p:spPr>
          <a:xfrm>
            <a:off x="7112000" y="3223121"/>
            <a:ext cx="3302000" cy="1094680"/>
          </a:xfrm>
          <a:prstGeom prst="roundRect">
            <a:avLst>
              <a:gd name="adj" fmla="val 13922"/>
            </a:avLst>
          </a:prstGeom>
          <a:solidFill>
            <a:srgbClr val="FCE9D6"/>
          </a:solidFill>
          <a:ln/>
        </p:spPr>
      </p:sp>
      <p:sp>
        <p:nvSpPr>
          <p:cNvPr id="15" name="Text 11"/>
          <p:cNvSpPr/>
          <p:nvPr/>
        </p:nvSpPr>
        <p:spPr>
          <a:xfrm>
            <a:off x="7366000" y="3426321"/>
            <a:ext cx="287782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C2410C"/>
                </a:solidFill>
                <a:latin typeface="Be Vietnam Pro" pitchFamily="34" charset="0"/>
                <a:ea typeface="Be Vietnam Pro" pitchFamily="34" charset="-122"/>
                <a:cs typeface="Be Vietnam Pro" pitchFamily="34" charset="-120"/>
              </a:rPr>
              <a:t>AI (Groq)</a:t>
            </a:r>
            <a:endParaRPr lang="en-US" sz="2200" dirty="0"/>
          </a:p>
        </p:txBody>
      </p:sp>
      <p:sp>
        <p:nvSpPr>
          <p:cNvPr id="16" name="Text 12"/>
          <p:cNvSpPr/>
          <p:nvPr/>
        </p:nvSpPr>
        <p:spPr>
          <a:xfrm>
            <a:off x="7366000" y="3812381"/>
            <a:ext cx="287782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mô hình gpt-oss-120b</a:t>
            </a:r>
            <a:endParaRPr lang="en-US" sz="1700" dirty="0"/>
          </a:p>
        </p:txBody>
      </p:sp>
      <p:sp>
        <p:nvSpPr>
          <p:cNvPr id="17" name="Text 13"/>
          <p:cNvSpPr/>
          <p:nvPr/>
        </p:nvSpPr>
        <p:spPr>
          <a:xfrm>
            <a:off x="812800" y="4673402"/>
            <a:ext cx="104648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D4657"/>
                </a:solidFill>
                <a:latin typeface="Be Vietnam Pro" pitchFamily="34" charset="0"/>
                <a:ea typeface="Be Vietnam Pro" pitchFamily="34" charset="-122"/>
                <a:cs typeface="Be Vietnam Pro" pitchFamily="34" charset="-120"/>
              </a:rPr>
              <a:t>Chạy bằng </a:t>
            </a:r>
            <a:r>
              <a:rPr lang="en-US" sz="2000" b="1" dirty="0">
                <a:solidFill>
                  <a:srgbClr val="14213D"/>
                </a:solidFill>
                <a:latin typeface="Be Vietnam Pro" pitchFamily="34" charset="0"/>
                <a:ea typeface="Be Vietnam Pro" pitchFamily="34" charset="-122"/>
                <a:cs typeface="Be Vietnam Pro" pitchFamily="34" charset="-120"/>
              </a:rPr>
              <a:t>Docker</a:t>
            </a:r>
            <a:r>
              <a:rPr lang="en-US" sz="2000" dirty="0">
                <a:solidFill>
                  <a:srgbClr val="3D4657"/>
                </a:solidFill>
                <a:latin typeface="Be Vietnam Pro" pitchFamily="34" charset="0"/>
                <a:ea typeface="Be Vietnam Pro" pitchFamily="34" charset="-122"/>
                <a:cs typeface="Be Vietnam Pro" pitchFamily="34" charset="-120"/>
              </a:rPr>
              <a:t>; đưa lên mạng qua </a:t>
            </a:r>
            <a:r>
              <a:rPr lang="en-US" sz="2000" b="1" dirty="0">
                <a:solidFill>
                  <a:srgbClr val="14213D"/>
                </a:solidFill>
                <a:latin typeface="Be Vietnam Pro" pitchFamily="34" charset="0"/>
                <a:ea typeface="Be Vietnam Pro" pitchFamily="34" charset="-122"/>
                <a:cs typeface="Be Vietnam Pro" pitchFamily="34" charset="-120"/>
              </a:rPr>
              <a:t>Cloudflare Tunnel</a:t>
            </a:r>
            <a:r>
              <a:rPr lang="en-US" sz="2000" dirty="0">
                <a:solidFill>
                  <a:srgbClr val="3D4657"/>
                </a:solidFill>
                <a:latin typeface="Be Vietnam Pro" pitchFamily="34" charset="0"/>
                <a:ea typeface="Be Vietnam Pro" pitchFamily="34" charset="-122"/>
                <a:cs typeface="Be Vietnam Pro" pitchFamily="34" charset="-120"/>
              </a:rPr>
              <a:t> — không mở cổng, có sẵn HTTPS.</a:t>
            </a:r>
            <a:endParaRPr lang="en-US" sz="2000" dirty="0"/>
          </a:p>
        </p:txBody>
      </p:sp>
      <p:sp>
        <p:nvSpPr>
          <p:cNvPr id="18" name="Text 14"/>
          <p:cNvSpPr/>
          <p:nvPr/>
        </p:nvSpPr>
        <p:spPr>
          <a:xfrm>
            <a:off x="812800" y="6202759"/>
            <a:ext cx="60340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11 / 14</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08704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7F6F2"/>
                </a:solidFill>
                <a:latin typeface="Be Vietnam Pro" pitchFamily="34" charset="0"/>
                <a:ea typeface="Be Vietnam Pro" pitchFamily="34" charset="-122"/>
                <a:cs typeface="Be Vietnam Pro" pitchFamily="34" charset="-120"/>
              </a:rPr>
              <a:t>Kiểm thử thật, không chỉ “máy em chạy được”</a:t>
            </a:r>
            <a:endParaRPr lang="en-US" sz="3800" dirty="0"/>
          </a:p>
        </p:txBody>
      </p:sp>
      <p:sp>
        <p:nvSpPr>
          <p:cNvPr id="3" name="Text 1"/>
          <p:cNvSpPr/>
          <p:nvPr/>
        </p:nvSpPr>
        <p:spPr>
          <a:xfrm>
            <a:off x="812800" y="2280841"/>
            <a:ext cx="2563876"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2A541"/>
                </a:solidFill>
                <a:latin typeface="Be Vietnam Pro" pitchFamily="34" charset="0"/>
                <a:ea typeface="Be Vietnam Pro" pitchFamily="34" charset="-122"/>
                <a:cs typeface="Be Vietnam Pro" pitchFamily="34" charset="-120"/>
              </a:rPr>
              <a:t>177</a:t>
            </a:r>
            <a:endParaRPr lang="en-US" sz="6000" dirty="0"/>
          </a:p>
        </p:txBody>
      </p:sp>
      <p:sp>
        <p:nvSpPr>
          <p:cNvPr id="4" name="Text 2"/>
          <p:cNvSpPr/>
          <p:nvPr/>
        </p:nvSpPr>
        <p:spPr>
          <a:xfrm>
            <a:off x="812800" y="3119041"/>
            <a:ext cx="2563876" cy="32256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C9D3E6"/>
                </a:solidFill>
                <a:latin typeface="Be Vietnam Pro" pitchFamily="34" charset="0"/>
                <a:ea typeface="Be Vietnam Pro" pitchFamily="34" charset="-122"/>
                <a:cs typeface="Be Vietnam Pro" pitchFamily="34" charset="-120"/>
              </a:rPr>
              <a:t>test server, đạt hết</a:t>
            </a:r>
            <a:endParaRPr lang="en-US" sz="1800" dirty="0"/>
          </a:p>
        </p:txBody>
      </p:sp>
      <p:sp>
        <p:nvSpPr>
          <p:cNvPr id="5" name="Text 3"/>
          <p:cNvSpPr/>
          <p:nvPr/>
        </p:nvSpPr>
        <p:spPr>
          <a:xfrm>
            <a:off x="3505200" y="2280841"/>
            <a:ext cx="2563876"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2A541"/>
                </a:solidFill>
                <a:latin typeface="Be Vietnam Pro" pitchFamily="34" charset="0"/>
                <a:ea typeface="Be Vietnam Pro" pitchFamily="34" charset="-122"/>
                <a:cs typeface="Be Vietnam Pro" pitchFamily="34" charset="-120"/>
              </a:rPr>
              <a:t>442</a:t>
            </a:r>
            <a:endParaRPr lang="en-US" sz="6000" dirty="0"/>
          </a:p>
        </p:txBody>
      </p:sp>
      <p:sp>
        <p:nvSpPr>
          <p:cNvPr id="6" name="Text 4"/>
          <p:cNvSpPr/>
          <p:nvPr/>
        </p:nvSpPr>
        <p:spPr>
          <a:xfrm>
            <a:off x="3505200" y="3119041"/>
            <a:ext cx="2692400" cy="32256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C9D3E6"/>
                </a:solidFill>
                <a:latin typeface="Be Vietnam Pro" pitchFamily="34" charset="0"/>
                <a:ea typeface="Be Vietnam Pro" pitchFamily="34" charset="-122"/>
                <a:cs typeface="Be Vietnam Pro" pitchFamily="34" charset="-120"/>
              </a:rPr>
              <a:t>test giao diện, đạt hết</a:t>
            </a:r>
            <a:endParaRPr lang="en-US" sz="1800" dirty="0"/>
          </a:p>
        </p:txBody>
      </p:sp>
      <p:sp>
        <p:nvSpPr>
          <p:cNvPr id="7" name="Text 5"/>
          <p:cNvSpPr/>
          <p:nvPr/>
        </p:nvSpPr>
        <p:spPr>
          <a:xfrm>
            <a:off x="6197600" y="2280841"/>
            <a:ext cx="2563876"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2A541"/>
                </a:solidFill>
                <a:latin typeface="Be Vietnam Pro" pitchFamily="34" charset="0"/>
                <a:ea typeface="Be Vietnam Pro" pitchFamily="34" charset="-122"/>
                <a:cs typeface="Be Vietnam Pro" pitchFamily="34" charset="-120"/>
              </a:rPr>
              <a:t>32</a:t>
            </a:r>
            <a:endParaRPr lang="en-US" sz="6000" dirty="0"/>
          </a:p>
        </p:txBody>
      </p:sp>
      <p:sp>
        <p:nvSpPr>
          <p:cNvPr id="8" name="Text 6"/>
          <p:cNvSpPr/>
          <p:nvPr/>
        </p:nvSpPr>
        <p:spPr>
          <a:xfrm>
            <a:off x="6197600" y="3119041"/>
            <a:ext cx="2563876"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C9D3E6"/>
                </a:solidFill>
                <a:latin typeface="Be Vietnam Pro" pitchFamily="34" charset="0"/>
                <a:ea typeface="Be Vietnam Pro" pitchFamily="34" charset="-122"/>
                <a:cs typeface="Be Vietnam Pro" pitchFamily="34" charset="-120"/>
              </a:rPr>
              <a:t>bước kiểm tra trên web thật</a:t>
            </a:r>
            <a:endParaRPr lang="en-US" sz="1800" dirty="0"/>
          </a:p>
        </p:txBody>
      </p:sp>
      <p:sp>
        <p:nvSpPr>
          <p:cNvPr id="9" name="Text 7"/>
          <p:cNvSpPr/>
          <p:nvPr/>
        </p:nvSpPr>
        <p:spPr>
          <a:xfrm>
            <a:off x="8890000" y="2280841"/>
            <a:ext cx="2563876"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2A541"/>
                </a:solidFill>
                <a:latin typeface="Be Vietnam Pro" pitchFamily="34" charset="0"/>
                <a:ea typeface="Be Vietnam Pro" pitchFamily="34" charset="-122"/>
                <a:cs typeface="Be Vietnam Pro" pitchFamily="34" charset="-120"/>
              </a:rPr>
              <a:t>53</a:t>
            </a:r>
            <a:endParaRPr lang="en-US" sz="6000" dirty="0"/>
          </a:p>
        </p:txBody>
      </p:sp>
      <p:sp>
        <p:nvSpPr>
          <p:cNvPr id="10" name="Text 8"/>
          <p:cNvSpPr/>
          <p:nvPr/>
        </p:nvSpPr>
        <p:spPr>
          <a:xfrm>
            <a:off x="8890000" y="3119041"/>
            <a:ext cx="2563876"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C9D3E6"/>
                </a:solidFill>
                <a:latin typeface="Be Vietnam Pro" pitchFamily="34" charset="0"/>
                <a:ea typeface="Be Vietnam Pro" pitchFamily="34" charset="-122"/>
                <a:cs typeface="Be Vietnam Pro" pitchFamily="34" charset="-120"/>
              </a:rPr>
              <a:t>vấn đề được phát hiện và ghi lại</a:t>
            </a:r>
            <a:endParaRPr lang="en-US" sz="1800" dirty="0"/>
          </a:p>
        </p:txBody>
      </p:sp>
      <p:sp>
        <p:nvSpPr>
          <p:cNvPr id="11" name="Text 9"/>
          <p:cNvSpPr/>
          <p:nvPr/>
        </p:nvSpPr>
        <p:spPr>
          <a:xfrm>
            <a:off x="812800" y="4119761"/>
            <a:ext cx="104648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F7F6F2"/>
                </a:solidFill>
                <a:latin typeface="Be Vietnam Pro" pitchFamily="34" charset="0"/>
                <a:ea typeface="Be Vietnam Pro" pitchFamily="34" charset="-122"/>
                <a:cs typeface="Be Vietnam Pro" pitchFamily="34" charset="-120"/>
              </a:rPr>
              <a:t>Ví dụ: công cụ “AI” chia nhỏ việc </a:t>
            </a:r>
            <a:r>
              <a:rPr lang="en-US" sz="2000" b="1" dirty="0">
                <a:solidFill>
                  <a:srgbClr val="F2A541"/>
                </a:solidFill>
                <a:latin typeface="Be Vietnam Pro" pitchFamily="34" charset="0"/>
                <a:ea typeface="Be Vietnam Pro" pitchFamily="34" charset="-122"/>
                <a:cs typeface="Be Vietnam Pro" pitchFamily="34" charset="-120"/>
              </a:rPr>
              <a:t>chưa từng gọi AI</a:t>
            </a:r>
            <a:r>
              <a:rPr lang="en-US" sz="2000" dirty="0">
                <a:solidFill>
                  <a:srgbClr val="F7F6F2"/>
                </a:solidFill>
                <a:latin typeface="Be Vietnam Pro" pitchFamily="34" charset="0"/>
                <a:ea typeface="Be Vietnam Pro" pitchFamily="34" charset="-122"/>
                <a:cs typeface="Be Vietnam Pro" pitchFamily="34" charset="-120"/>
              </a:rPr>
              <a:t> — chỉ khi thử với mô hình thật mới phát hiện.</a:t>
            </a:r>
            <a:endParaRPr lang="en-US" sz="2000" dirty="0"/>
          </a:p>
        </p:txBody>
      </p:sp>
      <p:sp>
        <p:nvSpPr>
          <p:cNvPr id="12" name="Text 10"/>
          <p:cNvSpPr/>
          <p:nvPr/>
        </p:nvSpPr>
        <p:spPr>
          <a:xfrm>
            <a:off x="812800" y="6202759"/>
            <a:ext cx="582668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CF"/>
                </a:solidFill>
                <a:latin typeface="Be Vietnam Pro" pitchFamily="34" charset="0"/>
                <a:ea typeface="Be Vietnam Pro" pitchFamily="34" charset="-122"/>
                <a:cs typeface="Be Vietnam Pro" pitchFamily="34" charset="-120"/>
              </a:rPr>
              <a:t>12 / 14 · Test tự chạy mỗi lần push code (GitHub Actions)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62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14213D"/>
                </a:solidFill>
                <a:latin typeface="Be Vietnam Pro" pitchFamily="34" charset="0"/>
                <a:ea typeface="Be Vietnam Pro" pitchFamily="34" charset="-122"/>
                <a:cs typeface="Be Vietnam Pro" pitchFamily="34" charset="-120"/>
              </a:rPr>
              <a:t>Kết quả: đã chạy thật, dùng được ngay</a:t>
            </a:r>
            <a:endParaRPr lang="en-US" sz="3800" dirty="0"/>
          </a:p>
        </p:txBody>
      </p:sp>
      <p:sp>
        <p:nvSpPr>
          <p:cNvPr id="3" name="Text 1"/>
          <p:cNvSpPr/>
          <p:nvPr/>
        </p:nvSpPr>
        <p:spPr>
          <a:xfrm>
            <a:off x="812800" y="1821160"/>
            <a:ext cx="4892294"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C2410C"/>
                </a:solidFill>
                <a:latin typeface="Be Vietnam Pro" pitchFamily="34" charset="0"/>
                <a:ea typeface="Be Vietnam Pro" pitchFamily="34" charset="-122"/>
                <a:cs typeface="Be Vietnam Pro" pitchFamily="34" charset="-120"/>
              </a:rPr>
              <a:t>koshi.huynhca.com</a:t>
            </a:r>
            <a:endParaRPr lang="en-US" sz="2800" dirty="0"/>
          </a:p>
        </p:txBody>
      </p:sp>
      <p:pic>
        <p:nvPicPr>
          <p:cNvPr id="4" name="Image 0" descr="Check">    </p:cNvPr>
          <p:cNvPicPr>
            <a:picLocks noChangeAspect="1"/>
          </p:cNvPicPr>
          <p:nvPr/>
        </p:nvPicPr>
        <p:blipFill>
          <a:blip r:embed="rId1"/>
          <a:srcRect l="0" r="0" t="0" b="0"/>
          <a:stretch/>
        </p:blipFill>
        <p:spPr>
          <a:xfrm>
            <a:off x="812800" y="2534841"/>
            <a:ext cx="304800" cy="304800"/>
          </a:xfrm>
          <a:prstGeom prst="rect">
            <a:avLst/>
          </a:prstGeom>
        </p:spPr>
      </p:pic>
      <p:sp>
        <p:nvSpPr>
          <p:cNvPr id="5" name="Text 2"/>
          <p:cNvSpPr/>
          <p:nvPr/>
        </p:nvSpPr>
        <p:spPr>
          <a:xfrm>
            <a:off x="1244600" y="2522141"/>
            <a:ext cx="467360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4213D"/>
                </a:solidFill>
                <a:latin typeface="Be Vietnam Pro" pitchFamily="34" charset="0"/>
                <a:ea typeface="Be Vietnam Pro" pitchFamily="34" charset="-122"/>
                <a:cs typeface="Be Vietnam Pro" pitchFamily="34" charset="-120"/>
              </a:rPr>
              <a:t>Vai trò theo dự án, Kanban, Scrum</a:t>
            </a:r>
            <a:endParaRPr lang="en-US" sz="2000" dirty="0"/>
          </a:p>
        </p:txBody>
      </p:sp>
      <p:pic>
        <p:nvPicPr>
          <p:cNvPr id="6" name="Image 1" descr="Check">    </p:cNvPr>
          <p:cNvPicPr>
            <a:picLocks noChangeAspect="1"/>
          </p:cNvPicPr>
          <p:nvPr/>
        </p:nvPicPr>
        <p:blipFill>
          <a:blip r:embed="rId2"/>
          <a:srcRect l="0" r="0" t="0" b="0"/>
          <a:stretch/>
        </p:blipFill>
        <p:spPr>
          <a:xfrm>
            <a:off x="812800" y="3068241"/>
            <a:ext cx="304800" cy="304800"/>
          </a:xfrm>
          <a:prstGeom prst="rect">
            <a:avLst/>
          </a:prstGeom>
        </p:spPr>
      </p:pic>
      <p:sp>
        <p:nvSpPr>
          <p:cNvPr id="7" name="Text 3"/>
          <p:cNvSpPr/>
          <p:nvPr/>
        </p:nvSpPr>
        <p:spPr>
          <a:xfrm>
            <a:off x="1244600" y="3055541"/>
            <a:ext cx="467360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4213D"/>
                </a:solidFill>
                <a:latin typeface="Be Vietnam Pro" pitchFamily="34" charset="0"/>
                <a:ea typeface="Be Vietnam Pro" pitchFamily="34" charset="-122"/>
                <a:cs typeface="Be Vietnam Pro" pitchFamily="34" charset="-120"/>
              </a:rPr>
              <a:t>5 chức năng AI, không bao giờ treo</a:t>
            </a:r>
            <a:endParaRPr lang="en-US" sz="2000" dirty="0"/>
          </a:p>
        </p:txBody>
      </p:sp>
      <p:pic>
        <p:nvPicPr>
          <p:cNvPr id="8" name="Image 2" descr="Check">    </p:cNvPr>
          <p:cNvPicPr>
            <a:picLocks noChangeAspect="1"/>
          </p:cNvPicPr>
          <p:nvPr/>
        </p:nvPicPr>
        <p:blipFill>
          <a:blip r:embed="rId3"/>
          <a:srcRect l="0" r="0" t="0" b="0"/>
          <a:stretch/>
        </p:blipFill>
        <p:spPr>
          <a:xfrm>
            <a:off x="812800" y="3601641"/>
            <a:ext cx="304800" cy="304800"/>
          </a:xfrm>
          <a:prstGeom prst="rect">
            <a:avLst/>
          </a:prstGeom>
        </p:spPr>
      </p:pic>
      <p:sp>
        <p:nvSpPr>
          <p:cNvPr id="9" name="Text 4"/>
          <p:cNvSpPr/>
          <p:nvPr/>
        </p:nvSpPr>
        <p:spPr>
          <a:xfrm>
            <a:off x="1244600" y="3588941"/>
            <a:ext cx="3296483"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4213D"/>
                </a:solidFill>
                <a:latin typeface="Be Vietnam Pro" pitchFamily="34" charset="0"/>
                <a:ea typeface="Be Vietnam Pro" pitchFamily="34" charset="-122"/>
                <a:cs typeface="Be Vietnam Pro" pitchFamily="34" charset="-120"/>
              </a:rPr>
              <a:t>Tiếng Anh &amp; tiếng Việt</a:t>
            </a:r>
            <a:endParaRPr lang="en-US" sz="2000" dirty="0"/>
          </a:p>
        </p:txBody>
      </p:sp>
      <p:sp>
        <p:nvSpPr>
          <p:cNvPr id="10" name="Text 5"/>
          <p:cNvSpPr/>
          <p:nvPr/>
        </p:nvSpPr>
        <p:spPr>
          <a:xfrm>
            <a:off x="812800" y="4122341"/>
            <a:ext cx="4892294" cy="642541"/>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14213D"/>
                </a:solidFill>
                <a:latin typeface="Be Vietnam Pro" pitchFamily="34" charset="0"/>
                <a:ea typeface="Be Vietnam Pro" pitchFamily="34" charset="-122"/>
                <a:cs typeface="Be Vietnam Pro" pitchFamily="34" charset="-120"/>
              </a:rPr>
              <a:t>Tiếp theo:</a:t>
            </a:r>
            <a:r>
              <a:rPr lang="en-US" sz="1800" dirty="0">
                <a:solidFill>
                  <a:srgbClr val="3D4657"/>
                </a:solidFill>
                <a:latin typeface="Be Vietnam Pro" pitchFamily="34" charset="0"/>
                <a:ea typeface="Be Vietnam Pro" pitchFamily="34" charset="-122"/>
                <a:cs typeface="Be Vietnam Pro" pitchFamily="34" charset="-120"/>
              </a:rPr>
              <a:t> sửa offline cho nhóm, app di động, tích hợp Git</a:t>
            </a:r>
            <a:endParaRPr lang="en-US" sz="1800" dirty="0"/>
          </a:p>
        </p:txBody>
      </p:sp>
      <p:sp>
        <p:nvSpPr>
          <p:cNvPr id="11" name="Shape 6"/>
          <p:cNvSpPr/>
          <p:nvPr/>
        </p:nvSpPr>
        <p:spPr>
          <a:xfrm>
            <a:off x="5918200" y="1648420"/>
            <a:ext cx="5461000" cy="3263900"/>
          </a:xfrm>
          <a:prstGeom prst="roundRect">
            <a:avLst>
              <a:gd name="adj" fmla="val 3113"/>
            </a:avLst>
          </a:prstGeom>
          <a:solidFill>
            <a:srgbClr val="FFFFFF"/>
          </a:solidFill>
          <a:ln/>
        </p:spPr>
      </p:sp>
      <p:pic>
        <p:nvPicPr>
          <p:cNvPr id="12" name="Image 3" descr="Trang giới thiệu của website đang chạy">    </p:cNvPr>
          <p:cNvPicPr>
            <a:picLocks noChangeAspect="1"/>
          </p:cNvPicPr>
          <p:nvPr/>
        </p:nvPicPr>
        <p:blipFill>
          <a:blip r:embed="rId4"/>
          <a:srcRect l="-143" r="-143" t="0" b="0"/>
          <a:stretch/>
        </p:blipFill>
        <p:spPr>
          <a:xfrm>
            <a:off x="5930900" y="1661120"/>
            <a:ext cx="5435600" cy="3238500"/>
          </a:xfrm>
          <a:prstGeom prst="roundRect">
            <a:avLst>
              <a:gd name="adj" fmla="val 2745"/>
            </a:avLst>
          </a:prstGeom>
        </p:spPr>
      </p:pic>
      <p:sp>
        <p:nvSpPr>
          <p:cNvPr id="13" name="Shape 7"/>
          <p:cNvSpPr/>
          <p:nvPr/>
        </p:nvSpPr>
        <p:spPr>
          <a:xfrm>
            <a:off x="5924550" y="1654770"/>
            <a:ext cx="5448300" cy="3251200"/>
          </a:xfrm>
          <a:prstGeom prst="roundRect">
            <a:avLst>
              <a:gd name="adj" fmla="val 2930"/>
            </a:avLst>
          </a:prstGeom>
          <a:noFill/>
          <a:ln w="12700">
            <a:solidFill>
              <a:srgbClr val="E4DED3"/>
            </a:solidFill>
            <a:prstDash val="solid"/>
          </a:ln>
        </p:spPr>
      </p:sp>
      <p:sp>
        <p:nvSpPr>
          <p:cNvPr id="14" name="Text 8"/>
          <p:cNvSpPr/>
          <p:nvPr/>
        </p:nvSpPr>
        <p:spPr>
          <a:xfrm>
            <a:off x="812800" y="6202759"/>
            <a:ext cx="357449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13 / 14 · Có tài khoản demo khi cần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07B24"/>
        </a:solidFill>
      </p:bgPr>
    </p:bg>
    <p:spTree>
      <p:nvGrpSpPr>
        <p:cNvPr id="1" name=""/>
        <p:cNvGrpSpPr/>
        <p:nvPr/>
      </p:nvGrpSpPr>
      <p:grpSpPr>
        <a:xfrm>
          <a:off x="0" y="0"/>
          <a:ext cx="0" cy="0"/>
          <a:chOff x="0" y="0"/>
          <a:chExt cx="0" cy="0"/>
        </a:xfrm>
      </p:grpSpPr>
      <p:sp>
        <p:nvSpPr>
          <p:cNvPr id="2" name="Text 0"/>
          <p:cNvSpPr/>
          <p:nvPr>
            <p:ph type="title"/>
          </p:nvPr>
        </p:nvSpPr>
        <p:spPr>
          <a:xfrm>
            <a:off x="812800" y="2197398"/>
            <a:ext cx="10883392" cy="1025525"/>
          </a:xfrm>
          <a:prstGeom prst="rect">
            <a:avLst/>
          </a:prstGeom>
          <a:noFill/>
          <a:ln/>
        </p:spPr>
        <p:txBody>
          <a:bodyPr wrap="square" lIns="0" tIns="0" rIns="0" bIns="0" rtlCol="0" anchor="t">
            <a:normAutofit/>
          </a:bodyPr>
          <a:lstStyle/>
          <a:p>
            <a:pPr algn="l" indent="0" marL="0">
              <a:lnSpc>
                <a:spcPts val="7875"/>
              </a:lnSpc>
              <a:buNone/>
            </a:pPr>
            <a:r>
              <a:rPr lang="en-US" sz="7500" b="1" i="0" dirty="0">
                <a:solidFill>
                  <a:srgbClr val="14213D"/>
                </a:solidFill>
                <a:latin typeface="Be Vietnam Pro" pitchFamily="34" charset="0"/>
                <a:ea typeface="Be Vietnam Pro" pitchFamily="34" charset="-122"/>
                <a:cs typeface="Be Vietnam Pro" pitchFamily="34" charset="-120"/>
              </a:rPr>
              <a:t>Cảm ơn!</a:t>
            </a:r>
            <a:endParaRPr lang="en-US" sz="7500" dirty="0"/>
          </a:p>
        </p:txBody>
      </p:sp>
      <p:sp>
        <p:nvSpPr>
          <p:cNvPr id="3" name="Text 1"/>
          <p:cNvSpPr/>
          <p:nvPr/>
        </p:nvSpPr>
        <p:spPr>
          <a:xfrm>
            <a:off x="812800" y="3502323"/>
            <a:ext cx="10883392"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4213D"/>
                </a:solidFill>
                <a:latin typeface="Be Vietnam Pro" pitchFamily="34" charset="0"/>
                <a:ea typeface="Be Vietnam Pro" pitchFamily="34" charset="-122"/>
                <a:cs typeface="Be Vietnam Pro" pitchFamily="34" charset="-120"/>
              </a:rPr>
              <a:t>Hỏi đáp &amp; demo trực tiếp</a:t>
            </a:r>
            <a:endParaRPr lang="en-US" sz="2800" dirty="0"/>
          </a:p>
        </p:txBody>
      </p:sp>
      <p:sp>
        <p:nvSpPr>
          <p:cNvPr id="4" name="Text 2"/>
          <p:cNvSpPr/>
          <p:nvPr/>
        </p:nvSpPr>
        <p:spPr>
          <a:xfrm>
            <a:off x="812800" y="4304903"/>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14213D"/>
                </a:solidFill>
                <a:latin typeface="Be Vietnam Pro" pitchFamily="34" charset="0"/>
                <a:ea typeface="Be Vietnam Pro" pitchFamily="34" charset="-122"/>
                <a:cs typeface="Be Vietnam Pro" pitchFamily="34" charset="-120"/>
              </a:rPr>
              <a:t>Phạm Văn Huynh · Đàm Đức Đôn · Phạm Minh Tú — Kỹ thuật máy tính K23A</a:t>
            </a:r>
            <a:endParaRPr lang="en-US" sz="2000" dirty="0"/>
          </a:p>
        </p:txBody>
      </p:sp>
    </p:spTree>
  </p:cSld>
  <p:clrMapOvr>
    <a:masterClrMapping/>
  </p:clrMapOvr>
</p:sld>
</file>

<file path=ppt/theme/theme1.xml><?xml version="1.0" encoding="utf-8"?>
<a:theme xmlns:a="http://schemas.openxmlformats.org/drawingml/2006/main" name="Hệ thống quản lý dự án nhóm có tích hợp AI">
  <a:themeElements>
    <a:clrScheme name="Hệ thống quản lý dự án nhóm có tích hợp AI">
      <a:dk1>
        <a:srgbClr val="14213D"/>
      </a:dk1>
      <a:lt1>
        <a:srgbClr val="F7F6F2"/>
      </a:lt1>
      <a:dk2>
        <a:srgbClr val="4D566A"/>
      </a:dk2>
      <a:lt2>
        <a:srgbClr val="E0E1E0"/>
      </a:lt2>
      <a:accent1>
        <a:srgbClr val="F2A541"/>
      </a:accent1>
      <a:accent2>
        <a:srgbClr val="C2410C"/>
      </a:accent2>
      <a:accent3>
        <a:srgbClr val="9FB0CF"/>
      </a:accent3>
      <a:accent4>
        <a:srgbClr val="15803D"/>
      </a:accent4>
      <a:accent5>
        <a:srgbClr val="1D4ED8"/>
      </a:accent5>
      <a:accent6>
        <a:srgbClr val="E07B24"/>
      </a:accent6>
      <a:hlink>
        <a:srgbClr val="0563C1"/>
      </a:hlink>
      <a:folHlink>
        <a:srgbClr val="954F72"/>
      </a:folHlink>
    </a:clrScheme>
    <a:fontScheme name="Hệ thống quản lý dự án nhóm có tích hợp AI">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quản lý dự án nhóm có tích hợp AI</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Be Vietnam Pro
Copyright 2021 The Be Vietnam Pro Project Authors (https://github.com/bettergui/BeVietnamPro),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2026-10-25T05:46:49Z</dcterms:created>
  <dcterms:modified xsi:type="dcterms:W3CDTF">2026-10-25T05:46:49Z</dcterms:modified>
</cp:coreProperties>
</file>